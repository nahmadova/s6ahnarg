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2"/>
  </p:notesMasterIdLst>
  <p:sldIdLst>
    <p:sldId id="256" r:id="rId2"/>
    <p:sldId id="257" r:id="rId3"/>
    <p:sldId id="263" r:id="rId4"/>
    <p:sldId id="422" r:id="rId5"/>
    <p:sldId id="423" r:id="rId6"/>
    <p:sldId id="421" r:id="rId7"/>
    <p:sldId id="264" r:id="rId8"/>
    <p:sldId id="336" r:id="rId9"/>
    <p:sldId id="259" r:id="rId10"/>
    <p:sldId id="424" r:id="rId11"/>
    <p:sldId id="440" r:id="rId12"/>
    <p:sldId id="287" r:id="rId13"/>
    <p:sldId id="329" r:id="rId14"/>
    <p:sldId id="425" r:id="rId15"/>
    <p:sldId id="291" r:id="rId16"/>
    <p:sldId id="427" r:id="rId17"/>
    <p:sldId id="318" r:id="rId18"/>
    <p:sldId id="322" r:id="rId19"/>
    <p:sldId id="289" r:id="rId20"/>
    <p:sldId id="443" r:id="rId21"/>
    <p:sldId id="428" r:id="rId22"/>
    <p:sldId id="441" r:id="rId23"/>
    <p:sldId id="442" r:id="rId24"/>
    <p:sldId id="431" r:id="rId25"/>
    <p:sldId id="430" r:id="rId26"/>
    <p:sldId id="308" r:id="rId27"/>
    <p:sldId id="309" r:id="rId28"/>
    <p:sldId id="310" r:id="rId29"/>
    <p:sldId id="435" r:id="rId30"/>
    <p:sldId id="436" r:id="rId31"/>
    <p:sldId id="437" r:id="rId32"/>
    <p:sldId id="438" r:id="rId33"/>
    <p:sldId id="320" r:id="rId34"/>
    <p:sldId id="330" r:id="rId35"/>
    <p:sldId id="333" r:id="rId36"/>
    <p:sldId id="420" r:id="rId37"/>
    <p:sldId id="416" r:id="rId38"/>
    <p:sldId id="397" r:id="rId39"/>
    <p:sldId id="418" r:id="rId40"/>
    <p:sldId id="439" r:id="rId41"/>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8FDD2DBC-B27A-8746-8821-C630F42F1E18}">
          <p14:sldIdLst>
            <p14:sldId id="256"/>
          </p14:sldIdLst>
        </p14:section>
        <p14:section name="Index" id="{974B162E-B944-5C48-B064-AA1F6BC1D96E}">
          <p14:sldIdLst>
            <p14:sldId id="257"/>
          </p14:sldIdLst>
        </p14:section>
        <p14:section name="Intro" id="{25FFA9B0-9DFB-7946-9AA3-8B71855C0C99}">
          <p14:sldIdLst>
            <p14:sldId id="263"/>
            <p14:sldId id="422"/>
            <p14:sldId id="423"/>
            <p14:sldId id="421"/>
            <p14:sldId id="264"/>
            <p14:sldId id="336"/>
            <p14:sldId id="259"/>
            <p14:sldId id="424"/>
          </p14:sldIdLst>
        </p14:section>
        <p14:section name="Data" id="{5734B2AB-D06A-5F4C-A146-F5718A153181}">
          <p14:sldIdLst>
            <p14:sldId id="440"/>
          </p14:sldIdLst>
        </p14:section>
        <p14:section name="3. Transmission" id="{64B2A7F0-53C6-C64D-B398-E80251B3D080}">
          <p14:sldIdLst>
            <p14:sldId id="287"/>
            <p14:sldId id="329"/>
            <p14:sldId id="425"/>
            <p14:sldId id="291"/>
            <p14:sldId id="427"/>
          </p14:sldIdLst>
        </p14:section>
        <p14:section name="4. Real Effects" id="{419ABDD4-C7DA-9641-823B-B9C8FB301D19}">
          <p14:sldIdLst>
            <p14:sldId id="318"/>
            <p14:sldId id="322"/>
            <p14:sldId id="289"/>
            <p14:sldId id="443"/>
            <p14:sldId id="428"/>
            <p14:sldId id="441"/>
            <p14:sldId id="442"/>
            <p14:sldId id="431"/>
            <p14:sldId id="430"/>
            <p14:sldId id="308"/>
            <p14:sldId id="309"/>
            <p14:sldId id="310"/>
            <p14:sldId id="435"/>
            <p14:sldId id="436"/>
            <p14:sldId id="437"/>
            <p14:sldId id="438"/>
          </p14:sldIdLst>
        </p14:section>
        <p14:section name="2SLS" id="{02132510-D24A-6F49-A25C-A2707C692E1B}">
          <p14:sldIdLst/>
        </p14:section>
        <p14:section name="Conclusion" id="{D90AA17D-510D-654D-9303-6D5BAD5B7ED7}">
          <p14:sldIdLst>
            <p14:sldId id="320"/>
            <p14:sldId id="330"/>
            <p14:sldId id="333"/>
            <p14:sldId id="420"/>
            <p14:sldId id="416"/>
            <p14:sldId id="397"/>
            <p14:sldId id="418"/>
            <p14:sldId id="43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5093"/>
    <a:srgbClr val="F4B22A"/>
    <a:srgbClr val="C0C0BA"/>
    <a:srgbClr val="808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88"/>
    <p:restoredTop sz="72057"/>
  </p:normalViewPr>
  <p:slideViewPr>
    <p:cSldViewPr snapToGrid="0" snapToObjects="1">
      <p:cViewPr varScale="1">
        <p:scale>
          <a:sx n="54" d="100"/>
          <a:sy n="54" d="100"/>
        </p:scale>
        <p:origin x="1101" y="27"/>
      </p:cViewPr>
      <p:guideLst>
        <p:guide orient="horz" pos="2160"/>
        <p:guide pos="3840"/>
      </p:guideLst>
    </p:cSldViewPr>
  </p:slideViewPr>
  <p:outlineViewPr>
    <p:cViewPr>
      <p:scale>
        <a:sx n="33" d="100"/>
        <a:sy n="33" d="100"/>
      </p:scale>
      <p:origin x="0" y="0"/>
    </p:cViewPr>
  </p:outlineViewPr>
  <p:notesTextViewPr>
    <p:cViewPr>
      <p:scale>
        <a:sx n="200" d="100"/>
        <a:sy n="200" d="100"/>
      </p:scale>
      <p:origin x="0" y="0"/>
    </p:cViewPr>
  </p:notesTextViewPr>
  <p:notesViewPr>
    <p:cSldViewPr snapToGrid="0" snapToObjects="1">
      <p:cViewPr varScale="1">
        <p:scale>
          <a:sx n="121" d="100"/>
          <a:sy n="121" d="100"/>
        </p:scale>
        <p:origin x="5072"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09A381-55ED-AB4B-93D9-D5E94581E919}" type="datetimeFigureOut">
              <a:rPr lang="x-none" smtClean="0"/>
              <a:t>30.01.2026</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3B5E6F-F676-9643-8B7E-6396B420BAF8}" type="slidenum">
              <a:rPr lang="x-none" smtClean="0"/>
              <a:t>‹#›</a:t>
            </a:fld>
            <a:endParaRPr lang="x-none"/>
          </a:p>
        </p:txBody>
      </p:sp>
    </p:spTree>
    <p:extLst>
      <p:ext uri="{BB962C8B-B14F-4D97-AF65-F5344CB8AC3E}">
        <p14:creationId xmlns:p14="http://schemas.microsoft.com/office/powerpoint/2010/main" val="4272618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Published in March 2000 in The American Economic Review </a:t>
            </a:r>
            <a:endParaRPr lang="en-US" dirty="0">
              <a:effectLst/>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a:t>
            </a:fld>
            <a:endParaRPr lang="x-none"/>
          </a:p>
        </p:txBody>
      </p:sp>
    </p:spTree>
    <p:extLst>
      <p:ext uri="{BB962C8B-B14F-4D97-AF65-F5344CB8AC3E}">
        <p14:creationId xmlns:p14="http://schemas.microsoft.com/office/powerpoint/2010/main" val="2629502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a:t>
            </a:fld>
            <a:endParaRPr lang="x-none"/>
          </a:p>
        </p:txBody>
      </p:sp>
    </p:spTree>
    <p:extLst>
      <p:ext uri="{BB962C8B-B14F-4D97-AF65-F5344CB8AC3E}">
        <p14:creationId xmlns:p14="http://schemas.microsoft.com/office/powerpoint/2010/main" val="2207092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a:t>
            </a:fld>
            <a:endParaRPr lang="x-none"/>
          </a:p>
        </p:txBody>
      </p:sp>
    </p:spTree>
    <p:extLst>
      <p:ext uri="{BB962C8B-B14F-4D97-AF65-F5344CB8AC3E}">
        <p14:creationId xmlns:p14="http://schemas.microsoft.com/office/powerpoint/2010/main" val="3287333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4</a:t>
            </a:fld>
            <a:endParaRPr lang="x-none"/>
          </a:p>
        </p:txBody>
      </p:sp>
    </p:spTree>
    <p:extLst>
      <p:ext uri="{BB962C8B-B14F-4D97-AF65-F5344CB8AC3E}">
        <p14:creationId xmlns:p14="http://schemas.microsoft.com/office/powerpoint/2010/main" val="3287333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5</a:t>
            </a:fld>
            <a:endParaRPr lang="x-none"/>
          </a:p>
        </p:txBody>
      </p:sp>
    </p:spTree>
    <p:extLst>
      <p:ext uri="{BB962C8B-B14F-4D97-AF65-F5344CB8AC3E}">
        <p14:creationId xmlns:p14="http://schemas.microsoft.com/office/powerpoint/2010/main" val="3287333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6</a:t>
            </a:fld>
            <a:endParaRPr lang="x-none"/>
          </a:p>
        </p:txBody>
      </p:sp>
    </p:spTree>
    <p:extLst>
      <p:ext uri="{BB962C8B-B14F-4D97-AF65-F5344CB8AC3E}">
        <p14:creationId xmlns:p14="http://schemas.microsoft.com/office/powerpoint/2010/main" val="3287333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100" b="1" kern="1200">
                <a:solidFill>
                  <a:schemeClr val="tx1"/>
                </a:solidFill>
                <a:effectLst/>
                <a:latin typeface="+mn-lt"/>
                <a:ea typeface="+mn-ea"/>
                <a:cs typeface="+mn-cs"/>
              </a:rPr>
              <a:t>The dramatic declines in Japanese equity and commercial real estate prices in the early 1990's put strong downward pressure on the capital positions of Japanese banks.  </a:t>
            </a:r>
          </a:p>
          <a:p>
            <a:pPr marL="171450" indent="-171450">
              <a:buFont typeface="Arial" panose="020B0604020202020204" pitchFamily="34" charset="0"/>
              <a:buChar char="•"/>
            </a:pPr>
            <a:r>
              <a:rPr lang="en-US" sz="1100" b="1" kern="1200">
                <a:solidFill>
                  <a:schemeClr val="tx1"/>
                </a:solidFill>
                <a:effectLst/>
                <a:latin typeface="+mn-lt"/>
                <a:ea typeface="+mn-ea"/>
                <a:cs typeface="+mn-cs"/>
              </a:rPr>
              <a:t>In responding to these domestic shocks by reducing theirlending in the United States, Japanese banks have provided a natural experiment to test the extent to which a loan supply shock can affect real eco- nomic activity.  </a:t>
            </a:r>
          </a:p>
          <a:p>
            <a:pPr marL="171450" indent="-171450">
              <a:buFont typeface="Arial" panose="020B0604020202020204" pitchFamily="34" charset="0"/>
              <a:buChar char="•"/>
            </a:pPr>
            <a:r>
              <a:rPr lang="en-US" sz="1100" b="1" kern="1200">
                <a:solidFill>
                  <a:schemeClr val="tx1"/>
                </a:solidFill>
                <a:effectLst/>
                <a:latin typeface="+mn-lt"/>
                <a:ea typeface="+mn-ea"/>
                <a:cs typeface="+mn-cs"/>
              </a:rPr>
              <a:t>Because the shock was external to U.S. credit markets, yet connected through the substantial penetrationof U.S. commercial real estate loan markets byJapanese banks, this event allows us to identify an exogenous loan supply shock and ultimately link that shock to construction activity in major commercialreal estate markets in the United States. </a:t>
            </a:r>
            <a:endParaRPr lang="en-US" sz="1100"/>
          </a:p>
          <a:p>
            <a:pPr marL="171450" indent="-171450">
              <a:buFont typeface="Arial" panose="020B0604020202020204" pitchFamily="34" charset="0"/>
              <a:buChar char="•"/>
            </a:pPr>
            <a:endParaRPr lang="en-US" sz="11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100" b="1" kern="1200">
              <a:solidFill>
                <a:schemeClr val="tx1"/>
              </a:solidFill>
              <a:effectLst/>
              <a:latin typeface="+mn-lt"/>
              <a:ea typeface="+mn-ea"/>
              <a:cs typeface="+mn-cs"/>
            </a:endParaRPr>
          </a:p>
          <a:p>
            <a:pPr marL="171450" indent="-171450">
              <a:buFont typeface="Arial" panose="020B0604020202020204" pitchFamily="34" charset="0"/>
              <a:buChar char="•"/>
            </a:pPr>
            <a:r>
              <a:rPr lang="en-US" sz="1100" b="1" kern="1200">
                <a:solidFill>
                  <a:schemeClr val="tx1"/>
                </a:solidFill>
                <a:effectLst/>
                <a:latin typeface="+mn-lt"/>
                <a:ea typeface="+mn-ea"/>
                <a:cs typeface="+mn-cs"/>
              </a:rPr>
              <a:t>Because the shock was external to U.S. credit markets, yet connected through the substantial penetration of U.S. commercial real estate loan markets by Japanese banks, this event allows us to identify an exogenous loan supply shock and ultimately link that shock to construction activity in major commercial real estate markets in the United States. </a:t>
            </a:r>
          </a:p>
          <a:p>
            <a:pPr marL="171450" indent="-171450">
              <a:buFont typeface="Arial" panose="020B0604020202020204" pitchFamily="34" charset="0"/>
              <a:buChar char="•"/>
            </a:pPr>
            <a:endParaRPr lang="en-US" sz="1100" b="1"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a:solidFill>
                  <a:schemeClr val="tx1"/>
                </a:solidFill>
                <a:effectLst/>
                <a:latin typeface="+mn-lt"/>
                <a:ea typeface="+mn-ea"/>
                <a:cs typeface="+mn-cs"/>
              </a:rPr>
              <a:t>Using a panel data set that exploits the variation across geographically distinct commercial real estate markets in the United States, both in the degree of Japanese bank penetration and in local demand conditions, we are able to clearly identify a loan supply shock and to closely link that shock to real economic activity, a combi- nation that has eluded most previous studies. We find that the retrenchment of Japanese lending had a substantial impact on U.S. real estate </a:t>
            </a:r>
            <a:r>
              <a:rPr lang="en-US" sz="1200" b="1" kern="1200">
                <a:solidFill>
                  <a:schemeClr val="tx1"/>
                </a:solidFill>
                <a:effectLst/>
                <a:latin typeface="+mn-lt"/>
                <a:ea typeface="+mn-ea"/>
                <a:cs typeface="+mn-cs"/>
              </a:rPr>
              <a:t>activity, indicating that alternative financing was not easily obtained, at least for some borrowers. This is consistent both with the idiosyncratic nature of many commercial real estate loans, which require lender understanding of the borrower and project, and with the major retreat by Japanese banks from their large penetrations in specific U.S. commercial real estate market.</a:t>
            </a:r>
            <a:endParaRPr lang="en-US" sz="110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a:p>
          <a:p>
            <a:pPr marL="171450" indent="-171450">
              <a:buFont typeface="Arial" panose="020B0604020202020204" pitchFamily="34" charset="0"/>
              <a:buChar char="•"/>
            </a:pPr>
            <a:endParaRPr lang="en-US" sz="1100"/>
          </a:p>
          <a:p>
            <a:endParaRPr lang="x-none" sz="1100" dirty="0"/>
          </a:p>
        </p:txBody>
      </p:sp>
      <p:sp>
        <p:nvSpPr>
          <p:cNvPr id="4" name="Slide Number Placeholder 3"/>
          <p:cNvSpPr>
            <a:spLocks noGrp="1"/>
          </p:cNvSpPr>
          <p:nvPr>
            <p:ph type="sldNum" sz="quarter" idx="5"/>
          </p:nvPr>
        </p:nvSpPr>
        <p:spPr/>
        <p:txBody>
          <a:bodyPr/>
          <a:lstStyle/>
          <a:p>
            <a:fld id="{7E3B5E6F-F676-9643-8B7E-6396B420BAF8}" type="slidenum">
              <a:rPr lang="x-none" smtClean="0"/>
              <a:t>7</a:t>
            </a:fld>
            <a:endParaRPr lang="x-none"/>
          </a:p>
        </p:txBody>
      </p:sp>
    </p:spTree>
    <p:extLst>
      <p:ext uri="{BB962C8B-B14F-4D97-AF65-F5344CB8AC3E}">
        <p14:creationId xmlns:p14="http://schemas.microsoft.com/office/powerpoint/2010/main" val="955553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8</a:t>
            </a:fld>
            <a:endParaRPr lang="x-none"/>
          </a:p>
        </p:txBody>
      </p:sp>
    </p:spTree>
    <p:extLst>
      <p:ext uri="{BB962C8B-B14F-4D97-AF65-F5344CB8AC3E}">
        <p14:creationId xmlns:p14="http://schemas.microsoft.com/office/powerpoint/2010/main" val="519341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tabLst/>
            </a:pPr>
            <a:r>
              <a:rPr kumimoji="0" lang="x-none" altLang="x-none" sz="1600" b="0" i="0" u="none" strike="noStrike" cap="none" normalizeH="0" baseline="0">
                <a:ln>
                  <a:noFill/>
                </a:ln>
                <a:solidFill>
                  <a:schemeClr val="tx1"/>
                </a:solidFill>
                <a:effectLst/>
                <a:latin typeface="ArialMT"/>
              </a:rPr>
              <a:t>●  Links an independent loan supply shock to real economic activity in the US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9</a:t>
            </a:fld>
            <a:endParaRPr lang="x-none"/>
          </a:p>
        </p:txBody>
      </p:sp>
    </p:spTree>
    <p:extLst>
      <p:ext uri="{BB962C8B-B14F-4D97-AF65-F5344CB8AC3E}">
        <p14:creationId xmlns:p14="http://schemas.microsoft.com/office/powerpoint/2010/main" val="2935745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Peek &amp; Rosengren (2000) estimate two models to estimate effect of Japanese Bank Crisis on Real Activity in the U.S.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tx1"/>
                </a:solidFill>
                <a:effectLst/>
                <a:latin typeface="+mn-lt"/>
                <a:ea typeface="+mn-ea"/>
                <a:cs typeface="+mn-cs"/>
              </a:rPr>
              <a:t>   Transmission of Japanese Shocks to U.S. CRE Lending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Are stock market and real estate problems in Japan transmitted to the U.S. commercial real estate (CRE) markets in the form of reduced lending?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tx1"/>
                </a:solidFill>
                <a:effectLst/>
                <a:latin typeface="+mn-lt"/>
                <a:ea typeface="+mn-ea"/>
                <a:cs typeface="+mn-cs"/>
              </a:rPr>
              <a:t>Real Effects of Declines in Japanese CRE Lending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Did the reduction in Japanese lending have an effect on real activity in U.S. CRE markets?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10</a:t>
            </a:fld>
            <a:endParaRPr lang="x-none"/>
          </a:p>
        </p:txBody>
      </p:sp>
    </p:spTree>
    <p:extLst>
      <p:ext uri="{BB962C8B-B14F-4D97-AF65-F5344CB8AC3E}">
        <p14:creationId xmlns:p14="http://schemas.microsoft.com/office/powerpoint/2010/main" val="1218886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Data - Any Problems? </a:t>
            </a:r>
            <a:endParaRPr lang="en-US" dirty="0">
              <a:effectLst/>
            </a:endParaRPr>
          </a:p>
          <a:p>
            <a:r>
              <a:rPr lang="en-US" sz="1200" kern="1200" dirty="0">
                <a:solidFill>
                  <a:schemeClr val="tx1"/>
                </a:solidFill>
                <a:effectLst/>
                <a:latin typeface="+mn-lt"/>
                <a:ea typeface="+mn-ea"/>
                <a:cs typeface="+mn-cs"/>
              </a:rPr>
              <a:t>● Aggregation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Real estate loans are not disaggregated by type, so authors use total real estate loans </a:t>
            </a:r>
            <a:endParaRPr lang="en-US" dirty="0">
              <a:effectLst/>
            </a:endParaRPr>
          </a:p>
          <a:p>
            <a:r>
              <a:rPr lang="en-US" sz="1200" kern="1200" dirty="0">
                <a:solidFill>
                  <a:schemeClr val="tx1"/>
                </a:solidFill>
                <a:effectLst/>
                <a:latin typeface="+mn-lt"/>
                <a:ea typeface="+mn-ea"/>
                <a:cs typeface="+mn-cs"/>
              </a:rPr>
              <a:t>■ May be losing some of the idiosyncrasies in individual real estate sectors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Japanese branches in Los Angeles and San Francisco are consolidated into single California </a:t>
            </a:r>
            <a:endParaRPr lang="en-US" dirty="0">
              <a:effectLst/>
            </a:endParaRPr>
          </a:p>
          <a:p>
            <a:r>
              <a:rPr lang="en-US" sz="1200" kern="1200" dirty="0">
                <a:solidFill>
                  <a:schemeClr val="tx1"/>
                </a:solidFill>
                <a:effectLst/>
                <a:latin typeface="+mn-lt"/>
                <a:ea typeface="+mn-ea"/>
                <a:cs typeface="+mn-cs"/>
              </a:rPr>
              <a:t>entity ● Sample size </a:t>
            </a:r>
            <a:endParaRPr lang="en-US" dirty="0">
              <a:effectLst/>
            </a:endParaRPr>
          </a:p>
          <a:p>
            <a:r>
              <a:rPr lang="en-US" sz="1200" kern="1200" dirty="0">
                <a:solidFill>
                  <a:schemeClr val="tx1"/>
                </a:solidFill>
                <a:effectLst/>
                <a:latin typeface="+mn-lt"/>
                <a:ea typeface="+mn-ea"/>
                <a:cs typeface="+mn-cs"/>
              </a:rPr>
              <a:t>○  1989 to 1996 semiannually </a:t>
            </a:r>
            <a:endParaRPr lang="en-US" dirty="0">
              <a:effectLst/>
            </a:endParaRPr>
          </a:p>
          <a:p>
            <a:r>
              <a:rPr lang="en-US" sz="1200" kern="1200" dirty="0">
                <a:solidFill>
                  <a:schemeClr val="tx1"/>
                </a:solidFill>
                <a:effectLst/>
                <a:latin typeface="+mn-lt"/>
                <a:ea typeface="+mn-ea"/>
                <a:cs typeface="+mn-cs"/>
              </a:rPr>
              <a:t>○  Only 14 cross-sections </a:t>
            </a:r>
            <a:endParaRPr lang="en-US" dirty="0">
              <a:effectLst/>
            </a:endParaRPr>
          </a:p>
          <a:p>
            <a:r>
              <a:rPr lang="en-US" sz="1200" kern="1200" dirty="0">
                <a:solidFill>
                  <a:schemeClr val="tx1"/>
                </a:solidFill>
                <a:effectLst/>
                <a:latin typeface="+mn-lt"/>
                <a:ea typeface="+mn-ea"/>
                <a:cs typeface="+mn-cs"/>
              </a:rPr>
              <a:t>○  For example, the rate of non-performing loans may suffer from inaccuracy </a:t>
            </a:r>
            <a:endParaRPr lang="en-US" dirty="0">
              <a:effectLst/>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Ideal world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More cross sections: </a:t>
            </a:r>
            <a:endParaRPr lang="en-US" dirty="0">
              <a:effectLst/>
            </a:endParaRPr>
          </a:p>
          <a:p>
            <a:r>
              <a:rPr lang="en-US" sz="1200" kern="1200" dirty="0">
                <a:solidFill>
                  <a:schemeClr val="tx1"/>
                </a:solidFill>
                <a:effectLst/>
                <a:latin typeface="+mn-lt"/>
                <a:ea typeface="+mn-ea"/>
                <a:cs typeface="+mn-cs"/>
              </a:rPr>
              <a:t>Include more data from before 1989 (less ideal) </a:t>
            </a:r>
          </a:p>
          <a:p>
            <a:r>
              <a:rPr lang="en-US" sz="1200" kern="1200" dirty="0">
                <a:solidFill>
                  <a:schemeClr val="tx1"/>
                </a:solidFill>
                <a:effectLst/>
                <a:latin typeface="+mn-lt"/>
                <a:ea typeface="+mn-ea"/>
                <a:cs typeface="+mn-cs"/>
              </a:rPr>
              <a:t>Increase frequency of measurement (monthly, if not daily) </a:t>
            </a: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11</a:t>
            </a:fld>
            <a:endParaRPr lang="x-none"/>
          </a:p>
        </p:txBody>
      </p:sp>
    </p:spTree>
    <p:extLst>
      <p:ext uri="{BB962C8B-B14F-4D97-AF65-F5344CB8AC3E}">
        <p14:creationId xmlns:p14="http://schemas.microsoft.com/office/powerpoint/2010/main" val="3685517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4 variables about U.S. economy and banking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risk-based capital ratio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0 for Japanese branches: They rely of Japanese parent banks’ capital. </a:t>
            </a:r>
          </a:p>
          <a:p>
            <a:pPr marL="228600" marR="0" lvl="0" indent="-228600" algn="l" defTabSz="914400" rtl="0" eaLnBrk="1" fontAlgn="auto" latinLnBrk="0" hangingPunct="1">
              <a:lnSpc>
                <a:spcPct val="100000"/>
              </a:lnSpc>
              <a:spcBef>
                <a:spcPts val="0"/>
              </a:spcBef>
              <a:spcAft>
                <a:spcPts val="0"/>
              </a:spcAft>
              <a:buClrTx/>
              <a:buSzTx/>
              <a:buFontTx/>
              <a:buAutoNum type="arabicParenR" startAt="2"/>
              <a:tabLst/>
              <a:defRPr/>
            </a:pPr>
            <a:r>
              <a:rPr lang="en-US" dirty="0"/>
              <a:t>Share of nonperforming CRE loans </a:t>
            </a:r>
          </a:p>
          <a:p>
            <a:pPr marL="228600" marR="0" lvl="0" indent="-228600" algn="l" defTabSz="914400" rtl="0" eaLnBrk="1" fontAlgn="auto" latinLnBrk="0" hangingPunct="1">
              <a:lnSpc>
                <a:spcPct val="100000"/>
              </a:lnSpc>
              <a:spcBef>
                <a:spcPts val="0"/>
              </a:spcBef>
              <a:spcAft>
                <a:spcPts val="0"/>
              </a:spcAft>
              <a:buClrTx/>
              <a:buSzTx/>
              <a:buFontTx/>
              <a:buAutoNum type="arabicParenR" startAt="2"/>
              <a:tabLst/>
              <a:defRPr/>
            </a:pPr>
            <a:r>
              <a:rPr lang="en-US" dirty="0"/>
              <a:t>3)    logarithm of assets </a:t>
            </a:r>
          </a:p>
          <a:p>
            <a:pPr marL="228600" marR="0" lvl="0" indent="-228600" algn="l" defTabSz="914400" rtl="0" eaLnBrk="1" fontAlgn="auto" latinLnBrk="0" hangingPunct="1">
              <a:lnSpc>
                <a:spcPct val="100000"/>
              </a:lnSpc>
              <a:spcBef>
                <a:spcPts val="0"/>
              </a:spcBef>
              <a:spcAft>
                <a:spcPts val="0"/>
              </a:spcAft>
              <a:buClrTx/>
              <a:buSzTx/>
              <a:buFontTx/>
              <a:buAutoNum type="arabicParenR" startAt="4"/>
              <a:tabLst/>
              <a:defRPr/>
            </a:pPr>
            <a:r>
              <a:rPr lang="en-US" dirty="0"/>
              <a:t>ratio of loans to assets </a:t>
            </a:r>
          </a:p>
          <a:p>
            <a:pPr marL="228600" marR="0" lvl="0" indent="-228600" algn="l" defTabSz="914400" rtl="0" eaLnBrk="1" fontAlgn="auto" latinLnBrk="0" hangingPunct="1">
              <a:lnSpc>
                <a:spcPct val="100000"/>
              </a:lnSpc>
              <a:spcBef>
                <a:spcPts val="0"/>
              </a:spcBef>
              <a:spcAft>
                <a:spcPts val="0"/>
              </a:spcAft>
              <a:buClrTx/>
              <a:buSzTx/>
              <a:buFontTx/>
              <a:buAutoNum type="arabicParenR" startAt="4"/>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Controlling for influence of local circumstances in the U.S. </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12</a:t>
            </a:fld>
            <a:endParaRPr lang="x-none"/>
          </a:p>
        </p:txBody>
      </p:sp>
    </p:spTree>
    <p:extLst>
      <p:ext uri="{BB962C8B-B14F-4D97-AF65-F5344CB8AC3E}">
        <p14:creationId xmlns:p14="http://schemas.microsoft.com/office/powerpoint/2010/main" val="2166579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in CRE loans in the U.S.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of banking institution </a:t>
            </a:r>
            <a:r>
              <a:rPr lang="en-US" dirty="0" err="1"/>
              <a:t>i</a:t>
            </a:r>
            <a:r>
              <a:rPr lang="en-US" dirty="0"/>
              <a:t>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state j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from period t - 1 to period t (six-month-periods)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13</a:t>
            </a:fld>
            <a:endParaRPr lang="x-none"/>
          </a:p>
        </p:txBody>
      </p:sp>
    </p:spTree>
    <p:extLst>
      <p:ext uri="{BB962C8B-B14F-4D97-AF65-F5344CB8AC3E}">
        <p14:creationId xmlns:p14="http://schemas.microsoft.com/office/powerpoint/2010/main" val="1680800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in CRE loans in the U.S.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of banking institution </a:t>
            </a:r>
            <a:r>
              <a:rPr lang="en-US" dirty="0" err="1"/>
              <a:t>i</a:t>
            </a:r>
            <a:r>
              <a:rPr lang="en-US" dirty="0"/>
              <a:t>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state j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from period t - 1 to period t (six-month-periods)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14</a:t>
            </a:fld>
            <a:endParaRPr lang="x-none"/>
          </a:p>
        </p:txBody>
      </p:sp>
    </p:spTree>
    <p:extLst>
      <p:ext uri="{BB962C8B-B14F-4D97-AF65-F5344CB8AC3E}">
        <p14:creationId xmlns:p14="http://schemas.microsoft.com/office/powerpoint/2010/main" val="1680800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15</a:t>
            </a:fld>
            <a:endParaRPr lang="x-none"/>
          </a:p>
        </p:txBody>
      </p:sp>
    </p:spTree>
    <p:extLst>
      <p:ext uri="{BB962C8B-B14F-4D97-AF65-F5344CB8AC3E}">
        <p14:creationId xmlns:p14="http://schemas.microsoft.com/office/powerpoint/2010/main" val="2526005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Effects of parent bank risk-based capital ratio are smaller than the ones of non-performing loan ratio. </a:t>
            </a:r>
          </a:p>
          <a:p>
            <a:r>
              <a:rPr lang="en-US" dirty="0"/>
              <a:t>○ part of nonperforming loans are actually reflected in a lower capital ratio ○ Possible explanation: Non-performing loans are underreported in Japan </a:t>
            </a:r>
          </a:p>
          <a:p>
            <a:r>
              <a:rPr lang="en-US" dirty="0"/>
              <a:t>●   Overall: Similarities between different states indicate robustness of results.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16</a:t>
            </a:fld>
            <a:endParaRPr lang="x-none"/>
          </a:p>
        </p:txBody>
      </p:sp>
    </p:spTree>
    <p:extLst>
      <p:ext uri="{BB962C8B-B14F-4D97-AF65-F5344CB8AC3E}">
        <p14:creationId xmlns:p14="http://schemas.microsoft.com/office/powerpoint/2010/main" val="4096515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Peek &amp; Rosengren (2000) estimate two models to estimate effect of Japanese Bank Crisis on Real Activity in the U.S.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tx1"/>
                </a:solidFill>
                <a:effectLst/>
                <a:latin typeface="+mn-lt"/>
                <a:ea typeface="+mn-ea"/>
                <a:cs typeface="+mn-cs"/>
              </a:rPr>
              <a:t>   Transmission of Japanese Shocks to U.S. CRE Lending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Are stock market and real estate problems in Japan transmitted to the U.S. commercial real estate (CRE) markets in the form of reduced lending?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tx1"/>
                </a:solidFill>
                <a:effectLst/>
                <a:latin typeface="+mn-lt"/>
                <a:ea typeface="+mn-ea"/>
                <a:cs typeface="+mn-cs"/>
              </a:rPr>
              <a:t>Real Effects of Declines in Japanese CRE Lending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Did the reduction in Japanese lending have an effect on real activity in U.S. CRE markets?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18</a:t>
            </a:fld>
            <a:endParaRPr lang="x-none"/>
          </a:p>
        </p:txBody>
      </p:sp>
    </p:spTree>
    <p:extLst>
      <p:ext uri="{BB962C8B-B14F-4D97-AF65-F5344CB8AC3E}">
        <p14:creationId xmlns:p14="http://schemas.microsoft.com/office/powerpoint/2010/main" val="2499794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 Effects of Declines in Japanese Commercial Real Estate Lending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Dependent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Four alternative measures of construction activity (always on the state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value, number, and square footage of total new construction projects (per Capita)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Annualized percentage change in employment in the construction industry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Heterogeneity of effects?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19</a:t>
            </a:fld>
            <a:endParaRPr lang="x-none"/>
          </a:p>
        </p:txBody>
      </p:sp>
    </p:spTree>
    <p:extLst>
      <p:ext uri="{BB962C8B-B14F-4D97-AF65-F5344CB8AC3E}">
        <p14:creationId xmlns:p14="http://schemas.microsoft.com/office/powerpoint/2010/main" val="1887352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4 control variables for local demand conditions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Which other factors could have led to changes in construction activity in the CRE market?</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20</a:t>
            </a:fld>
            <a:endParaRPr lang="x-none"/>
          </a:p>
        </p:txBody>
      </p:sp>
    </p:spTree>
    <p:extLst>
      <p:ext uri="{BB962C8B-B14F-4D97-AF65-F5344CB8AC3E}">
        <p14:creationId xmlns:p14="http://schemas.microsoft.com/office/powerpoint/2010/main" val="3685496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 Effects of Declines in Japanese Commercial Real Estate Lending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Dependent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Four alternative measures of construction activity (always on the state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value, number, and square footage of total new construction projects (per Capita)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Annualized percentage change in employment in the construction industry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Heterogeneity of effects?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21</a:t>
            </a:fld>
            <a:endParaRPr lang="x-none"/>
          </a:p>
        </p:txBody>
      </p:sp>
    </p:spTree>
    <p:extLst>
      <p:ext uri="{BB962C8B-B14F-4D97-AF65-F5344CB8AC3E}">
        <p14:creationId xmlns:p14="http://schemas.microsoft.com/office/powerpoint/2010/main" val="1887352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4 control variables for local demand conditions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Which other factors could have led to changes in construction activity in the CRE market?</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22</a:t>
            </a:fld>
            <a:endParaRPr lang="x-none"/>
          </a:p>
        </p:txBody>
      </p:sp>
    </p:spTree>
    <p:extLst>
      <p:ext uri="{BB962C8B-B14F-4D97-AF65-F5344CB8AC3E}">
        <p14:creationId xmlns:p14="http://schemas.microsoft.com/office/powerpoint/2010/main" val="3685496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4 control variables for local demand conditions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Which other factors could have led to changes in construction activity in the CRE market?</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23</a:t>
            </a:fld>
            <a:endParaRPr lang="x-none"/>
          </a:p>
        </p:txBody>
      </p:sp>
    </p:spTree>
    <p:extLst>
      <p:ext uri="{BB962C8B-B14F-4D97-AF65-F5344CB8AC3E}">
        <p14:creationId xmlns:p14="http://schemas.microsoft.com/office/powerpoint/2010/main" val="36854969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 Effects of Declines in Japanese Commercial Real Estate Lending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Dependent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Four alternative measures of construction activity (always on the state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value, number, and square footage of total new construction projects (per Capita)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Annualized percentage change in employment in the construction industry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Heterogeneity of effects?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24</a:t>
            </a:fld>
            <a:endParaRPr lang="x-none"/>
          </a:p>
        </p:txBody>
      </p:sp>
    </p:spTree>
    <p:extLst>
      <p:ext uri="{BB962C8B-B14F-4D97-AF65-F5344CB8AC3E}">
        <p14:creationId xmlns:p14="http://schemas.microsoft.com/office/powerpoint/2010/main" val="1887352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 Effects of Declines in Japanese Commercial Real Estate Lending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Dependent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Four alternative measures of construction activity (always on the state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value, number, and square footage of total new construction projects (per Capita)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Annualized percentage change in employment in the construction industry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Heterogeneity of effects?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25</a:t>
            </a:fld>
            <a:endParaRPr lang="x-none"/>
          </a:p>
        </p:txBody>
      </p:sp>
    </p:spTree>
    <p:extLst>
      <p:ext uri="{BB962C8B-B14F-4D97-AF65-F5344CB8AC3E}">
        <p14:creationId xmlns:p14="http://schemas.microsoft.com/office/powerpoint/2010/main" val="18873522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Relevance: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F-Statistic = 41.725 &gt; 10 → indicates that hypothesis, that the loan supply effects are zero can be rejected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Instruments seems to be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Exogeneity?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Estimation shows that Japanese-related instruments are not correlated with CRE lending by non-Japanese banks.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F-statistic of change in CRE loans held by non-Japanese banks are not significant on Japanese-related instruments (F =1.09)</a:t>
            </a:r>
          </a:p>
        </p:txBody>
      </p:sp>
      <p:sp>
        <p:nvSpPr>
          <p:cNvPr id="4" name="Slide Number Placeholder 3"/>
          <p:cNvSpPr>
            <a:spLocks noGrp="1"/>
          </p:cNvSpPr>
          <p:nvPr>
            <p:ph type="sldNum" sz="quarter" idx="5"/>
          </p:nvPr>
        </p:nvSpPr>
        <p:spPr/>
        <p:txBody>
          <a:bodyPr/>
          <a:lstStyle/>
          <a:p>
            <a:fld id="{7E3B5E6F-F676-9643-8B7E-6396B420BAF8}" type="slidenum">
              <a:rPr lang="x-none" smtClean="0"/>
              <a:t>32</a:t>
            </a:fld>
            <a:endParaRPr lang="x-none"/>
          </a:p>
        </p:txBody>
      </p:sp>
    </p:spTree>
    <p:extLst>
      <p:ext uri="{BB962C8B-B14F-4D97-AF65-F5344CB8AC3E}">
        <p14:creationId xmlns:p14="http://schemas.microsoft.com/office/powerpoint/2010/main" val="3491647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34</a:t>
            </a:fld>
            <a:endParaRPr lang="x-none"/>
          </a:p>
        </p:txBody>
      </p:sp>
    </p:spTree>
    <p:extLst>
      <p:ext uri="{BB962C8B-B14F-4D97-AF65-F5344CB8AC3E}">
        <p14:creationId xmlns:p14="http://schemas.microsoft.com/office/powerpoint/2010/main" val="26755646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Possible </a:t>
            </a:r>
            <a:r>
              <a:rPr lang="en-US" dirty="0" err="1"/>
              <a:t>Shortcomes</a:t>
            </a:r>
            <a:r>
              <a:rPr lang="en-US" dirty="0"/>
              <a:t> of the Paper: </a:t>
            </a:r>
          </a:p>
          <a:p>
            <a:r>
              <a:rPr lang="en-US" dirty="0"/>
              <a:t>○    Relatively small sample size </a:t>
            </a:r>
          </a:p>
          <a:p>
            <a:r>
              <a:rPr lang="en-US" dirty="0"/>
              <a:t>○    Non-performing loans are possibly underreported </a:t>
            </a:r>
            <a:endParaRPr lang="x-none" dirty="0"/>
          </a:p>
          <a:p>
            <a:endParaRPr lang="en-US" dirty="0"/>
          </a:p>
          <a:p>
            <a:endParaRPr lang="en-US" dirty="0"/>
          </a:p>
          <a:p>
            <a:r>
              <a:rPr lang="en-US" dirty="0"/>
              <a:t>Aggregation </a:t>
            </a:r>
          </a:p>
          <a:p>
            <a:r>
              <a:rPr lang="en-US" dirty="0"/>
              <a:t>○    Real estate loans are not disaggregated by type, so authors use total real estate loans </a:t>
            </a:r>
          </a:p>
          <a:p>
            <a:r>
              <a:rPr lang="en-US" dirty="0"/>
              <a:t>■    May be losing some of the idiosyncrasies in individual real estate sectors </a:t>
            </a:r>
          </a:p>
          <a:p>
            <a:r>
              <a:rPr lang="en-US" dirty="0"/>
              <a:t>○    Japanese branches in Los Angeles and San Francisco are consolidated into single California entity </a:t>
            </a:r>
          </a:p>
          <a:p>
            <a:r>
              <a:rPr lang="en-US" dirty="0"/>
              <a:t>●    Sample size </a:t>
            </a:r>
          </a:p>
          <a:p>
            <a:r>
              <a:rPr lang="en-US" dirty="0"/>
              <a:t>○    1989 to 1996 semiannually </a:t>
            </a:r>
          </a:p>
          <a:p>
            <a:r>
              <a:rPr lang="en-US" dirty="0"/>
              <a:t>○    Only 14 cross-sections </a:t>
            </a:r>
          </a:p>
          <a:p>
            <a:r>
              <a:rPr lang="en-US" dirty="0"/>
              <a:t>○    For example, the rate of non-performing loans may suffer from inaccuracy </a:t>
            </a:r>
          </a:p>
          <a:p>
            <a:r>
              <a:rPr lang="en-US" dirty="0"/>
              <a:t>●    Ideal world </a:t>
            </a:r>
          </a:p>
          <a:p>
            <a:r>
              <a:rPr lang="en-US" dirty="0"/>
              <a:t>○    More cross sections: </a:t>
            </a:r>
          </a:p>
          <a:p>
            <a:r>
              <a:rPr lang="en-US" dirty="0"/>
              <a:t>■    Include more data from before 1989 (less ideal) </a:t>
            </a:r>
          </a:p>
          <a:p>
            <a:r>
              <a:rPr lang="en-US" dirty="0"/>
              <a:t>■    Increase frequency of measurement (monthly, if not daily)</a:t>
            </a:r>
          </a:p>
          <a:p>
            <a:r>
              <a:rPr lang="en-US" dirty="0"/>
              <a:t>●  Sample is not random </a:t>
            </a:r>
          </a:p>
          <a:p>
            <a:r>
              <a:rPr lang="en-US" dirty="0"/>
              <a:t>○  Authors select the US states with the highest Japanese real estate market penetration </a:t>
            </a:r>
          </a:p>
          <a:p>
            <a:r>
              <a:rPr lang="en-US" dirty="0"/>
              <a:t>●  Non-performing loan rate </a:t>
            </a:r>
          </a:p>
          <a:p>
            <a:r>
              <a:rPr lang="en-US" dirty="0"/>
              <a:t>○  Statistic was not reported until 1993 </a:t>
            </a:r>
          </a:p>
          <a:p>
            <a:r>
              <a:rPr lang="en-US" dirty="0"/>
              <a:t>○  After 1993 tends to be underreported</a:t>
            </a: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35</a:t>
            </a:fld>
            <a:endParaRPr lang="x-none"/>
          </a:p>
        </p:txBody>
      </p:sp>
    </p:spTree>
    <p:extLst>
      <p:ext uri="{BB962C8B-B14F-4D97-AF65-F5344CB8AC3E}">
        <p14:creationId xmlns:p14="http://schemas.microsoft.com/office/powerpoint/2010/main" val="24226874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Exogenous: lagged variables that reflect a loan supply effect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Endogenous: loan supply shock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Are the used instruments valid?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Instruments should be: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Relevant </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dirty="0"/>
              <a:t>● Problem occurs when instruments are only weakly correlated with the endogenous variable ("weak" instrument). This is usually checked by an F-test in the first stage of the 2SLS regression.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Exogenous </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dirty="0"/>
              <a:t>●    Valid instrument correlates with endogenous variable and with dependent variable, but not the error term.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IVs should be good to estimate the effect of the loan supply shock transmitted by Japanese banks to U.S. CRE loan markets but not for CRE loans by non-Japanese banks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36</a:t>
            </a:fld>
            <a:endParaRPr lang="x-none"/>
          </a:p>
        </p:txBody>
      </p:sp>
    </p:spTree>
    <p:extLst>
      <p:ext uri="{BB962C8B-B14F-4D97-AF65-F5344CB8AC3E}">
        <p14:creationId xmlns:p14="http://schemas.microsoft.com/office/powerpoint/2010/main" val="22046086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oc id"/>
          <p:cNvSpPr>
            <a:spLocks noGrp="1" noChangeArrowheads="1"/>
          </p:cNvSpPr>
          <p:nvPr>
            <p:ph type="ftr" sz="quarter" idx="4"/>
          </p:nvPr>
        </p:nvSpPr>
        <p:spPr>
          <a:ln/>
        </p:spPr>
        <p:txBody>
          <a:bodyPr/>
          <a:lstStyle/>
          <a:p>
            <a:r>
              <a:rPr lang="en-US"/>
              <a:t>20060529 blueprint vocational</a:t>
            </a:r>
          </a:p>
        </p:txBody>
      </p:sp>
      <p:sp>
        <p:nvSpPr>
          <p:cNvPr id="5" name="Rectangle 7"/>
          <p:cNvSpPr>
            <a:spLocks noGrp="1" noChangeArrowheads="1"/>
          </p:cNvSpPr>
          <p:nvPr>
            <p:ph type="sldNum" sz="quarter" idx="5"/>
          </p:nvPr>
        </p:nvSpPr>
        <p:spPr>
          <a:ln/>
        </p:spPr>
        <p:txBody>
          <a:bodyPr/>
          <a:lstStyle/>
          <a:p>
            <a:fld id="{9EE1951F-679D-4753-B574-6FE1134606A8}" type="slidenum">
              <a:rPr lang="ar-SA"/>
              <a:pPr/>
              <a:t>37</a:t>
            </a:fld>
            <a:endParaRPr lang="en-US"/>
          </a:p>
        </p:txBody>
      </p:sp>
      <p:sp>
        <p:nvSpPr>
          <p:cNvPr id="838658" name="Rectangle 2"/>
          <p:cNvSpPr>
            <a:spLocks noGrp="1" noRot="1" noChangeAspect="1" noChangeArrowheads="1" noTextEdit="1"/>
          </p:cNvSpPr>
          <p:nvPr>
            <p:ph type="sldImg"/>
          </p:nvPr>
        </p:nvSpPr>
        <p:spPr>
          <a:xfrm>
            <a:off x="-661988" y="882650"/>
            <a:ext cx="10412413" cy="5857875"/>
          </a:xfrm>
        </p:spPr>
      </p:sp>
      <p:sp>
        <p:nvSpPr>
          <p:cNvPr id="838659" name="Rectangle 3"/>
          <p:cNvSpPr>
            <a:spLocks noGrp="1" noChangeArrowheads="1"/>
          </p:cNvSpPr>
          <p:nvPr>
            <p:ph type="body" idx="1"/>
          </p:nvPr>
        </p:nvSpPr>
        <p:spPr>
          <a:xfrm>
            <a:off x="1094621" y="284262"/>
            <a:ext cx="7762119" cy="206871"/>
          </a:xfrm>
        </p:spPr>
        <p:txBody>
          <a:bodyPr/>
          <a:lstStyle/>
          <a:p>
            <a:endParaRPr lang="en-GB"/>
          </a:p>
        </p:txBody>
      </p:sp>
    </p:spTree>
    <p:extLst>
      <p:ext uri="{BB962C8B-B14F-4D97-AF65-F5344CB8AC3E}">
        <p14:creationId xmlns:p14="http://schemas.microsoft.com/office/powerpoint/2010/main" val="17935283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BB9453B-6FA5-4CB9-81C9-6D9900DC4400}" type="slidenum">
              <a:rPr lang="en-US" smtClean="0"/>
              <a:pPr/>
              <a:t>38</a:t>
            </a:fld>
            <a:endParaRPr lang="en-US"/>
          </a:p>
        </p:txBody>
      </p:sp>
    </p:spTree>
    <p:extLst>
      <p:ext uri="{BB962C8B-B14F-4D97-AF65-F5344CB8AC3E}">
        <p14:creationId xmlns:p14="http://schemas.microsoft.com/office/powerpoint/2010/main" val="3263032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Published in March 2000 in The American Economic Review </a:t>
            </a:r>
            <a:endParaRPr lang="en-US" dirty="0">
              <a:effectLst/>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39</a:t>
            </a:fld>
            <a:endParaRPr lang="x-none"/>
          </a:p>
        </p:txBody>
      </p:sp>
    </p:spTree>
    <p:extLst>
      <p:ext uri="{BB962C8B-B14F-4D97-AF65-F5344CB8AC3E}">
        <p14:creationId xmlns:p14="http://schemas.microsoft.com/office/powerpoint/2010/main" val="28187404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Exogenous: lagged variables that reflect a loan supply effect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Endogenous: loan supply shock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Are the used instruments valid?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Instruments should be: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Relevant </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dirty="0"/>
              <a:t>● Problem occurs when instruments are only weakly correlated with the endogenous variable ("weak" instrument). This is usually checked by an F-test in the first stage of the 2SLS regression.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Exogenous </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dirty="0"/>
              <a:t>●    Valid instrument correlates with endogenous variable and with dependent variable, but not the error term.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IVs should be good to estimate the effect of the loan supply shock transmitted by Japanese banks to U.S. CRE loan markets but not for CRE loans by non-Japanese banks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40</a:t>
            </a:fld>
            <a:endParaRPr lang="x-none"/>
          </a:p>
        </p:txBody>
      </p:sp>
    </p:spTree>
    <p:extLst>
      <p:ext uri="{BB962C8B-B14F-4D97-AF65-F5344CB8AC3E}">
        <p14:creationId xmlns:p14="http://schemas.microsoft.com/office/powerpoint/2010/main" val="3250034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7A3DC-3896-98C4-3787-629C244454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745B0D06-C819-18EB-7F70-12292C0C9E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80FC3A0B-60EE-0D9F-2F7C-656887E0FAE6}"/>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2BEC4F09-16A1-A7A6-A557-51748D19AB65}"/>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1CC4A1B5-46FC-51E2-EE90-5D522ECFC0CF}"/>
              </a:ext>
            </a:extLst>
          </p:cNvPr>
          <p:cNvSpPr>
            <a:spLocks noGrp="1"/>
          </p:cNvSpPr>
          <p:nvPr>
            <p:ph type="sldNum" sz="quarter" idx="12"/>
          </p:nvPr>
        </p:nvSpPr>
        <p:spPr/>
        <p:txBody>
          <a:bodyPr/>
          <a:lstStyle>
            <a:lvl1pPr>
              <a:defRPr>
                <a:solidFill>
                  <a:schemeClr val="tx1">
                    <a:lumMod val="50000"/>
                    <a:lumOff val="50000"/>
                  </a:schemeClr>
                </a:solidFill>
              </a:defRPr>
            </a:lvl1pPr>
          </a:lstStyle>
          <a:p>
            <a:fld id="{1AE92137-7C9E-4C4A-86B0-0BF68CCC1610}" type="slidenum">
              <a:rPr lang="x-none" smtClean="0"/>
              <a:pPr/>
              <a:t>‹#›</a:t>
            </a:fld>
            <a:endParaRPr lang="x-none" dirty="0"/>
          </a:p>
        </p:txBody>
      </p:sp>
    </p:spTree>
    <p:extLst>
      <p:ext uri="{BB962C8B-B14F-4D97-AF65-F5344CB8AC3E}">
        <p14:creationId xmlns:p14="http://schemas.microsoft.com/office/powerpoint/2010/main" val="2073244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BD479E-86E7-F0EE-502A-DF39754046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41DC2724-BF03-EB37-3EBF-4AC0FA517B79}"/>
              </a:ext>
            </a:extLst>
          </p:cNvPr>
          <p:cNvSpPr>
            <a:spLocks noGrp="1"/>
          </p:cNvSpPr>
          <p:nvPr>
            <p:ph type="dt" sz="half" idx="10"/>
          </p:nvPr>
        </p:nvSpPr>
        <p:spPr/>
        <p:txBody>
          <a:bodyPr/>
          <a:lstStyle/>
          <a:p>
            <a:r>
              <a:rPr lang="en-US"/>
              <a:t>Peek and Rosengren, 2000</a:t>
            </a:r>
            <a:endParaRPr lang="en-US" dirty="0"/>
          </a:p>
        </p:txBody>
      </p:sp>
      <p:sp>
        <p:nvSpPr>
          <p:cNvPr id="8" name="Footer Placeholder 7">
            <a:extLst>
              <a:ext uri="{FF2B5EF4-FFF2-40B4-BE49-F238E27FC236}">
                <a16:creationId xmlns:a16="http://schemas.microsoft.com/office/drawing/2014/main" id="{1335A7BE-4F6E-70E4-1FCB-ABA4E04154AD}"/>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9" name="Slide Number Placeholder 8">
            <a:extLst>
              <a:ext uri="{FF2B5EF4-FFF2-40B4-BE49-F238E27FC236}">
                <a16:creationId xmlns:a16="http://schemas.microsoft.com/office/drawing/2014/main" id="{89A3CCDE-2009-9FAD-FBB0-78F6FFCCADE9}"/>
              </a:ext>
            </a:extLst>
          </p:cNvPr>
          <p:cNvSpPr>
            <a:spLocks noGrp="1"/>
          </p:cNvSpPr>
          <p:nvPr>
            <p:ph type="sldNum" sz="quarter" idx="12"/>
          </p:nvPr>
        </p:nvSpPr>
        <p:spPr/>
        <p:txBody>
          <a:bodyPr/>
          <a:lstStyle/>
          <a:p>
            <a:fld id="{1AE92137-7C9E-4C4A-86B0-0BF68CCC1610}" type="slidenum">
              <a:rPr lang="x-none" smtClean="0"/>
              <a:pPr/>
              <a:t>‹#›</a:t>
            </a:fld>
            <a:endParaRPr lang="x-none" dirty="0"/>
          </a:p>
        </p:txBody>
      </p:sp>
      <p:sp>
        <p:nvSpPr>
          <p:cNvPr id="10" name="Title 9">
            <a:extLst>
              <a:ext uri="{FF2B5EF4-FFF2-40B4-BE49-F238E27FC236}">
                <a16:creationId xmlns:a16="http://schemas.microsoft.com/office/drawing/2014/main" id="{A8355F89-8CA1-EADB-FE84-8B7E0C95B959}"/>
              </a:ext>
            </a:extLst>
          </p:cNvPr>
          <p:cNvSpPr>
            <a:spLocks noGrp="1"/>
          </p:cNvSpPr>
          <p:nvPr>
            <p:ph type="title"/>
          </p:nvPr>
        </p:nvSpPr>
        <p:spPr/>
        <p:txBody>
          <a:bodyPr/>
          <a:lstStyle/>
          <a:p>
            <a:r>
              <a:rPr lang="en-US"/>
              <a:t>Click to edit Master title style</a:t>
            </a:r>
            <a:endParaRPr lang="x-none"/>
          </a:p>
        </p:txBody>
      </p:sp>
    </p:spTree>
    <p:extLst>
      <p:ext uri="{BB962C8B-B14F-4D97-AF65-F5344CB8AC3E}">
        <p14:creationId xmlns:p14="http://schemas.microsoft.com/office/powerpoint/2010/main" val="3496073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4584B-0A97-8BBC-1DA0-AAAE418F21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A287B12B-0582-DED9-E1BB-1E6E153509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E06ED9-BFCC-C701-F33E-FBB4384FE134}"/>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0E0054C8-8753-0CD9-C886-331DCEA822E7}"/>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8DCC89CA-6034-5318-2F3F-E4ACDB3C5C06}"/>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1080226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D1843-FFBE-2305-0E1B-CFBADF7B4591}"/>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D343E728-25F2-9313-34C0-82B5263251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8AA0D714-D35E-5DDC-3A34-37AECA9E82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391F2FD9-E71E-719A-A6EB-85FF9794F071}"/>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6" name="Footer Placeholder 5">
            <a:extLst>
              <a:ext uri="{FF2B5EF4-FFF2-40B4-BE49-F238E27FC236}">
                <a16:creationId xmlns:a16="http://schemas.microsoft.com/office/drawing/2014/main" id="{10DC132A-6C05-7427-357C-2CFB0207A363}"/>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7" name="Slide Number Placeholder 6">
            <a:extLst>
              <a:ext uri="{FF2B5EF4-FFF2-40B4-BE49-F238E27FC236}">
                <a16:creationId xmlns:a16="http://schemas.microsoft.com/office/drawing/2014/main" id="{9F6395DA-E0B4-6176-E57F-658BFF7BD60D}"/>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345806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2FD87-5C74-6242-3EA0-CD28F599EDDC}"/>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D7370B24-4F07-059C-2C12-54DCF52EA9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22D556-0C1F-0493-4BC6-53C8C7A038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376280A4-C368-EB2D-2682-13CFFA0A87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755412-F231-8324-3A84-83694EC68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A3D2A8E9-7E79-2C35-A60A-3FAFAD4E8D81}"/>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8" name="Footer Placeholder 7">
            <a:extLst>
              <a:ext uri="{FF2B5EF4-FFF2-40B4-BE49-F238E27FC236}">
                <a16:creationId xmlns:a16="http://schemas.microsoft.com/office/drawing/2014/main" id="{19548B03-9922-001D-626B-DB230BDFD460}"/>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9" name="Slide Number Placeholder 8">
            <a:extLst>
              <a:ext uri="{FF2B5EF4-FFF2-40B4-BE49-F238E27FC236}">
                <a16:creationId xmlns:a16="http://schemas.microsoft.com/office/drawing/2014/main" id="{1D106130-6811-9A5B-1774-3391522754A2}"/>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3258244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DDCAE-3E15-6C1A-A9D7-0C8F6677782E}"/>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3B308C76-0CBA-6A12-252E-93B5F08B9EAC}"/>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4" name="Footer Placeholder 3">
            <a:extLst>
              <a:ext uri="{FF2B5EF4-FFF2-40B4-BE49-F238E27FC236}">
                <a16:creationId xmlns:a16="http://schemas.microsoft.com/office/drawing/2014/main" id="{F6E756EE-251F-A716-265F-8215DDFBE8A0}"/>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5" name="Slide Number Placeholder 4">
            <a:extLst>
              <a:ext uri="{FF2B5EF4-FFF2-40B4-BE49-F238E27FC236}">
                <a16:creationId xmlns:a16="http://schemas.microsoft.com/office/drawing/2014/main" id="{F01E1899-10BD-1ED4-0C98-417D828874BD}"/>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3631914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5E66EC-CDE0-B756-F029-84E4A83EB8F6}"/>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3" name="Footer Placeholder 2">
            <a:extLst>
              <a:ext uri="{FF2B5EF4-FFF2-40B4-BE49-F238E27FC236}">
                <a16:creationId xmlns:a16="http://schemas.microsoft.com/office/drawing/2014/main" id="{B7919083-4F9A-3D12-5C27-AFE98418434D}"/>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4" name="Slide Number Placeholder 3">
            <a:extLst>
              <a:ext uri="{FF2B5EF4-FFF2-40B4-BE49-F238E27FC236}">
                <a16:creationId xmlns:a16="http://schemas.microsoft.com/office/drawing/2014/main" id="{12F1CEA4-D4F3-6B51-ACEF-01538DDFF444}"/>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2600516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0D26-B105-B1CF-EB62-6542D649B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3A5E556E-1E79-ACF5-4268-925E5D5481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E7B41A2A-8F2F-FFFF-CD02-2931B210D4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39DE3E-D771-7F30-DBA5-D90283A53EFD}"/>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6" name="Footer Placeholder 5">
            <a:extLst>
              <a:ext uri="{FF2B5EF4-FFF2-40B4-BE49-F238E27FC236}">
                <a16:creationId xmlns:a16="http://schemas.microsoft.com/office/drawing/2014/main" id="{32D3E8DB-F59B-AC2B-6BEA-7D66E4EA3066}"/>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7" name="Slide Number Placeholder 6">
            <a:extLst>
              <a:ext uri="{FF2B5EF4-FFF2-40B4-BE49-F238E27FC236}">
                <a16:creationId xmlns:a16="http://schemas.microsoft.com/office/drawing/2014/main" id="{7C42AF52-0B89-4B65-22F8-46ABA7314500}"/>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215549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9ECB-D728-E18C-4B20-DF2B486C80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E36419EE-F33C-B388-810C-AF3DA9297D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1DC1F767-60B4-BCAD-C8EB-D2F1A1B6DC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731090-9BE8-1240-A894-B4029F6C6C49}"/>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6" name="Footer Placeholder 5">
            <a:extLst>
              <a:ext uri="{FF2B5EF4-FFF2-40B4-BE49-F238E27FC236}">
                <a16:creationId xmlns:a16="http://schemas.microsoft.com/office/drawing/2014/main" id="{95DB40B5-824D-BCE7-BB0A-21D71E1443D9}"/>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7" name="Slide Number Placeholder 6">
            <a:extLst>
              <a:ext uri="{FF2B5EF4-FFF2-40B4-BE49-F238E27FC236}">
                <a16:creationId xmlns:a16="http://schemas.microsoft.com/office/drawing/2014/main" id="{3F0F17C9-466F-AFD6-55D6-16CD5EC86B20}"/>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65510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9E7E3-3517-D3D8-A10E-83591A5E2145}"/>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4839BC28-9F2F-2F24-7304-0ADFEF472F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EFCCCF5-1E8F-BC90-2E0A-F3839E5A8332}"/>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570C21C1-83A0-77A7-80D5-033171F75210}"/>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6CBAB546-B38D-6232-A946-70BC31A95D98}"/>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1120150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724C22-410F-020E-3D78-9F9039625D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0DCE92E-D8C3-5528-F532-E844D7A97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19C184D-6839-839F-D0CA-E349DB9EFC41}"/>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35DA0A6A-FEE0-E6B2-4E30-0E2AD91ED33E}"/>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820D32DD-5014-6136-439D-7338CD18CB5F}"/>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118144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CA46A8-D32B-C314-4969-CADBF57896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90233D1A-9206-E4B3-54F7-EDB1FA2574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x-none" dirty="0"/>
          </a:p>
        </p:txBody>
      </p:sp>
      <p:sp>
        <p:nvSpPr>
          <p:cNvPr id="4" name="Date Placeholder 3">
            <a:extLst>
              <a:ext uri="{FF2B5EF4-FFF2-40B4-BE49-F238E27FC236}">
                <a16:creationId xmlns:a16="http://schemas.microsoft.com/office/drawing/2014/main" id="{0369AD79-2C07-CAB3-1349-4528E9CF5684}"/>
              </a:ext>
            </a:extLst>
          </p:cNvPr>
          <p:cNvSpPr>
            <a:spLocks noGrp="1"/>
          </p:cNvSpPr>
          <p:nvPr>
            <p:ph type="dt" sz="half" idx="2"/>
          </p:nvPr>
        </p:nvSpPr>
        <p:spPr>
          <a:xfrm>
            <a:off x="838200" y="6356350"/>
            <a:ext cx="2414798" cy="365125"/>
          </a:xfrm>
          <a:prstGeom prst="rect">
            <a:avLst/>
          </a:prstGeom>
        </p:spPr>
        <p:txBody>
          <a:bodyPr vert="horz" lIns="91440" tIns="45720" rIns="91440" bIns="45720" rtlCol="0" anchor="ctr"/>
          <a:lstStyle>
            <a:lvl1pPr algn="ctr">
              <a:defRPr lang="en-US" sz="1400" smtClean="0">
                <a:solidFill>
                  <a:schemeClr val="tx1">
                    <a:lumMod val="50000"/>
                    <a:lumOff val="50000"/>
                  </a:schemeClr>
                </a:solidFill>
                <a:latin typeface="Times" pitchFamily="2" charset="0"/>
              </a:defRPr>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5310A9BA-C6CD-A2FA-9152-BABD66748F75}"/>
              </a:ext>
            </a:extLst>
          </p:cNvPr>
          <p:cNvSpPr>
            <a:spLocks noGrp="1"/>
          </p:cNvSpPr>
          <p:nvPr>
            <p:ph type="ftr" sz="quarter" idx="3"/>
          </p:nvPr>
        </p:nvSpPr>
        <p:spPr>
          <a:xfrm>
            <a:off x="3382471" y="6356350"/>
            <a:ext cx="5122258" cy="365125"/>
          </a:xfrm>
          <a:prstGeom prst="rect">
            <a:avLst/>
          </a:prstGeom>
        </p:spPr>
        <p:txBody>
          <a:bodyPr vert="horz" lIns="91440" tIns="45720" rIns="91440" bIns="45720" rtlCol="0" anchor="ctr"/>
          <a:lstStyle>
            <a:lvl1pPr algn="ctr">
              <a:defRPr lang="x-none" sz="1200" kern="1200" dirty="0" smtClean="0">
                <a:solidFill>
                  <a:schemeClr val="tx1">
                    <a:lumMod val="50000"/>
                    <a:lumOff val="50000"/>
                  </a:schemeClr>
                </a:solidFill>
                <a:latin typeface="Times" pitchFamily="2" charset="0"/>
                <a:ea typeface="+mn-ea"/>
                <a:cs typeface="+mn-cs"/>
              </a:defRPr>
            </a:lvl1p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1A4A50FF-73B4-6529-A7C5-8022CFAAF0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fld id="{1AE92137-7C9E-4C4A-86B0-0BF68CCC1610}" type="slidenum">
              <a:rPr lang="x-none" smtClean="0"/>
              <a:pPr/>
              <a:t>‹#›</a:t>
            </a:fld>
            <a:endParaRPr lang="x-none" dirty="0"/>
          </a:p>
        </p:txBody>
      </p:sp>
      <p:pic>
        <p:nvPicPr>
          <p:cNvPr id="8" name="Picture 7">
            <a:extLst>
              <a:ext uri="{FF2B5EF4-FFF2-40B4-BE49-F238E27FC236}">
                <a16:creationId xmlns:a16="http://schemas.microsoft.com/office/drawing/2014/main" id="{277329DB-DC59-1AA0-5067-0E8438EEC880}"/>
              </a:ext>
            </a:extLst>
          </p:cNvPr>
          <p:cNvPicPr>
            <a:picLocks noChangeAspect="1"/>
          </p:cNvPicPr>
          <p:nvPr userDrawn="1"/>
        </p:nvPicPr>
        <p:blipFill>
          <a:blip r:embed="rId13"/>
          <a:stretch>
            <a:fillRect/>
          </a:stretch>
        </p:blipFill>
        <p:spPr>
          <a:xfrm>
            <a:off x="9688635" y="129739"/>
            <a:ext cx="2341524" cy="904899"/>
          </a:xfrm>
          <a:prstGeom prst="rect">
            <a:avLst/>
          </a:prstGeom>
        </p:spPr>
      </p:pic>
      <p:cxnSp>
        <p:nvCxnSpPr>
          <p:cNvPr id="10" name="Straight Connector 9">
            <a:extLst>
              <a:ext uri="{FF2B5EF4-FFF2-40B4-BE49-F238E27FC236}">
                <a16:creationId xmlns:a16="http://schemas.microsoft.com/office/drawing/2014/main" id="{292B8688-62B8-3276-3D45-48FDEB4F96D4}"/>
              </a:ext>
            </a:extLst>
          </p:cNvPr>
          <p:cNvCxnSpPr>
            <a:cxnSpLocks/>
          </p:cNvCxnSpPr>
          <p:nvPr userDrawn="1"/>
        </p:nvCxnSpPr>
        <p:spPr>
          <a:xfrm>
            <a:off x="186117" y="6263235"/>
            <a:ext cx="11725359"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8228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2.wdp"/><Relationship Id="rId5" Type="http://schemas.microsoft.com/office/2007/relationships/hdphoto" Target="../media/hdphoto1.wdp"/><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1.xml"/><Relationship Id="rId5" Type="http://schemas.openxmlformats.org/officeDocument/2006/relationships/image" Target="../media/image21.png"/><Relationship Id="rId4" Type="http://schemas.openxmlformats.org/officeDocument/2006/relationships/oleObject" Target="../embeddings/oleObject1.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7F0D-78A3-5ACD-F537-E53DD35D8921}"/>
              </a:ext>
            </a:extLst>
          </p:cNvPr>
          <p:cNvSpPr>
            <a:spLocks noGrp="1"/>
          </p:cNvSpPr>
          <p:nvPr>
            <p:ph type="ctrTitle"/>
          </p:nvPr>
        </p:nvSpPr>
        <p:spPr>
          <a:xfrm>
            <a:off x="1524000" y="1122363"/>
            <a:ext cx="9144000" cy="1922394"/>
          </a:xfrm>
        </p:spPr>
        <p:txBody>
          <a:bodyPr>
            <a:normAutofit/>
          </a:bodyPr>
          <a:lstStyle/>
          <a:p>
            <a:r>
              <a:rPr lang="en-US" sz="3200" b="1" dirty="0">
                <a:latin typeface="Times" pitchFamily="2" charset="0"/>
              </a:rPr>
              <a:t>Collateral Damage: Effects of the Japanese  Bank Crisis on Real Activity in the United States </a:t>
            </a:r>
            <a:endParaRPr lang="x-none" sz="3200" b="1" dirty="0">
              <a:latin typeface="Times" pitchFamily="2" charset="0"/>
            </a:endParaRPr>
          </a:p>
        </p:txBody>
      </p:sp>
      <p:sp>
        <p:nvSpPr>
          <p:cNvPr id="3" name="Subtitle 2">
            <a:extLst>
              <a:ext uri="{FF2B5EF4-FFF2-40B4-BE49-F238E27FC236}">
                <a16:creationId xmlns:a16="http://schemas.microsoft.com/office/drawing/2014/main" id="{3C5897B5-DCAB-86E9-59CF-9E2AA3F1D90A}"/>
              </a:ext>
            </a:extLst>
          </p:cNvPr>
          <p:cNvSpPr>
            <a:spLocks noGrp="1"/>
          </p:cNvSpPr>
          <p:nvPr>
            <p:ph type="subTitle" idx="1"/>
          </p:nvPr>
        </p:nvSpPr>
        <p:spPr>
          <a:xfrm>
            <a:off x="1524000" y="3179763"/>
            <a:ext cx="9144000" cy="516748"/>
          </a:xfrm>
        </p:spPr>
        <p:txBody>
          <a:bodyPr/>
          <a:lstStyle/>
          <a:p>
            <a:r>
              <a:rPr lang="en-US" dirty="0"/>
              <a:t>By JOE PEEK AND ERIC S. ROSENGREN</a:t>
            </a:r>
            <a:endParaRPr lang="x-none" dirty="0"/>
          </a:p>
        </p:txBody>
      </p:sp>
      <p:sp>
        <p:nvSpPr>
          <p:cNvPr id="8" name="Subtitle 2">
            <a:extLst>
              <a:ext uri="{FF2B5EF4-FFF2-40B4-BE49-F238E27FC236}">
                <a16:creationId xmlns:a16="http://schemas.microsoft.com/office/drawing/2014/main" id="{6DECC691-B3A1-4B17-3644-F6DE226C5DE3}"/>
              </a:ext>
            </a:extLst>
          </p:cNvPr>
          <p:cNvSpPr txBox="1">
            <a:spLocks/>
          </p:cNvSpPr>
          <p:nvPr/>
        </p:nvSpPr>
        <p:spPr>
          <a:xfrm>
            <a:off x="1524000" y="4095346"/>
            <a:ext cx="9144000" cy="164029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600" dirty="0">
                <a:solidFill>
                  <a:srgbClr val="0F5093"/>
                </a:solidFill>
              </a:rPr>
              <a:t>Presented by</a:t>
            </a:r>
          </a:p>
          <a:p>
            <a:r>
              <a:rPr lang="en-US" sz="2600" dirty="0">
                <a:solidFill>
                  <a:srgbClr val="0F5093"/>
                </a:solidFill>
              </a:rPr>
              <a:t>Mohamed </a:t>
            </a:r>
            <a:r>
              <a:rPr lang="en-US" sz="2600" dirty="0" err="1">
                <a:solidFill>
                  <a:srgbClr val="0F5093"/>
                </a:solidFill>
              </a:rPr>
              <a:t>Elshiekh</a:t>
            </a:r>
            <a:r>
              <a:rPr lang="en-US" sz="2600" dirty="0">
                <a:solidFill>
                  <a:srgbClr val="0F5093"/>
                </a:solidFill>
              </a:rPr>
              <a:t> and </a:t>
            </a:r>
            <a:r>
              <a:rPr lang="en-US" sz="2600" dirty="0" err="1">
                <a:solidFill>
                  <a:srgbClr val="0F5093"/>
                </a:solidFill>
              </a:rPr>
              <a:t>Nargiz</a:t>
            </a:r>
            <a:r>
              <a:rPr lang="en-US" sz="2600" dirty="0">
                <a:solidFill>
                  <a:srgbClr val="0F5093"/>
                </a:solidFill>
              </a:rPr>
              <a:t> </a:t>
            </a:r>
            <a:r>
              <a:rPr lang="en-US" sz="2600" dirty="0" err="1">
                <a:solidFill>
                  <a:srgbClr val="0F5093"/>
                </a:solidFill>
              </a:rPr>
              <a:t>Ahmadova</a:t>
            </a:r>
            <a:endParaRPr lang="en-US" sz="2600" dirty="0">
              <a:solidFill>
                <a:srgbClr val="0F5093"/>
              </a:solidFill>
            </a:endParaRPr>
          </a:p>
          <a:p>
            <a:r>
              <a:rPr lang="en-US" sz="2600" dirty="0">
                <a:solidFill>
                  <a:srgbClr val="0F5093"/>
                </a:solidFill>
              </a:rPr>
              <a:t>Empirical Banking and Finance</a:t>
            </a:r>
          </a:p>
          <a:p>
            <a:r>
              <a:rPr lang="en-US" sz="2600" dirty="0">
                <a:solidFill>
                  <a:srgbClr val="0F5093"/>
                </a:solidFill>
              </a:rPr>
              <a:t>June 21</a:t>
            </a:r>
            <a:r>
              <a:rPr lang="en-US" sz="2600" baseline="30000" dirty="0">
                <a:solidFill>
                  <a:srgbClr val="0F5093"/>
                </a:solidFill>
              </a:rPr>
              <a:t>st</a:t>
            </a:r>
            <a:r>
              <a:rPr lang="en-US" sz="2600" dirty="0">
                <a:solidFill>
                  <a:srgbClr val="0F5093"/>
                </a:solidFill>
              </a:rPr>
              <a:t>  , 2022</a:t>
            </a:r>
            <a:endParaRPr lang="x-none" sz="2600" dirty="0">
              <a:solidFill>
                <a:srgbClr val="0F5093"/>
              </a:solidFill>
            </a:endParaRPr>
          </a:p>
        </p:txBody>
      </p:sp>
      <p:pic>
        <p:nvPicPr>
          <p:cNvPr id="1025" name="Picture 1" descr="page1image49140992">
            <a:extLst>
              <a:ext uri="{FF2B5EF4-FFF2-40B4-BE49-F238E27FC236}">
                <a16:creationId xmlns:a16="http://schemas.microsoft.com/office/drawing/2014/main" id="{415FA1D8-DB74-752B-754E-BBDA08AFA4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5217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524982"/>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838200" y="365125"/>
            <a:ext cx="10515600" cy="993225"/>
          </a:xfrm>
        </p:spPr>
        <p:txBody>
          <a:bodyPr/>
          <a:lstStyle/>
          <a:p>
            <a:r>
              <a:rPr lang="x-none" dirty="0">
                <a:latin typeface="Times" pitchFamily="2" charset="0"/>
              </a:rPr>
              <a:t>Structure</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2</a:t>
            </a:fld>
            <a:endParaRPr lang="x-none" dirty="0"/>
          </a:p>
        </p:txBody>
      </p:sp>
      <p:sp>
        <p:nvSpPr>
          <p:cNvPr id="14" name="Rectangle 13">
            <a:extLst>
              <a:ext uri="{FF2B5EF4-FFF2-40B4-BE49-F238E27FC236}">
                <a16:creationId xmlns:a16="http://schemas.microsoft.com/office/drawing/2014/main" id="{AAC5588F-5F9B-D65D-5FA6-949F45BE95C3}"/>
              </a:ext>
            </a:extLst>
          </p:cNvPr>
          <p:cNvSpPr/>
          <p:nvPr/>
        </p:nvSpPr>
        <p:spPr>
          <a:xfrm>
            <a:off x="1361873" y="1507788"/>
            <a:ext cx="9883302"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Introduction and Overview</a:t>
            </a:r>
            <a:endParaRPr lang="en-US" sz="2800" dirty="0">
              <a:solidFill>
                <a:schemeClr val="tx1"/>
              </a:solidFill>
              <a:latin typeface="Times" pitchFamily="2" charset="0"/>
            </a:endParaRPr>
          </a:p>
        </p:txBody>
      </p:sp>
      <p:sp>
        <p:nvSpPr>
          <p:cNvPr id="17" name="Rectangle 16">
            <a:extLst>
              <a:ext uri="{FF2B5EF4-FFF2-40B4-BE49-F238E27FC236}">
                <a16:creationId xmlns:a16="http://schemas.microsoft.com/office/drawing/2014/main" id="{1DC30FD7-5FF1-0CD6-BB2B-1220A8EF2BCA}"/>
              </a:ext>
            </a:extLst>
          </p:cNvPr>
          <p:cNvSpPr/>
          <p:nvPr/>
        </p:nvSpPr>
        <p:spPr>
          <a:xfrm>
            <a:off x="1750979" y="2453971"/>
            <a:ext cx="9494196"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4500"/>
            <a:r>
              <a:rPr lang="x-none" sz="2800" dirty="0">
                <a:solidFill>
                  <a:schemeClr val="tx1"/>
                </a:solidFill>
                <a:latin typeface="Times" pitchFamily="2" charset="0"/>
              </a:rPr>
              <a:t>Sample, Data, and Limitation</a:t>
            </a:r>
            <a:endParaRPr lang="en-US" sz="2800" dirty="0">
              <a:solidFill>
                <a:schemeClr val="tx1"/>
              </a:solidFill>
              <a:latin typeface="Times" pitchFamily="2" charset="0"/>
            </a:endParaRPr>
          </a:p>
        </p:txBody>
      </p:sp>
      <p:sp>
        <p:nvSpPr>
          <p:cNvPr id="19" name="Rectangle 18">
            <a:extLst>
              <a:ext uri="{FF2B5EF4-FFF2-40B4-BE49-F238E27FC236}">
                <a16:creationId xmlns:a16="http://schemas.microsoft.com/office/drawing/2014/main" id="{195B547B-7200-A753-DD5B-1DEB7F1C9001}"/>
              </a:ext>
            </a:extLst>
          </p:cNvPr>
          <p:cNvSpPr/>
          <p:nvPr/>
        </p:nvSpPr>
        <p:spPr>
          <a:xfrm>
            <a:off x="2140085" y="3409880"/>
            <a:ext cx="9105090"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Transmission: Methodology and Results</a:t>
            </a:r>
            <a:endParaRPr lang="x-none" sz="2800" dirty="0"/>
          </a:p>
        </p:txBody>
      </p:sp>
      <p:sp>
        <p:nvSpPr>
          <p:cNvPr id="21" name="Rectangle 20">
            <a:extLst>
              <a:ext uri="{FF2B5EF4-FFF2-40B4-BE49-F238E27FC236}">
                <a16:creationId xmlns:a16="http://schemas.microsoft.com/office/drawing/2014/main" id="{D76F4944-442A-EB3A-98F5-FF54DE0D25CD}"/>
              </a:ext>
            </a:extLst>
          </p:cNvPr>
          <p:cNvSpPr/>
          <p:nvPr/>
        </p:nvSpPr>
        <p:spPr>
          <a:xfrm>
            <a:off x="2529191" y="4375515"/>
            <a:ext cx="8715984"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Real Effects: Methodology and Results</a:t>
            </a:r>
            <a:endParaRPr lang="x-none" sz="2800" dirty="0"/>
          </a:p>
        </p:txBody>
      </p:sp>
      <p:sp>
        <p:nvSpPr>
          <p:cNvPr id="23" name="Rectangle 22">
            <a:extLst>
              <a:ext uri="{FF2B5EF4-FFF2-40B4-BE49-F238E27FC236}">
                <a16:creationId xmlns:a16="http://schemas.microsoft.com/office/drawing/2014/main" id="{6858A3C6-4F49-AEC5-B95E-1D4F6E4DB932}"/>
              </a:ext>
            </a:extLst>
          </p:cNvPr>
          <p:cNvSpPr/>
          <p:nvPr/>
        </p:nvSpPr>
        <p:spPr>
          <a:xfrm>
            <a:off x="2908570" y="5312893"/>
            <a:ext cx="8336605"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a:r>
              <a:rPr lang="x-none" sz="2800" dirty="0">
                <a:solidFill>
                  <a:schemeClr val="tx1"/>
                </a:solidFill>
                <a:latin typeface="Times" pitchFamily="2" charset="0"/>
              </a:rPr>
              <a:t>Conclusion</a:t>
            </a:r>
          </a:p>
        </p:txBody>
      </p:sp>
      <p:sp>
        <p:nvSpPr>
          <p:cNvPr id="25" name="Rectangle 24">
            <a:extLst>
              <a:ext uri="{FF2B5EF4-FFF2-40B4-BE49-F238E27FC236}">
                <a16:creationId xmlns:a16="http://schemas.microsoft.com/office/drawing/2014/main" id="{30C79B97-7D6C-23D8-602B-1AAA0934A4B5}"/>
              </a:ext>
            </a:extLst>
          </p:cNvPr>
          <p:cNvSpPr/>
          <p:nvPr/>
        </p:nvSpPr>
        <p:spPr>
          <a:xfrm>
            <a:off x="1361873" y="1506865"/>
            <a:ext cx="9883302" cy="778213"/>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bg1"/>
                </a:solidFill>
                <a:latin typeface="Times" pitchFamily="2" charset="0"/>
              </a:rPr>
              <a:t>Introduction and Overview</a:t>
            </a:r>
            <a:endParaRPr lang="en-US" sz="2800" dirty="0">
              <a:solidFill>
                <a:schemeClr val="bg1"/>
              </a:solidFill>
              <a:latin typeface="Times" pitchFamily="2" charset="0"/>
            </a:endParaRPr>
          </a:p>
        </p:txBody>
      </p:sp>
      <p:sp>
        <p:nvSpPr>
          <p:cNvPr id="13" name="Oval 12">
            <a:extLst>
              <a:ext uri="{FF2B5EF4-FFF2-40B4-BE49-F238E27FC236}">
                <a16:creationId xmlns:a16="http://schemas.microsoft.com/office/drawing/2014/main" id="{C3711E62-76FC-9067-B3AA-F3ADE8F3C6E3}"/>
              </a:ext>
            </a:extLst>
          </p:cNvPr>
          <p:cNvSpPr/>
          <p:nvPr/>
        </p:nvSpPr>
        <p:spPr>
          <a:xfrm>
            <a:off x="982494" y="1517515"/>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18" name="Oval 17">
            <a:extLst>
              <a:ext uri="{FF2B5EF4-FFF2-40B4-BE49-F238E27FC236}">
                <a16:creationId xmlns:a16="http://schemas.microsoft.com/office/drawing/2014/main" id="{F3F7DFAA-95BC-D826-F520-E36FF12541A6}"/>
              </a:ext>
            </a:extLst>
          </p:cNvPr>
          <p:cNvSpPr/>
          <p:nvPr/>
        </p:nvSpPr>
        <p:spPr>
          <a:xfrm>
            <a:off x="1371600" y="246369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20" name="Oval 19">
            <a:extLst>
              <a:ext uri="{FF2B5EF4-FFF2-40B4-BE49-F238E27FC236}">
                <a16:creationId xmlns:a16="http://schemas.microsoft.com/office/drawing/2014/main" id="{CABB0FD8-FA2A-9187-2269-7E6158061805}"/>
              </a:ext>
            </a:extLst>
          </p:cNvPr>
          <p:cNvSpPr/>
          <p:nvPr/>
        </p:nvSpPr>
        <p:spPr>
          <a:xfrm>
            <a:off x="1760706" y="3419607"/>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3</a:t>
            </a:r>
          </a:p>
        </p:txBody>
      </p:sp>
      <p:sp>
        <p:nvSpPr>
          <p:cNvPr id="22" name="Oval 21">
            <a:extLst>
              <a:ext uri="{FF2B5EF4-FFF2-40B4-BE49-F238E27FC236}">
                <a16:creationId xmlns:a16="http://schemas.microsoft.com/office/drawing/2014/main" id="{C38B0F32-5D73-1CCF-7CE2-0AC692AFCFDA}"/>
              </a:ext>
            </a:extLst>
          </p:cNvPr>
          <p:cNvSpPr/>
          <p:nvPr/>
        </p:nvSpPr>
        <p:spPr>
          <a:xfrm>
            <a:off x="2149812" y="4385242"/>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4</a:t>
            </a:r>
          </a:p>
        </p:txBody>
      </p:sp>
      <p:sp>
        <p:nvSpPr>
          <p:cNvPr id="24" name="Oval 23">
            <a:extLst>
              <a:ext uri="{FF2B5EF4-FFF2-40B4-BE49-F238E27FC236}">
                <a16:creationId xmlns:a16="http://schemas.microsoft.com/office/drawing/2014/main" id="{91FAE129-E0AF-63A9-A729-4F9A5BED7718}"/>
              </a:ext>
            </a:extLst>
          </p:cNvPr>
          <p:cNvSpPr/>
          <p:nvPr/>
        </p:nvSpPr>
        <p:spPr>
          <a:xfrm>
            <a:off x="2529191" y="5322620"/>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5</a:t>
            </a:r>
          </a:p>
        </p:txBody>
      </p:sp>
    </p:spTree>
    <p:extLst>
      <p:ext uri="{BB962C8B-B14F-4D97-AF65-F5344CB8AC3E}">
        <p14:creationId xmlns:p14="http://schemas.microsoft.com/office/powerpoint/2010/main" val="134489200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1000"/>
                                        <p:tgtEl>
                                          <p:spTgt spid="13"/>
                                        </p:tgtEl>
                                        <p:attrNameLst>
                                          <p:attrName>ppt_y</p:attrName>
                                        </p:attrNameLst>
                                      </p:cBhvr>
                                      <p:tavLst>
                                        <p:tav tm="0">
                                          <p:val>
                                            <p:strVal val="#ppt_y+#ppt_h*1.125000"/>
                                          </p:val>
                                        </p:tav>
                                        <p:tav tm="100000">
                                          <p:val>
                                            <p:strVal val="#ppt_y"/>
                                          </p:val>
                                        </p:tav>
                                      </p:tavLst>
                                    </p:anim>
                                    <p:animEffect transition="in" filter="wipe(up)">
                                      <p:cBhvr>
                                        <p:cTn id="8" dur="1000"/>
                                        <p:tgtEl>
                                          <p:spTgt spid="13"/>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p:tgtEl>
                                          <p:spTgt spid="14"/>
                                        </p:tgtEl>
                                        <p:attrNameLst>
                                          <p:attrName>ppt_y</p:attrName>
                                        </p:attrNameLst>
                                      </p:cBhvr>
                                      <p:tavLst>
                                        <p:tav tm="0">
                                          <p:val>
                                            <p:strVal val="#ppt_y+#ppt_h*1.125000"/>
                                          </p:val>
                                        </p:tav>
                                        <p:tav tm="100000">
                                          <p:val>
                                            <p:strVal val="#ppt_y"/>
                                          </p:val>
                                        </p:tav>
                                      </p:tavLst>
                                    </p:anim>
                                    <p:animEffect transition="in" filter="wipe(up)">
                                      <p:cBhvr>
                                        <p:cTn id="12" dur="1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1000"/>
                                        <p:tgtEl>
                                          <p:spTgt spid="18"/>
                                        </p:tgtEl>
                                        <p:attrNameLst>
                                          <p:attrName>ppt_y</p:attrName>
                                        </p:attrNameLst>
                                      </p:cBhvr>
                                      <p:tavLst>
                                        <p:tav tm="0">
                                          <p:val>
                                            <p:strVal val="#ppt_y+#ppt_h*1.125000"/>
                                          </p:val>
                                        </p:tav>
                                        <p:tav tm="100000">
                                          <p:val>
                                            <p:strVal val="#ppt_y"/>
                                          </p:val>
                                        </p:tav>
                                      </p:tavLst>
                                    </p:anim>
                                    <p:animEffect transition="in" filter="wipe(up)">
                                      <p:cBhvr>
                                        <p:cTn id="18" dur="1000"/>
                                        <p:tgtEl>
                                          <p:spTgt spid="18"/>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1000"/>
                                        <p:tgtEl>
                                          <p:spTgt spid="17"/>
                                        </p:tgtEl>
                                        <p:attrNameLst>
                                          <p:attrName>ppt_y</p:attrName>
                                        </p:attrNameLst>
                                      </p:cBhvr>
                                      <p:tavLst>
                                        <p:tav tm="0">
                                          <p:val>
                                            <p:strVal val="#ppt_y+#ppt_h*1.125000"/>
                                          </p:val>
                                        </p:tav>
                                        <p:tav tm="100000">
                                          <p:val>
                                            <p:strVal val="#ppt_y"/>
                                          </p:val>
                                        </p:tav>
                                      </p:tavLst>
                                    </p:anim>
                                    <p:animEffect transition="in" filter="wipe(up)">
                                      <p:cBhvr>
                                        <p:cTn id="22" dur="10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1000"/>
                                        <p:tgtEl>
                                          <p:spTgt spid="20"/>
                                        </p:tgtEl>
                                        <p:attrNameLst>
                                          <p:attrName>ppt_y</p:attrName>
                                        </p:attrNameLst>
                                      </p:cBhvr>
                                      <p:tavLst>
                                        <p:tav tm="0">
                                          <p:val>
                                            <p:strVal val="#ppt_y+#ppt_h*1.125000"/>
                                          </p:val>
                                        </p:tav>
                                        <p:tav tm="100000">
                                          <p:val>
                                            <p:strVal val="#ppt_y"/>
                                          </p:val>
                                        </p:tav>
                                      </p:tavLst>
                                    </p:anim>
                                    <p:animEffect transition="in" filter="wipe(up)">
                                      <p:cBhvr>
                                        <p:cTn id="28" dur="1000"/>
                                        <p:tgtEl>
                                          <p:spTgt spid="20"/>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1000"/>
                                        <p:tgtEl>
                                          <p:spTgt spid="19"/>
                                        </p:tgtEl>
                                        <p:attrNameLst>
                                          <p:attrName>ppt_y</p:attrName>
                                        </p:attrNameLst>
                                      </p:cBhvr>
                                      <p:tavLst>
                                        <p:tav tm="0">
                                          <p:val>
                                            <p:strVal val="#ppt_y+#ppt_h*1.125000"/>
                                          </p:val>
                                        </p:tav>
                                        <p:tav tm="100000">
                                          <p:val>
                                            <p:strVal val="#ppt_y"/>
                                          </p:val>
                                        </p:tav>
                                      </p:tavLst>
                                    </p:anim>
                                    <p:animEffect transition="in" filter="wipe(up)">
                                      <p:cBhvr>
                                        <p:cTn id="32" dur="10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1000"/>
                                        <p:tgtEl>
                                          <p:spTgt spid="22"/>
                                        </p:tgtEl>
                                        <p:attrNameLst>
                                          <p:attrName>ppt_y</p:attrName>
                                        </p:attrNameLst>
                                      </p:cBhvr>
                                      <p:tavLst>
                                        <p:tav tm="0">
                                          <p:val>
                                            <p:strVal val="#ppt_y+#ppt_h*1.125000"/>
                                          </p:val>
                                        </p:tav>
                                        <p:tav tm="100000">
                                          <p:val>
                                            <p:strVal val="#ppt_y"/>
                                          </p:val>
                                        </p:tav>
                                      </p:tavLst>
                                    </p:anim>
                                    <p:animEffect transition="in" filter="wipe(up)">
                                      <p:cBhvr>
                                        <p:cTn id="38" dur="1000"/>
                                        <p:tgtEl>
                                          <p:spTgt spid="22"/>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1000"/>
                                        <p:tgtEl>
                                          <p:spTgt spid="21"/>
                                        </p:tgtEl>
                                        <p:attrNameLst>
                                          <p:attrName>ppt_y</p:attrName>
                                        </p:attrNameLst>
                                      </p:cBhvr>
                                      <p:tavLst>
                                        <p:tav tm="0">
                                          <p:val>
                                            <p:strVal val="#ppt_y+#ppt_h*1.125000"/>
                                          </p:val>
                                        </p:tav>
                                        <p:tav tm="100000">
                                          <p:val>
                                            <p:strVal val="#ppt_y"/>
                                          </p:val>
                                        </p:tav>
                                      </p:tavLst>
                                    </p:anim>
                                    <p:animEffect transition="in" filter="wipe(up)">
                                      <p:cBhvr>
                                        <p:cTn id="42" dur="10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1000"/>
                                        <p:tgtEl>
                                          <p:spTgt spid="24"/>
                                        </p:tgtEl>
                                        <p:attrNameLst>
                                          <p:attrName>ppt_y</p:attrName>
                                        </p:attrNameLst>
                                      </p:cBhvr>
                                      <p:tavLst>
                                        <p:tav tm="0">
                                          <p:val>
                                            <p:strVal val="#ppt_y+#ppt_h*1.125000"/>
                                          </p:val>
                                        </p:tav>
                                        <p:tav tm="100000">
                                          <p:val>
                                            <p:strVal val="#ppt_y"/>
                                          </p:val>
                                        </p:tav>
                                      </p:tavLst>
                                    </p:anim>
                                    <p:animEffect transition="in" filter="wipe(up)">
                                      <p:cBhvr>
                                        <p:cTn id="48" dur="1000"/>
                                        <p:tgtEl>
                                          <p:spTgt spid="24"/>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1000"/>
                                        <p:tgtEl>
                                          <p:spTgt spid="23"/>
                                        </p:tgtEl>
                                        <p:attrNameLst>
                                          <p:attrName>ppt_y</p:attrName>
                                        </p:attrNameLst>
                                      </p:cBhvr>
                                      <p:tavLst>
                                        <p:tav tm="0">
                                          <p:val>
                                            <p:strVal val="#ppt_y+#ppt_h*1.125000"/>
                                          </p:val>
                                        </p:tav>
                                        <p:tav tm="100000">
                                          <p:val>
                                            <p:strVal val="#ppt_y"/>
                                          </p:val>
                                        </p:tav>
                                      </p:tavLst>
                                    </p:anim>
                                    <p:animEffect transition="in" filter="wipe(up)">
                                      <p:cBhvr>
                                        <p:cTn id="52" dur="10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additive="base">
                                        <p:cTn id="57" dur="1000"/>
                                        <p:tgtEl>
                                          <p:spTgt spid="25"/>
                                        </p:tgtEl>
                                        <p:attrNameLst>
                                          <p:attrName>ppt_y</p:attrName>
                                        </p:attrNameLst>
                                      </p:cBhvr>
                                      <p:tavLst>
                                        <p:tav tm="0">
                                          <p:val>
                                            <p:strVal val="#ppt_y+#ppt_h*1.125000"/>
                                          </p:val>
                                        </p:tav>
                                        <p:tav tm="100000">
                                          <p:val>
                                            <p:strVal val="#ppt_y"/>
                                          </p:val>
                                        </p:tav>
                                      </p:tavLst>
                                    </p:anim>
                                    <p:animEffect transition="in" filter="wipe(up)">
                                      <p:cBhvr>
                                        <p:cTn id="58"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9" grpId="0" animBg="1"/>
      <p:bldP spid="21" grpId="0" animBg="1"/>
      <p:bldP spid="23" grpId="0" animBg="1"/>
      <p:bldP spid="25" grpId="0" animBg="1"/>
      <p:bldP spid="13" grpId="0" animBg="1"/>
      <p:bldP spid="18" grpId="0" animBg="1"/>
      <p:bldP spid="20" grpId="0" animBg="1"/>
      <p:bldP spid="22"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3</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cxnSp>
        <p:nvCxnSpPr>
          <p:cNvPr id="14" name="Straight Arrow Connector 13"/>
          <p:cNvCxnSpPr/>
          <p:nvPr/>
        </p:nvCxnSpPr>
        <p:spPr>
          <a:xfrm>
            <a:off x="6419204" y="2436628"/>
            <a:ext cx="1443045"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467670" y="2837498"/>
            <a:ext cx="12157710" cy="3151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dirty="0">
              <a:solidFill>
                <a:srgbClr val="0070C0"/>
              </a:solidFill>
              <a:latin typeface="Times New Roman" pitchFamily="18" charset="0"/>
              <a:cs typeface="Times New Roman" pitchFamily="18" charset="0"/>
            </a:endParaRPr>
          </a:p>
        </p:txBody>
      </p:sp>
      <p:sp>
        <p:nvSpPr>
          <p:cNvPr id="25" name="Title 1"/>
          <p:cNvSpPr txBox="1">
            <a:spLocks/>
          </p:cNvSpPr>
          <p:nvPr/>
        </p:nvSpPr>
        <p:spPr>
          <a:xfrm>
            <a:off x="732329" y="1134634"/>
            <a:ext cx="12157710" cy="26039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rgbClr val="0070C0"/>
                </a:solidFill>
                <a:latin typeface="Times New Roman" pitchFamily="18" charset="0"/>
                <a:cs typeface="Times New Roman" pitchFamily="18" charset="0"/>
              </a:rPr>
              <a:t>Independent</a:t>
            </a:r>
            <a:r>
              <a:rPr lang="en-US" sz="3000" dirty="0">
                <a:latin typeface="Times New Roman" pitchFamily="18" charset="0"/>
                <a:cs typeface="Times New Roman" pitchFamily="18" charset="0"/>
              </a:rPr>
              <a:t> loan supply disruption                      Real </a:t>
            </a:r>
            <a:r>
              <a:rPr lang="en-US" sz="3000" dirty="0">
                <a:solidFill>
                  <a:srgbClr val="0070C0"/>
                </a:solidFill>
                <a:latin typeface="Times New Roman" pitchFamily="18" charset="0"/>
                <a:cs typeface="Times New Roman" pitchFamily="18" charset="0"/>
              </a:rPr>
              <a:t>economic activity</a:t>
            </a:r>
          </a:p>
        </p:txBody>
      </p:sp>
    </p:spTree>
    <p:extLst>
      <p:ext uri="{BB962C8B-B14F-4D97-AF65-F5344CB8AC3E}">
        <p14:creationId xmlns:p14="http://schemas.microsoft.com/office/powerpoint/2010/main" val="81373191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4</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
        <p:nvSpPr>
          <p:cNvPr id="17" name="Title 1"/>
          <p:cNvSpPr txBox="1">
            <a:spLocks/>
          </p:cNvSpPr>
          <p:nvPr/>
        </p:nvSpPr>
        <p:spPr>
          <a:xfrm>
            <a:off x="467670" y="2837498"/>
            <a:ext cx="12157710" cy="3151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dirty="0">
              <a:solidFill>
                <a:srgbClr val="0070C0"/>
              </a:solidFill>
              <a:latin typeface="Times New Roman" pitchFamily="18" charset="0"/>
              <a:cs typeface="Times New Roman" pitchFamily="18" charset="0"/>
            </a:endParaRPr>
          </a:p>
        </p:txBody>
      </p:sp>
      <p:sp>
        <p:nvSpPr>
          <p:cNvPr id="23" name="TextBox 22"/>
          <p:cNvSpPr txBox="1"/>
          <p:nvPr/>
        </p:nvSpPr>
        <p:spPr>
          <a:xfrm>
            <a:off x="732328" y="2685098"/>
            <a:ext cx="11587357" cy="1246495"/>
          </a:xfrm>
          <a:prstGeom prst="rect">
            <a:avLst/>
          </a:prstGeom>
          <a:noFill/>
        </p:spPr>
        <p:txBody>
          <a:bodyPr wrap="square" rtlCol="0">
            <a:spAutoFit/>
          </a:bodyPr>
          <a:lstStyle/>
          <a:p>
            <a:pPr marL="342900" indent="-342900">
              <a:buFont typeface="Wingdings" pitchFamily="2" charset="2"/>
              <a:buChar char="§"/>
            </a:pPr>
            <a:r>
              <a:rPr lang="en-US" sz="2500" dirty="0">
                <a:latin typeface="Times New Roman" pitchFamily="18" charset="0"/>
                <a:cs typeface="Times New Roman" pitchFamily="18" charset="0"/>
              </a:rPr>
              <a:t>No adequate </a:t>
            </a:r>
            <a:r>
              <a:rPr lang="en-US" sz="2500" b="1" dirty="0">
                <a:solidFill>
                  <a:srgbClr val="0070C0"/>
                </a:solidFill>
                <a:latin typeface="Times New Roman" pitchFamily="18" charset="0"/>
                <a:cs typeface="Times New Roman" pitchFamily="18" charset="0"/>
              </a:rPr>
              <a:t>separation</a:t>
            </a:r>
            <a:r>
              <a:rPr lang="en-US" sz="2500" dirty="0">
                <a:solidFill>
                  <a:srgbClr val="0070C0"/>
                </a:solidFill>
                <a:latin typeface="Times New Roman" pitchFamily="18" charset="0"/>
                <a:cs typeface="Times New Roman" pitchFamily="18" charset="0"/>
              </a:rPr>
              <a:t> </a:t>
            </a:r>
            <a:r>
              <a:rPr lang="en-US" sz="2500" dirty="0">
                <a:latin typeface="Times New Roman" pitchFamily="18" charset="0"/>
                <a:cs typeface="Times New Roman" pitchFamily="18" charset="0"/>
              </a:rPr>
              <a:t>between loan supply and loan demand</a:t>
            </a:r>
          </a:p>
          <a:p>
            <a:endParaRPr lang="en-US" sz="2500" dirty="0">
              <a:latin typeface="Times New Roman" pitchFamily="18" charset="0"/>
              <a:cs typeface="Times New Roman" pitchFamily="18" charset="0"/>
            </a:endParaRPr>
          </a:p>
          <a:p>
            <a:pPr marL="342900" indent="-342900">
              <a:buFont typeface="Wingdings" pitchFamily="2" charset="2"/>
              <a:buChar char="§"/>
            </a:pPr>
            <a:r>
              <a:rPr lang="en-US" sz="2500" dirty="0">
                <a:latin typeface="Times New Roman" pitchFamily="18" charset="0"/>
                <a:cs typeface="Times New Roman" pitchFamily="18" charset="0"/>
              </a:rPr>
              <a:t>No persuasive establishment of </a:t>
            </a:r>
            <a:r>
              <a:rPr lang="en-US" sz="2500" b="1" dirty="0">
                <a:solidFill>
                  <a:srgbClr val="0070C0"/>
                </a:solidFill>
                <a:latin typeface="Times New Roman" pitchFamily="18" charset="0"/>
                <a:cs typeface="Times New Roman" pitchFamily="18" charset="0"/>
              </a:rPr>
              <a:t>the link </a:t>
            </a:r>
            <a:r>
              <a:rPr lang="en-US" sz="2500" dirty="0">
                <a:latin typeface="Times New Roman" pitchFamily="18" charset="0"/>
                <a:cs typeface="Times New Roman" pitchFamily="18" charset="0"/>
              </a:rPr>
              <a:t>between bank lending and economic activity</a:t>
            </a:r>
          </a:p>
        </p:txBody>
      </p:sp>
      <p:sp>
        <p:nvSpPr>
          <p:cNvPr id="25" name="Title 1"/>
          <p:cNvSpPr txBox="1">
            <a:spLocks/>
          </p:cNvSpPr>
          <p:nvPr/>
        </p:nvSpPr>
        <p:spPr>
          <a:xfrm>
            <a:off x="732329" y="1134634"/>
            <a:ext cx="121577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solidFill>
                  <a:srgbClr val="0070C0"/>
                </a:solidFill>
                <a:latin typeface="Times New Roman" pitchFamily="18" charset="0"/>
                <a:cs typeface="Times New Roman" pitchFamily="18" charset="0"/>
              </a:rPr>
              <a:t>Gaps </a:t>
            </a:r>
            <a:r>
              <a:rPr lang="en-US" sz="3000" dirty="0">
                <a:latin typeface="Times New Roman" pitchFamily="18" charset="0"/>
                <a:cs typeface="Times New Roman" pitchFamily="18" charset="0"/>
              </a:rPr>
              <a:t>in the literature:</a:t>
            </a:r>
            <a:endParaRPr lang="en-US" sz="30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18012182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5</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
        <p:nvSpPr>
          <p:cNvPr id="17" name="Title 1"/>
          <p:cNvSpPr txBox="1">
            <a:spLocks/>
          </p:cNvSpPr>
          <p:nvPr/>
        </p:nvSpPr>
        <p:spPr>
          <a:xfrm>
            <a:off x="467670" y="2837498"/>
            <a:ext cx="12157710" cy="3151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dirty="0">
              <a:solidFill>
                <a:srgbClr val="0070C0"/>
              </a:solidFill>
              <a:latin typeface="Times New Roman" pitchFamily="18" charset="0"/>
              <a:cs typeface="Times New Roman" pitchFamily="18" charset="0"/>
            </a:endParaRPr>
          </a:p>
        </p:txBody>
      </p:sp>
      <p:sp>
        <p:nvSpPr>
          <p:cNvPr id="23" name="TextBox 22"/>
          <p:cNvSpPr txBox="1"/>
          <p:nvPr/>
        </p:nvSpPr>
        <p:spPr>
          <a:xfrm>
            <a:off x="732329" y="1770890"/>
            <a:ext cx="11080730" cy="553998"/>
          </a:xfrm>
          <a:prstGeom prst="rect">
            <a:avLst/>
          </a:prstGeom>
          <a:noFill/>
        </p:spPr>
        <p:txBody>
          <a:bodyPr wrap="square" rtlCol="0">
            <a:spAutoFit/>
          </a:bodyPr>
          <a:lstStyle/>
          <a:p>
            <a:r>
              <a:rPr lang="en-US" sz="3000" b="1" dirty="0">
                <a:solidFill>
                  <a:schemeClr val="accent1"/>
                </a:solidFill>
                <a:latin typeface="Times New Roman" pitchFamily="18" charset="0"/>
                <a:cs typeface="Times New Roman" pitchFamily="18" charset="0"/>
              </a:rPr>
              <a:t>Economic activity=</a:t>
            </a:r>
            <a:r>
              <a:rPr lang="el-GR" sz="3000" dirty="0">
                <a:latin typeface="Times New Roman" pitchFamily="18" charset="0"/>
                <a:cs typeface="Times New Roman" pitchFamily="18" charset="0"/>
              </a:rPr>
              <a:t>β</a:t>
            </a:r>
            <a:r>
              <a:rPr lang="en-US" sz="3000" dirty="0">
                <a:latin typeface="Times New Roman" pitchFamily="18" charset="0"/>
                <a:cs typeface="Times New Roman" pitchFamily="18" charset="0"/>
              </a:rPr>
              <a:t>0+</a:t>
            </a:r>
            <a:r>
              <a:rPr lang="el-GR" sz="3000" dirty="0">
                <a:latin typeface="Times New Roman" pitchFamily="18" charset="0"/>
                <a:cs typeface="Times New Roman" pitchFamily="18" charset="0"/>
              </a:rPr>
              <a:t> β</a:t>
            </a:r>
            <a:r>
              <a:rPr lang="en-US" sz="3000" dirty="0">
                <a:latin typeface="Times New Roman" pitchFamily="18" charset="0"/>
                <a:cs typeface="Times New Roman" pitchFamily="18" charset="0"/>
              </a:rPr>
              <a:t>1</a:t>
            </a:r>
            <a:r>
              <a:rPr lang="en-US" sz="3000" b="1" dirty="0">
                <a:solidFill>
                  <a:schemeClr val="accent1"/>
                </a:solidFill>
                <a:latin typeface="Times New Roman" pitchFamily="18" charset="0"/>
                <a:cs typeface="Times New Roman" pitchFamily="18" charset="0"/>
              </a:rPr>
              <a:t>LoanSupplyShock</a:t>
            </a:r>
            <a:r>
              <a:rPr lang="en-US" sz="3000" dirty="0">
                <a:latin typeface="Times New Roman" pitchFamily="18" charset="0"/>
                <a:cs typeface="Times New Roman" pitchFamily="18" charset="0"/>
              </a:rPr>
              <a:t>+</a:t>
            </a:r>
            <a:r>
              <a:rPr lang="el-GR" sz="3000" dirty="0">
                <a:latin typeface="Times New Roman" pitchFamily="18" charset="0"/>
                <a:cs typeface="Times New Roman" pitchFamily="18" charset="0"/>
              </a:rPr>
              <a:t> β</a:t>
            </a:r>
            <a:r>
              <a:rPr lang="en-US" sz="3000" dirty="0">
                <a:latin typeface="Times New Roman" pitchFamily="18" charset="0"/>
                <a:cs typeface="Times New Roman" pitchFamily="18" charset="0"/>
              </a:rPr>
              <a:t>2X+e</a:t>
            </a:r>
          </a:p>
        </p:txBody>
      </p:sp>
      <p:sp>
        <p:nvSpPr>
          <p:cNvPr id="25" name="Title 1"/>
          <p:cNvSpPr txBox="1">
            <a:spLocks/>
          </p:cNvSpPr>
          <p:nvPr/>
        </p:nvSpPr>
        <p:spPr>
          <a:xfrm>
            <a:off x="732329" y="1134634"/>
            <a:ext cx="121577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dirty="0">
              <a:solidFill>
                <a:srgbClr val="0070C0"/>
              </a:solidFill>
              <a:latin typeface="Times New Roman" pitchFamily="18" charset="0"/>
              <a:cs typeface="Times New Roman" pitchFamily="18" charset="0"/>
            </a:endParaRPr>
          </a:p>
        </p:txBody>
      </p:sp>
      <p:sp>
        <p:nvSpPr>
          <p:cNvPr id="13" name="TextBox 12"/>
          <p:cNvSpPr txBox="1"/>
          <p:nvPr/>
        </p:nvSpPr>
        <p:spPr>
          <a:xfrm rot="5400000">
            <a:off x="150518" y="7333404"/>
            <a:ext cx="12069356" cy="1569660"/>
          </a:xfrm>
          <a:prstGeom prst="rect">
            <a:avLst/>
          </a:prstGeom>
          <a:noFill/>
        </p:spPr>
        <p:txBody>
          <a:bodyPr wrap="square" rtlCol="0">
            <a:spAutoFit/>
          </a:bodyPr>
          <a:lstStyle/>
          <a:p>
            <a:r>
              <a:rPr lang="en-US" sz="9600" dirty="0">
                <a:latin typeface="Times New Roman" pitchFamily="18" charset="0"/>
                <a:cs typeface="Times New Roman" pitchFamily="18" charset="0"/>
              </a:rPr>
              <a:t>}  </a:t>
            </a:r>
          </a:p>
        </p:txBody>
      </p:sp>
      <p:sp>
        <p:nvSpPr>
          <p:cNvPr id="2" name="TextBox 1"/>
          <p:cNvSpPr txBox="1"/>
          <p:nvPr/>
        </p:nvSpPr>
        <p:spPr>
          <a:xfrm>
            <a:off x="3821576" y="2867515"/>
            <a:ext cx="4727239" cy="477054"/>
          </a:xfrm>
          <a:prstGeom prst="rect">
            <a:avLst/>
          </a:prstGeom>
          <a:noFill/>
        </p:spPr>
        <p:txBody>
          <a:bodyPr wrap="square" rtlCol="0">
            <a:spAutoFit/>
          </a:bodyPr>
          <a:lstStyle/>
          <a:p>
            <a:r>
              <a:rPr lang="en-US" sz="2500" dirty="0">
                <a:latin typeface="Times New Roman" pitchFamily="18" charset="0"/>
                <a:cs typeface="Times New Roman" pitchFamily="18" charset="0"/>
              </a:rPr>
              <a:t>Natural Experiment from Japan</a:t>
            </a:r>
          </a:p>
        </p:txBody>
      </p:sp>
    </p:spTree>
    <p:extLst>
      <p:ext uri="{BB962C8B-B14F-4D97-AF65-F5344CB8AC3E}">
        <p14:creationId xmlns:p14="http://schemas.microsoft.com/office/powerpoint/2010/main" val="18012182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6</a:t>
            </a:fld>
            <a:endParaRPr lang="x-none" dirty="0"/>
          </a:p>
        </p:txBody>
      </p:sp>
      <p:pic>
        <p:nvPicPr>
          <p:cNvPr id="3074" name="Picture 2" descr="This Is What A Bubble Looks Like: Japan 1989 Edition | Investing.com">
            <a:extLst>
              <a:ext uri="{FF2B5EF4-FFF2-40B4-BE49-F238E27FC236}">
                <a16:creationId xmlns:a16="http://schemas.microsoft.com/office/drawing/2014/main" id="{AF8217E2-B901-1240-DD65-BCC76CF404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894"/>
          <a:stretch/>
        </p:blipFill>
        <p:spPr bwMode="auto">
          <a:xfrm>
            <a:off x="278980" y="1694644"/>
            <a:ext cx="5657381" cy="363775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4" name="Title 3">
            <a:extLst>
              <a:ext uri="{FF2B5EF4-FFF2-40B4-BE49-F238E27FC236}">
                <a16:creationId xmlns:a16="http://schemas.microsoft.com/office/drawing/2014/main" id="{D9B725E0-A961-579A-96EE-E0FC888CFEED}"/>
              </a:ext>
            </a:extLst>
          </p:cNvPr>
          <p:cNvSpPr>
            <a:spLocks noGrp="1"/>
          </p:cNvSpPr>
          <p:nvPr>
            <p:ph type="title"/>
          </p:nvPr>
        </p:nvSpPr>
        <p:spPr>
          <a:xfrm>
            <a:off x="5534970" y="308276"/>
            <a:ext cx="4379000" cy="626466"/>
          </a:xfrm>
        </p:spPr>
        <p:txBody>
          <a:bodyPr>
            <a:noAutofit/>
          </a:bodyPr>
          <a:lstStyle/>
          <a:p>
            <a:r>
              <a:rPr lang="x-none" sz="2800" b="1" dirty="0">
                <a:solidFill>
                  <a:srgbClr val="0F5093"/>
                </a:solidFill>
                <a:latin typeface="Times" pitchFamily="2" charset="0"/>
              </a:rPr>
              <a:t>Japanese real-estate crisis</a:t>
            </a:r>
          </a:p>
        </p:txBody>
      </p:sp>
      <p:pic>
        <p:nvPicPr>
          <p:cNvPr id="10" name="Picture 2" descr="Population Decline in Japan">
            <a:extLst>
              <a:ext uri="{FF2B5EF4-FFF2-40B4-BE49-F238E27FC236}">
                <a16:creationId xmlns:a16="http://schemas.microsoft.com/office/drawing/2014/main" id="{60ECBEE6-299E-3942-9F87-5EC382AA29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0657" y="1694644"/>
            <a:ext cx="6157007" cy="389115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Tree>
    <p:extLst>
      <p:ext uri="{BB962C8B-B14F-4D97-AF65-F5344CB8AC3E}">
        <p14:creationId xmlns:p14="http://schemas.microsoft.com/office/powerpoint/2010/main" val="261665067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par>
                          <p:cTn id="20" fill="hold">
                            <p:stCondLst>
                              <p:cond delay="500"/>
                            </p:stCondLst>
                            <p:childTnLst>
                              <p:par>
                                <p:cTn id="21" presetID="53" presetClass="entr" presetSubtype="16" fill="hold" nodeType="afterEffect">
                                  <p:stCondLst>
                                    <p:cond delay="0"/>
                                  </p:stCondLst>
                                  <p:childTnLst>
                                    <p:set>
                                      <p:cBhvr>
                                        <p:cTn id="22" dur="1" fill="hold">
                                          <p:stCondLst>
                                            <p:cond delay="0"/>
                                          </p:stCondLst>
                                        </p:cTn>
                                        <p:tgtEl>
                                          <p:spTgt spid="3074"/>
                                        </p:tgtEl>
                                        <p:attrNameLst>
                                          <p:attrName>style.visibility</p:attrName>
                                        </p:attrNameLst>
                                      </p:cBhvr>
                                      <p:to>
                                        <p:strVal val="visible"/>
                                      </p:to>
                                    </p:set>
                                    <p:anim calcmode="lin" valueType="num">
                                      <p:cBhvr>
                                        <p:cTn id="23" dur="500" fill="hold"/>
                                        <p:tgtEl>
                                          <p:spTgt spid="3074"/>
                                        </p:tgtEl>
                                        <p:attrNameLst>
                                          <p:attrName>ppt_w</p:attrName>
                                        </p:attrNameLst>
                                      </p:cBhvr>
                                      <p:tavLst>
                                        <p:tav tm="0">
                                          <p:val>
                                            <p:fltVal val="0"/>
                                          </p:val>
                                        </p:tav>
                                        <p:tav tm="100000">
                                          <p:val>
                                            <p:strVal val="#ppt_w"/>
                                          </p:val>
                                        </p:tav>
                                      </p:tavLst>
                                    </p:anim>
                                    <p:anim calcmode="lin" valueType="num">
                                      <p:cBhvr>
                                        <p:cTn id="24" dur="500" fill="hold"/>
                                        <p:tgtEl>
                                          <p:spTgt spid="3074"/>
                                        </p:tgtEl>
                                        <p:attrNameLst>
                                          <p:attrName>ppt_h</p:attrName>
                                        </p:attrNameLst>
                                      </p:cBhvr>
                                      <p:tavLst>
                                        <p:tav tm="0">
                                          <p:val>
                                            <p:fltVal val="0"/>
                                          </p:val>
                                        </p:tav>
                                        <p:tav tm="100000">
                                          <p:val>
                                            <p:strVal val="#ppt_h"/>
                                          </p:val>
                                        </p:tav>
                                      </p:tavLst>
                                    </p:anim>
                                    <p:animEffect transition="in" filter="fade">
                                      <p:cBhvr>
                                        <p:cTn id="25" dur="500"/>
                                        <p:tgtEl>
                                          <p:spTgt spid="3074"/>
                                        </p:tgtEl>
                                      </p:cBhvr>
                                    </p:animEffect>
                                  </p:childTnLst>
                                </p:cTn>
                              </p:par>
                            </p:childTnLst>
                          </p:cTn>
                        </p:par>
                        <p:par>
                          <p:cTn id="26" fill="hold">
                            <p:stCondLst>
                              <p:cond delay="1000"/>
                            </p:stCondLst>
                            <p:childTnLst>
                              <p:par>
                                <p:cTn id="27" presetID="53" presetClass="entr" presetSubtype="16"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7</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4" name="Title 3">
            <a:extLst>
              <a:ext uri="{FF2B5EF4-FFF2-40B4-BE49-F238E27FC236}">
                <a16:creationId xmlns:a16="http://schemas.microsoft.com/office/drawing/2014/main" id="{D9B725E0-A961-579A-96EE-E0FC888CFEED}"/>
              </a:ext>
            </a:extLst>
          </p:cNvPr>
          <p:cNvSpPr>
            <a:spLocks noGrp="1"/>
          </p:cNvSpPr>
          <p:nvPr>
            <p:ph type="title"/>
          </p:nvPr>
        </p:nvSpPr>
        <p:spPr>
          <a:xfrm>
            <a:off x="8394508" y="1260490"/>
            <a:ext cx="3695207" cy="1439263"/>
          </a:xfrm>
        </p:spPr>
        <p:txBody>
          <a:bodyPr>
            <a:noAutofit/>
          </a:bodyPr>
          <a:lstStyle/>
          <a:p>
            <a:r>
              <a:rPr lang="x-none" sz="2800" dirty="0">
                <a:latin typeface="Times" pitchFamily="2" charset="0"/>
              </a:rPr>
              <a:t>Japanese real estate crisis as an exogoenous loan supply shock</a:t>
            </a:r>
            <a:endParaRPr lang="x-none" sz="2800" dirty="0"/>
          </a:p>
        </p:txBody>
      </p:sp>
      <p:pic>
        <p:nvPicPr>
          <p:cNvPr id="3" name="Picture 2">
            <a:extLst>
              <a:ext uri="{FF2B5EF4-FFF2-40B4-BE49-F238E27FC236}">
                <a16:creationId xmlns:a16="http://schemas.microsoft.com/office/drawing/2014/main" id="{AAD8C9AD-6CD3-1644-69FD-06C4FE0BBFE1}"/>
              </a:ext>
            </a:extLst>
          </p:cNvPr>
          <p:cNvPicPr>
            <a:picLocks noChangeAspect="1"/>
          </p:cNvPicPr>
          <p:nvPr/>
        </p:nvPicPr>
        <p:blipFill rotWithShape="1">
          <a:blip r:embed="rId3"/>
          <a:srcRect t="89922"/>
          <a:stretch/>
        </p:blipFill>
        <p:spPr>
          <a:xfrm>
            <a:off x="467670" y="6226114"/>
            <a:ext cx="7657371" cy="598205"/>
          </a:xfrm>
          <a:prstGeom prst="rect">
            <a:avLst/>
          </a:prstGeom>
        </p:spPr>
      </p:pic>
      <p:pic>
        <p:nvPicPr>
          <p:cNvPr id="9" name="Picture 8">
            <a:extLst>
              <a:ext uri="{FF2B5EF4-FFF2-40B4-BE49-F238E27FC236}">
                <a16:creationId xmlns:a16="http://schemas.microsoft.com/office/drawing/2014/main" id="{586AB989-7F75-32FF-9843-45D6ED0326F8}"/>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r="50166" b="54628"/>
          <a:stretch/>
        </p:blipFill>
        <p:spPr>
          <a:xfrm>
            <a:off x="467671" y="888597"/>
            <a:ext cx="3815988" cy="2693172"/>
          </a:xfrm>
          <a:prstGeom prst="rect">
            <a:avLst/>
          </a:prstGeom>
        </p:spPr>
      </p:pic>
      <p:pic>
        <p:nvPicPr>
          <p:cNvPr id="10" name="Picture 9">
            <a:extLst>
              <a:ext uri="{FF2B5EF4-FFF2-40B4-BE49-F238E27FC236}">
                <a16:creationId xmlns:a16="http://schemas.microsoft.com/office/drawing/2014/main" id="{7FB766EB-A965-5DD2-08FE-04ECFB7457CB}"/>
              </a:ext>
            </a:extLst>
          </p:cNvPr>
          <p:cNvPicPr>
            <a:picLocks noChangeAspect="1"/>
          </p:cNvPicPr>
          <p:nvPr/>
        </p:nvPicPr>
        <p:blipFill rotWithShape="1">
          <a:blip r:embed="rId4">
            <a:extLst>
              <a:ext uri="{BEBA8EAE-BF5A-486C-A8C5-ECC9F3942E4B}">
                <a14:imgProps xmlns:a14="http://schemas.microsoft.com/office/drawing/2010/main">
                  <a14:imgLayer r:embed="rId6">
                    <a14:imgEffect>
                      <a14:sharpenSoften amount="50000"/>
                    </a14:imgEffect>
                  </a14:imgLayer>
                </a14:imgProps>
              </a:ext>
            </a:extLst>
          </a:blip>
          <a:srcRect l="49834" b="54628"/>
          <a:stretch/>
        </p:blipFill>
        <p:spPr>
          <a:xfrm>
            <a:off x="4283659" y="888597"/>
            <a:ext cx="3841382" cy="2693172"/>
          </a:xfrm>
          <a:prstGeom prst="rect">
            <a:avLst/>
          </a:prstGeom>
        </p:spPr>
      </p:pic>
      <p:pic>
        <p:nvPicPr>
          <p:cNvPr id="11" name="Picture 10">
            <a:extLst>
              <a:ext uri="{FF2B5EF4-FFF2-40B4-BE49-F238E27FC236}">
                <a16:creationId xmlns:a16="http://schemas.microsoft.com/office/drawing/2014/main" id="{2D429134-F150-9C4C-8F0A-3E2BE30A446F}"/>
              </a:ext>
            </a:extLst>
          </p:cNvPr>
          <p:cNvPicPr>
            <a:picLocks noChangeAspect="1"/>
          </p:cNvPicPr>
          <p:nvPr/>
        </p:nvPicPr>
        <p:blipFill rotWithShape="1">
          <a:blip r:embed="rId4">
            <a:extLst>
              <a:ext uri="{BEBA8EAE-BF5A-486C-A8C5-ECC9F3942E4B}">
                <a14:imgProps xmlns:a14="http://schemas.microsoft.com/office/drawing/2010/main">
                  <a14:imgLayer r:embed="rId7">
                    <a14:imgEffect>
                      <a14:sharpenSoften amount="50000"/>
                    </a14:imgEffect>
                  </a14:imgLayer>
                </a14:imgProps>
              </a:ext>
            </a:extLst>
          </a:blip>
          <a:srcRect t="45372" r="50166" b="10078"/>
          <a:stretch/>
        </p:blipFill>
        <p:spPr>
          <a:xfrm>
            <a:off x="467670" y="3581769"/>
            <a:ext cx="3815989" cy="2644345"/>
          </a:xfrm>
          <a:prstGeom prst="rect">
            <a:avLst/>
          </a:prstGeom>
        </p:spPr>
      </p:pic>
      <p:pic>
        <p:nvPicPr>
          <p:cNvPr id="12" name="Picture 11">
            <a:extLst>
              <a:ext uri="{FF2B5EF4-FFF2-40B4-BE49-F238E27FC236}">
                <a16:creationId xmlns:a16="http://schemas.microsoft.com/office/drawing/2014/main" id="{BCC506E3-EB12-A568-F4CB-D828F9524227}"/>
              </a:ext>
            </a:extLst>
          </p:cNvPr>
          <p:cNvPicPr>
            <a:picLocks noChangeAspect="1"/>
          </p:cNvPicPr>
          <p:nvPr/>
        </p:nvPicPr>
        <p:blipFill rotWithShape="1">
          <a:blip r:embed="rId4">
            <a:extLst>
              <a:ext uri="{BEBA8EAE-BF5A-486C-A8C5-ECC9F3942E4B}">
                <a14:imgProps xmlns:a14="http://schemas.microsoft.com/office/drawing/2010/main">
                  <a14:imgLayer r:embed="rId8">
                    <a14:imgEffect>
                      <a14:sharpenSoften amount="50000"/>
                    </a14:imgEffect>
                  </a14:imgLayer>
                </a14:imgProps>
              </a:ext>
            </a:extLst>
          </a:blip>
          <a:srcRect l="49834" t="45372" b="10078"/>
          <a:stretch/>
        </p:blipFill>
        <p:spPr>
          <a:xfrm>
            <a:off x="4283659" y="3581769"/>
            <a:ext cx="3841382" cy="2644346"/>
          </a:xfrm>
          <a:prstGeom prst="rect">
            <a:avLst/>
          </a:prstGeom>
        </p:spPr>
      </p:pic>
      <p:sp>
        <p:nvSpPr>
          <p:cNvPr id="13" name="Rectangle 12">
            <a:extLst>
              <a:ext uri="{FF2B5EF4-FFF2-40B4-BE49-F238E27FC236}">
                <a16:creationId xmlns:a16="http://schemas.microsoft.com/office/drawing/2014/main" id="{CAC6D356-DB21-3518-E014-C1B3627F155A}"/>
              </a:ext>
            </a:extLst>
          </p:cNvPr>
          <p:cNvSpPr/>
          <p:nvPr/>
        </p:nvSpPr>
        <p:spPr>
          <a:xfrm>
            <a:off x="732329" y="308277"/>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4" name="Oval 13">
            <a:extLst>
              <a:ext uri="{FF2B5EF4-FFF2-40B4-BE49-F238E27FC236}">
                <a16:creationId xmlns:a16="http://schemas.microsoft.com/office/drawing/2014/main" id="{756EA27D-E4C5-E2D4-6344-7E026461072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Tree>
    <p:extLst>
      <p:ext uri="{BB962C8B-B14F-4D97-AF65-F5344CB8AC3E}">
        <p14:creationId xmlns:p14="http://schemas.microsoft.com/office/powerpoint/2010/main" val="17277018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p:tgtEl>
                                          <p:spTgt spid="14"/>
                                        </p:tgtEl>
                                        <p:attrNameLst>
                                          <p:attrName>ppt_y</p:attrName>
                                        </p:attrNameLst>
                                      </p:cBhvr>
                                      <p:tavLst>
                                        <p:tav tm="0">
                                          <p:val>
                                            <p:strVal val="#ppt_y+#ppt_h*1.125000"/>
                                          </p:val>
                                        </p:tav>
                                        <p:tav tm="100000">
                                          <p:val>
                                            <p:strVal val="#ppt_y"/>
                                          </p:val>
                                        </p:tav>
                                      </p:tavLst>
                                    </p:anim>
                                    <p:animEffect transition="in" filter="wipe(up)">
                                      <p:cBhvr>
                                        <p:cTn id="8" dur="1000"/>
                                        <p:tgtEl>
                                          <p:spTgt spid="1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000"/>
                                        <p:tgtEl>
                                          <p:spTgt spid="13"/>
                                        </p:tgtEl>
                                        <p:attrNameLst>
                                          <p:attrName>ppt_y</p:attrName>
                                        </p:attrNameLst>
                                      </p:cBhvr>
                                      <p:tavLst>
                                        <p:tav tm="0">
                                          <p:val>
                                            <p:strVal val="#ppt_y+#ppt_h*1.125000"/>
                                          </p:val>
                                        </p:tav>
                                        <p:tav tm="100000">
                                          <p:val>
                                            <p:strVal val="#ppt_y"/>
                                          </p:val>
                                        </p:tav>
                                      </p:tavLst>
                                    </p:anim>
                                    <p:animEffect transition="in" filter="wipe(up)">
                                      <p:cBhvr>
                                        <p:cTn id="1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8</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4" name="Title 3">
            <a:extLst>
              <a:ext uri="{FF2B5EF4-FFF2-40B4-BE49-F238E27FC236}">
                <a16:creationId xmlns:a16="http://schemas.microsoft.com/office/drawing/2014/main" id="{D9B725E0-A961-579A-96EE-E0FC888CFEED}"/>
              </a:ext>
            </a:extLst>
          </p:cNvPr>
          <p:cNvSpPr>
            <a:spLocks noGrp="1"/>
          </p:cNvSpPr>
          <p:nvPr>
            <p:ph type="title"/>
          </p:nvPr>
        </p:nvSpPr>
        <p:spPr>
          <a:xfrm>
            <a:off x="2428355" y="935200"/>
            <a:ext cx="5543338" cy="626466"/>
          </a:xfrm>
        </p:spPr>
        <p:txBody>
          <a:bodyPr>
            <a:noAutofit/>
          </a:bodyPr>
          <a:lstStyle/>
          <a:p>
            <a:r>
              <a:rPr lang="x-none" sz="2800" b="1" dirty="0">
                <a:solidFill>
                  <a:srgbClr val="0F5093"/>
                </a:solidFill>
                <a:latin typeface="Times" pitchFamily="2" charset="0"/>
              </a:rPr>
              <a:t>Transmission of Financial Crisis</a:t>
            </a:r>
          </a:p>
        </p:txBody>
      </p:sp>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Peek and Rosengren 1997</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pic>
        <p:nvPicPr>
          <p:cNvPr id="9" name="Picture 8">
            <a:extLst>
              <a:ext uri="{FF2B5EF4-FFF2-40B4-BE49-F238E27FC236}">
                <a16:creationId xmlns:a16="http://schemas.microsoft.com/office/drawing/2014/main" id="{BA8B890B-77BF-3249-0086-188E3DD818D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523398" y="1739695"/>
            <a:ext cx="8840403" cy="4616655"/>
          </a:xfrm>
          <a:prstGeom prst="rect">
            <a:avLst/>
          </a:prstGeom>
        </p:spPr>
      </p:pic>
    </p:spTree>
    <p:extLst>
      <p:ext uri="{BB962C8B-B14F-4D97-AF65-F5344CB8AC3E}">
        <p14:creationId xmlns:p14="http://schemas.microsoft.com/office/powerpoint/2010/main" val="67390446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C0D1B5-D2B7-4C22-A5B7-E049CCCE2B30}"/>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E179BBB7-6624-5543-D3F3-A17DE3EA8363}"/>
              </a:ext>
            </a:extLst>
          </p:cNvPr>
          <p:cNvSpPr>
            <a:spLocks noGrp="1"/>
          </p:cNvSpPr>
          <p:nvPr>
            <p:ph type="sldNum" sz="quarter" idx="12"/>
          </p:nvPr>
        </p:nvSpPr>
        <p:spPr/>
        <p:txBody>
          <a:bodyPr/>
          <a:lstStyle/>
          <a:p>
            <a:fld id="{1AE92137-7C9E-4C4A-86B0-0BF68CCC1610}" type="slidenum">
              <a:rPr lang="x-none" smtClean="0"/>
              <a:pPr/>
              <a:t>9</a:t>
            </a:fld>
            <a:endParaRPr lang="x-none" dirty="0"/>
          </a:p>
        </p:txBody>
      </p:sp>
      <p:pic>
        <p:nvPicPr>
          <p:cNvPr id="9" name="Content Placeholder 8">
            <a:extLst>
              <a:ext uri="{FF2B5EF4-FFF2-40B4-BE49-F238E27FC236}">
                <a16:creationId xmlns:a16="http://schemas.microsoft.com/office/drawing/2014/main" id="{AF54E709-CA57-AC5F-8D31-D10DAC135374}"/>
              </a:ext>
            </a:extLst>
          </p:cNvPr>
          <p:cNvPicPr>
            <a:picLocks noGrp="1" noChangeAspect="1"/>
          </p:cNvPicPr>
          <p:nvPr>
            <p:ph idx="1"/>
          </p:nvPr>
        </p:nvPicPr>
        <p:blipFill>
          <a:blip r:embed="rId3"/>
          <a:stretch>
            <a:fillRect/>
          </a:stretch>
        </p:blipFill>
        <p:spPr>
          <a:xfrm>
            <a:off x="1511086" y="1426792"/>
            <a:ext cx="9169827" cy="4526536"/>
          </a:xfrm>
        </p:spPr>
      </p:pic>
    </p:spTree>
    <p:extLst>
      <p:ext uri="{BB962C8B-B14F-4D97-AF65-F5344CB8AC3E}">
        <p14:creationId xmlns:p14="http://schemas.microsoft.com/office/powerpoint/2010/main" val="280566224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4734964" y="1268467"/>
            <a:ext cx="2722071" cy="594584"/>
          </a:xfrm>
        </p:spPr>
        <p:txBody>
          <a:bodyPr>
            <a:normAutofit/>
          </a:bodyPr>
          <a:lstStyle/>
          <a:p>
            <a:r>
              <a:rPr lang="x-none" sz="2800" b="1" dirty="0">
                <a:solidFill>
                  <a:srgbClr val="0F5093"/>
                </a:solidFill>
                <a:latin typeface="Times" pitchFamily="2" charset="0"/>
              </a:rPr>
              <a:t>Study Questions</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10</a:t>
            </a:fld>
            <a:endParaRPr lang="x-none" dirty="0"/>
          </a:p>
        </p:txBody>
      </p:sp>
      <p:sp>
        <p:nvSpPr>
          <p:cNvPr id="18" name="Rectangle 17">
            <a:extLst>
              <a:ext uri="{FF2B5EF4-FFF2-40B4-BE49-F238E27FC236}">
                <a16:creationId xmlns:a16="http://schemas.microsoft.com/office/drawing/2014/main" id="{C476AD29-3A33-384C-6A01-C4168DDED19E}"/>
              </a:ext>
            </a:extLst>
          </p:cNvPr>
          <p:cNvSpPr/>
          <p:nvPr/>
        </p:nvSpPr>
        <p:spPr>
          <a:xfrm>
            <a:off x="1989667" y="2611883"/>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Transmission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613521"/>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Real Effects</a:t>
            </a:r>
          </a:p>
        </p:txBody>
      </p:sp>
      <p:sp>
        <p:nvSpPr>
          <p:cNvPr id="23" name="Rectangle 22">
            <a:extLst>
              <a:ext uri="{FF2B5EF4-FFF2-40B4-BE49-F238E27FC236}">
                <a16:creationId xmlns:a16="http://schemas.microsoft.com/office/drawing/2014/main" id="{FC794CE7-FD0A-03CF-4EDC-E5E4C0919379}"/>
              </a:ext>
            </a:extLst>
          </p:cNvPr>
          <p:cNvSpPr/>
          <p:nvPr/>
        </p:nvSpPr>
        <p:spPr>
          <a:xfrm>
            <a:off x="908946" y="3561780"/>
            <a:ext cx="4733974" cy="211602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4938" algn="justLow"/>
            <a:endParaRPr lang="en-US" sz="2400" dirty="0">
              <a:solidFill>
                <a:schemeClr val="tx1"/>
              </a:solidFill>
              <a:latin typeface="Times" pitchFamily="2" charset="0"/>
            </a:endParaRPr>
          </a:p>
          <a:p>
            <a:pPr marL="134938" algn="justLow"/>
            <a:r>
              <a:rPr lang="en-US" sz="2400" dirty="0">
                <a:solidFill>
                  <a:schemeClr val="tx1"/>
                </a:solidFill>
                <a:latin typeface="Times" pitchFamily="2" charset="0"/>
              </a:rPr>
              <a:t>Are </a:t>
            </a:r>
            <a:r>
              <a:rPr lang="en-US" sz="2400" b="1" dirty="0">
                <a:solidFill>
                  <a:srgbClr val="0070C0"/>
                </a:solidFill>
                <a:latin typeface="Times New Roman" pitchFamily="18" charset="0"/>
                <a:cs typeface="Times New Roman" pitchFamily="18" charset="0"/>
              </a:rPr>
              <a:t>stock market and real estate problems </a:t>
            </a:r>
            <a:r>
              <a:rPr lang="en-US" sz="2400" dirty="0">
                <a:solidFill>
                  <a:schemeClr val="tx1"/>
                </a:solidFill>
                <a:latin typeface="Times" pitchFamily="2" charset="0"/>
              </a:rPr>
              <a:t>in Japan </a:t>
            </a:r>
            <a:r>
              <a:rPr lang="en-US" sz="2400" b="1" dirty="0">
                <a:solidFill>
                  <a:srgbClr val="0070C0"/>
                </a:solidFill>
                <a:latin typeface="Times" pitchFamily="2" charset="0"/>
              </a:rPr>
              <a:t>transmitted to the U.S.</a:t>
            </a:r>
            <a:r>
              <a:rPr lang="en-US" sz="2400" dirty="0">
                <a:solidFill>
                  <a:schemeClr val="tx1"/>
                </a:solidFill>
                <a:latin typeface="Times" pitchFamily="2" charset="0"/>
              </a:rPr>
              <a:t> commercial real estate (CRE) markets in the form of reduced lending? </a:t>
            </a:r>
          </a:p>
          <a:p>
            <a:pPr marL="134938"/>
            <a:endParaRPr lang="en-US" sz="2000" dirty="0">
              <a:solidFill>
                <a:schemeClr val="tx1"/>
              </a:solidFill>
              <a:latin typeface="Times" pitchFamily="2" charset="0"/>
            </a:endParaRPr>
          </a:p>
        </p:txBody>
      </p:sp>
      <p:cxnSp>
        <p:nvCxnSpPr>
          <p:cNvPr id="9" name="Straight Connector 8">
            <a:extLst>
              <a:ext uri="{FF2B5EF4-FFF2-40B4-BE49-F238E27FC236}">
                <a16:creationId xmlns:a16="http://schemas.microsoft.com/office/drawing/2014/main" id="{704862D5-0F06-EDDB-F980-B791CE782BF8}"/>
              </a:ext>
            </a:extLst>
          </p:cNvPr>
          <p:cNvCxnSpPr>
            <a:cxnSpLocks/>
          </p:cNvCxnSpPr>
          <p:nvPr/>
        </p:nvCxnSpPr>
        <p:spPr>
          <a:xfrm>
            <a:off x="5993027" y="182837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195349"/>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099BFB7-9D9C-508E-3C3D-B05382206F97}"/>
              </a:ext>
            </a:extLst>
          </p:cNvPr>
          <p:cNvSpPr/>
          <p:nvPr/>
        </p:nvSpPr>
        <p:spPr>
          <a:xfrm>
            <a:off x="1427129"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21" name="Oval 20">
            <a:extLst>
              <a:ext uri="{FF2B5EF4-FFF2-40B4-BE49-F238E27FC236}">
                <a16:creationId xmlns:a16="http://schemas.microsoft.com/office/drawing/2014/main" id="{DA88E56C-7DFC-286B-7F02-6B746C24D12E}"/>
              </a:ext>
            </a:extLst>
          </p:cNvPr>
          <p:cNvSpPr/>
          <p:nvPr/>
        </p:nvSpPr>
        <p:spPr>
          <a:xfrm>
            <a:off x="6548127"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31" name="Rectangle 30">
            <a:extLst>
              <a:ext uri="{FF2B5EF4-FFF2-40B4-BE49-F238E27FC236}">
                <a16:creationId xmlns:a16="http://schemas.microsoft.com/office/drawing/2014/main" id="{304F8A17-10E4-D39C-6CF6-9A57C4CA786B}"/>
              </a:ext>
            </a:extLst>
          </p:cNvPr>
          <p:cNvSpPr/>
          <p:nvPr/>
        </p:nvSpPr>
        <p:spPr>
          <a:xfrm>
            <a:off x="6166248" y="3565021"/>
            <a:ext cx="4888703" cy="1527231"/>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41338"/>
            <a:r>
              <a:rPr lang="en-US" sz="2400" dirty="0">
                <a:solidFill>
                  <a:schemeClr val="tx1"/>
                </a:solidFill>
                <a:latin typeface="Times" pitchFamily="2" charset="0"/>
              </a:rPr>
              <a:t>Did the </a:t>
            </a:r>
            <a:r>
              <a:rPr lang="en-US" sz="2400" b="1" dirty="0">
                <a:solidFill>
                  <a:srgbClr val="0070C0"/>
                </a:solidFill>
                <a:latin typeface="Times" pitchFamily="2" charset="0"/>
              </a:rPr>
              <a:t>reduction</a:t>
            </a:r>
            <a:r>
              <a:rPr lang="en-US" sz="2400" dirty="0">
                <a:solidFill>
                  <a:schemeClr val="tx1"/>
                </a:solidFill>
                <a:latin typeface="Times" pitchFamily="2" charset="0"/>
              </a:rPr>
              <a:t> in Japanese </a:t>
            </a:r>
            <a:r>
              <a:rPr lang="en-US" sz="2400" b="1" dirty="0">
                <a:solidFill>
                  <a:srgbClr val="0070C0"/>
                </a:solidFill>
                <a:latin typeface="Times" pitchFamily="2" charset="0"/>
              </a:rPr>
              <a:t>lending</a:t>
            </a:r>
            <a:r>
              <a:rPr lang="en-US" sz="2400" dirty="0">
                <a:solidFill>
                  <a:schemeClr val="tx1"/>
                </a:solidFill>
                <a:latin typeface="Times" pitchFamily="2" charset="0"/>
              </a:rPr>
              <a:t> have </a:t>
            </a:r>
            <a:r>
              <a:rPr lang="en-US" sz="2400" b="1" dirty="0">
                <a:solidFill>
                  <a:srgbClr val="0070C0"/>
                </a:solidFill>
                <a:latin typeface="Times" pitchFamily="2" charset="0"/>
              </a:rPr>
              <a:t>an effect </a:t>
            </a:r>
            <a:r>
              <a:rPr lang="en-US" sz="2400" dirty="0">
                <a:solidFill>
                  <a:schemeClr val="tx1"/>
                </a:solidFill>
                <a:latin typeface="Times" pitchFamily="2" charset="0"/>
              </a:rPr>
              <a:t>on real activity in U.S. CRE markets?</a:t>
            </a:r>
          </a:p>
        </p:txBody>
      </p:sp>
      <p:sp>
        <p:nvSpPr>
          <p:cNvPr id="20" name="Rectangle 19">
            <a:extLst>
              <a:ext uri="{FF2B5EF4-FFF2-40B4-BE49-F238E27FC236}">
                <a16:creationId xmlns:a16="http://schemas.microsoft.com/office/drawing/2014/main" id="{4E2471B7-ABD0-7D13-666A-A8B1E2B4FD3E}"/>
              </a:ext>
            </a:extLst>
          </p:cNvPr>
          <p:cNvSpPr/>
          <p:nvPr/>
        </p:nvSpPr>
        <p:spPr>
          <a:xfrm>
            <a:off x="732329" y="308277"/>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22" name="Oval 21">
            <a:extLst>
              <a:ext uri="{FF2B5EF4-FFF2-40B4-BE49-F238E27FC236}">
                <a16:creationId xmlns:a16="http://schemas.microsoft.com/office/drawing/2014/main" id="{47D90C0A-D988-F0AE-85EC-B2935FA946A5}"/>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Tree>
    <p:extLst>
      <p:ext uri="{BB962C8B-B14F-4D97-AF65-F5344CB8AC3E}">
        <p14:creationId xmlns:p14="http://schemas.microsoft.com/office/powerpoint/2010/main" val="6678639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000"/>
                                        <p:tgtEl>
                                          <p:spTgt spid="22"/>
                                        </p:tgtEl>
                                        <p:attrNameLst>
                                          <p:attrName>ppt_y</p:attrName>
                                        </p:attrNameLst>
                                      </p:cBhvr>
                                      <p:tavLst>
                                        <p:tav tm="0">
                                          <p:val>
                                            <p:strVal val="#ppt_y+#ppt_h*1.125000"/>
                                          </p:val>
                                        </p:tav>
                                        <p:tav tm="100000">
                                          <p:val>
                                            <p:strVal val="#ppt_y"/>
                                          </p:val>
                                        </p:tav>
                                      </p:tavLst>
                                    </p:anim>
                                    <p:animEffect transition="in" filter="wipe(up)">
                                      <p:cBhvr>
                                        <p:cTn id="8" dur="1000"/>
                                        <p:tgtEl>
                                          <p:spTgt spid="2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000"/>
                                        <p:tgtEl>
                                          <p:spTgt spid="20"/>
                                        </p:tgtEl>
                                        <p:attrNameLst>
                                          <p:attrName>ppt_y</p:attrName>
                                        </p:attrNameLst>
                                      </p:cBhvr>
                                      <p:tavLst>
                                        <p:tav tm="0">
                                          <p:val>
                                            <p:strVal val="#ppt_y+#ppt_h*1.125000"/>
                                          </p:val>
                                        </p:tav>
                                        <p:tav tm="100000">
                                          <p:val>
                                            <p:strVal val="#ppt_y"/>
                                          </p:val>
                                        </p:tav>
                                      </p:tavLst>
                                    </p:anim>
                                    <p:animEffect transition="in" filter="wipe(up)">
                                      <p:cBhvr>
                                        <p:cTn id="12" dur="10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ppt_y</p:attrName>
                                        </p:attrNameLst>
                                      </p:cBhvr>
                                      <p:tavLst>
                                        <p:tav tm="0">
                                          <p:val>
                                            <p:strVal val="#ppt_y+#ppt_h*1.125000"/>
                                          </p:val>
                                        </p:tav>
                                        <p:tav tm="100000">
                                          <p:val>
                                            <p:strVal val="#ppt_y"/>
                                          </p:val>
                                        </p:tav>
                                      </p:tavLst>
                                    </p:anim>
                                    <p:animEffect transition="in" filter="wipe(up)">
                                      <p:cBhvr>
                                        <p:cTn id="18" dur="500"/>
                                        <p:tgtEl>
                                          <p:spTgt spid="2"/>
                                        </p:tgtEl>
                                      </p:cBhvr>
                                    </p:animEffect>
                                  </p:childTnLst>
                                </p:cTn>
                              </p:par>
                            </p:childTnLst>
                          </p:cTn>
                        </p:par>
                        <p:par>
                          <p:cTn id="19" fill="hold">
                            <p:stCondLst>
                              <p:cond delay="500"/>
                            </p:stCondLst>
                            <p:childTnLst>
                              <p:par>
                                <p:cTn id="20" presetID="12" presetClass="entr" presetSubtype="4"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p:tgtEl>
                                          <p:spTgt spid="9"/>
                                        </p:tgtEl>
                                        <p:attrNameLst>
                                          <p:attrName>ppt_y</p:attrName>
                                        </p:attrNameLst>
                                      </p:cBhvr>
                                      <p:tavLst>
                                        <p:tav tm="0">
                                          <p:val>
                                            <p:strVal val="#ppt_y+#ppt_h*1.125000"/>
                                          </p:val>
                                        </p:tav>
                                        <p:tav tm="100000">
                                          <p:val>
                                            <p:strVal val="#ppt_y"/>
                                          </p:val>
                                        </p:tav>
                                      </p:tavLst>
                                    </p:anim>
                                    <p:animEffect transition="in" filter="wipe(up)">
                                      <p:cBhvr>
                                        <p:cTn id="23" dur="500"/>
                                        <p:tgtEl>
                                          <p:spTgt spid="9"/>
                                        </p:tgtEl>
                                      </p:cBhvr>
                                    </p:animEffect>
                                  </p:childTnLst>
                                </p:cTn>
                              </p:par>
                              <p:par>
                                <p:cTn id="24" presetID="12" presetClass="entr" presetSubtype="4"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p:tgtEl>
                                          <p:spTgt spid="28"/>
                                        </p:tgtEl>
                                        <p:attrNameLst>
                                          <p:attrName>ppt_y</p:attrName>
                                        </p:attrNameLst>
                                      </p:cBhvr>
                                      <p:tavLst>
                                        <p:tav tm="0">
                                          <p:val>
                                            <p:strVal val="#ppt_y+#ppt_h*1.125000"/>
                                          </p:val>
                                        </p:tav>
                                        <p:tav tm="100000">
                                          <p:val>
                                            <p:strVal val="#ppt_y"/>
                                          </p:val>
                                        </p:tav>
                                      </p:tavLst>
                                    </p:anim>
                                    <p:animEffect transition="in" filter="wipe(up)">
                                      <p:cBhvr>
                                        <p:cTn id="27" dur="500"/>
                                        <p:tgtEl>
                                          <p:spTgt spid="28"/>
                                        </p:tgtEl>
                                      </p:cBhvr>
                                    </p:animEffect>
                                  </p:childTnLst>
                                </p:cTn>
                              </p:par>
                              <p:par>
                                <p:cTn id="28" presetID="12" presetClass="entr" presetSubtype="4" fill="hold" nodeType="with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p:tgtEl>
                                          <p:spTgt spid="30"/>
                                        </p:tgtEl>
                                        <p:attrNameLst>
                                          <p:attrName>ppt_y</p:attrName>
                                        </p:attrNameLst>
                                      </p:cBhvr>
                                      <p:tavLst>
                                        <p:tav tm="0">
                                          <p:val>
                                            <p:strVal val="#ppt_y+#ppt_h*1.125000"/>
                                          </p:val>
                                        </p:tav>
                                        <p:tav tm="100000">
                                          <p:val>
                                            <p:strVal val="#ppt_y"/>
                                          </p:val>
                                        </p:tav>
                                      </p:tavLst>
                                    </p:anim>
                                    <p:animEffect transition="in" filter="wipe(up)">
                                      <p:cBhvr>
                                        <p:cTn id="31" dur="500"/>
                                        <p:tgtEl>
                                          <p:spTgt spid="30"/>
                                        </p:tgtEl>
                                      </p:cBhvr>
                                    </p:animEffect>
                                  </p:childTnLst>
                                </p:cTn>
                              </p:par>
                              <p:par>
                                <p:cTn id="32" presetID="12" presetClass="entr" presetSubtype="4"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500"/>
                                        <p:tgtEl>
                                          <p:spTgt spid="29"/>
                                        </p:tgtEl>
                                        <p:attrNameLst>
                                          <p:attrName>ppt_y</p:attrName>
                                        </p:attrNameLst>
                                      </p:cBhvr>
                                      <p:tavLst>
                                        <p:tav tm="0">
                                          <p:val>
                                            <p:strVal val="#ppt_y+#ppt_h*1.125000"/>
                                          </p:val>
                                        </p:tav>
                                        <p:tav tm="100000">
                                          <p:val>
                                            <p:strVal val="#ppt_y"/>
                                          </p:val>
                                        </p:tav>
                                      </p:tavLst>
                                    </p:anim>
                                    <p:animEffect transition="in" filter="wipe(up)">
                                      <p:cBhvr>
                                        <p:cTn id="35" dur="500"/>
                                        <p:tgtEl>
                                          <p:spTgt spid="29"/>
                                        </p:tgtEl>
                                      </p:cBhvr>
                                    </p:animEffect>
                                  </p:childTnLst>
                                </p:cTn>
                              </p:par>
                            </p:childTnLst>
                          </p:cTn>
                        </p:par>
                        <p:par>
                          <p:cTn id="36" fill="hold">
                            <p:stCondLst>
                              <p:cond delay="1000"/>
                            </p:stCondLst>
                            <p:childTnLst>
                              <p:par>
                                <p:cTn id="37" presetID="53" presetClass="entr" presetSubtype="16"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p:cTn id="51" dur="500" fill="hold"/>
                                        <p:tgtEl>
                                          <p:spTgt spid="21"/>
                                        </p:tgtEl>
                                        <p:attrNameLst>
                                          <p:attrName>ppt_w</p:attrName>
                                        </p:attrNameLst>
                                      </p:cBhvr>
                                      <p:tavLst>
                                        <p:tav tm="0">
                                          <p:val>
                                            <p:fltVal val="0"/>
                                          </p:val>
                                        </p:tav>
                                        <p:tav tm="100000">
                                          <p:val>
                                            <p:strVal val="#ppt_w"/>
                                          </p:val>
                                        </p:tav>
                                      </p:tavLst>
                                    </p:anim>
                                    <p:anim calcmode="lin" valueType="num">
                                      <p:cBhvr>
                                        <p:cTn id="52" dur="500" fill="hold"/>
                                        <p:tgtEl>
                                          <p:spTgt spid="21"/>
                                        </p:tgtEl>
                                        <p:attrNameLst>
                                          <p:attrName>ppt_h</p:attrName>
                                        </p:attrNameLst>
                                      </p:cBhvr>
                                      <p:tavLst>
                                        <p:tav tm="0">
                                          <p:val>
                                            <p:fltVal val="0"/>
                                          </p:val>
                                        </p:tav>
                                        <p:tav tm="100000">
                                          <p:val>
                                            <p:strVal val="#ppt_h"/>
                                          </p:val>
                                        </p:tav>
                                      </p:tavLst>
                                    </p:anim>
                                    <p:animEffect transition="in" filter="fade">
                                      <p:cBhvr>
                                        <p:cTn id="53" dur="500"/>
                                        <p:tgtEl>
                                          <p:spTgt spid="21"/>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p:cTn id="56" dur="500" fill="hold"/>
                                        <p:tgtEl>
                                          <p:spTgt spid="19"/>
                                        </p:tgtEl>
                                        <p:attrNameLst>
                                          <p:attrName>ppt_w</p:attrName>
                                        </p:attrNameLst>
                                      </p:cBhvr>
                                      <p:tavLst>
                                        <p:tav tm="0">
                                          <p:val>
                                            <p:fltVal val="0"/>
                                          </p:val>
                                        </p:tav>
                                        <p:tav tm="100000">
                                          <p:val>
                                            <p:strVal val="#ppt_w"/>
                                          </p:val>
                                        </p:tav>
                                      </p:tavLst>
                                    </p:anim>
                                    <p:anim calcmode="lin" valueType="num">
                                      <p:cBhvr>
                                        <p:cTn id="57" dur="500" fill="hold"/>
                                        <p:tgtEl>
                                          <p:spTgt spid="19"/>
                                        </p:tgtEl>
                                        <p:attrNameLst>
                                          <p:attrName>ppt_h</p:attrName>
                                        </p:attrNameLst>
                                      </p:cBhvr>
                                      <p:tavLst>
                                        <p:tav tm="0">
                                          <p:val>
                                            <p:fltVal val="0"/>
                                          </p:val>
                                        </p:tav>
                                        <p:tav tm="100000">
                                          <p:val>
                                            <p:strVal val="#ppt_h"/>
                                          </p:val>
                                        </p:tav>
                                      </p:tavLst>
                                    </p:anim>
                                    <p:animEffect transition="in" filter="fade">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23">
                                            <p:bg/>
                                          </p:spTgt>
                                        </p:tgtEl>
                                        <p:attrNameLst>
                                          <p:attrName>style.visibility</p:attrName>
                                        </p:attrNameLst>
                                      </p:cBhvr>
                                      <p:to>
                                        <p:strVal val="visible"/>
                                      </p:to>
                                    </p:set>
                                    <p:anim calcmode="lin" valueType="num">
                                      <p:cBhvr additive="base">
                                        <p:cTn id="63" dur="500"/>
                                        <p:tgtEl>
                                          <p:spTgt spid="23">
                                            <p:bg/>
                                          </p:spTgt>
                                        </p:tgtEl>
                                        <p:attrNameLst>
                                          <p:attrName>ppt_y</p:attrName>
                                        </p:attrNameLst>
                                      </p:cBhvr>
                                      <p:tavLst>
                                        <p:tav tm="0">
                                          <p:val>
                                            <p:strVal val="#ppt_y+#ppt_h*1.125000"/>
                                          </p:val>
                                        </p:tav>
                                        <p:tav tm="100000">
                                          <p:val>
                                            <p:strVal val="#ppt_y"/>
                                          </p:val>
                                        </p:tav>
                                      </p:tavLst>
                                    </p:anim>
                                    <p:animEffect transition="in" filter="wipe(up)">
                                      <p:cBhvr>
                                        <p:cTn id="64" dur="500"/>
                                        <p:tgtEl>
                                          <p:spTgt spid="23">
                                            <p:bg/>
                                          </p:spTgt>
                                        </p:tgtEl>
                                      </p:cBhvr>
                                    </p:animEffect>
                                  </p:childTnLst>
                                </p:cTn>
                              </p:par>
                              <p:par>
                                <p:cTn id="65" presetID="12" presetClass="entr" presetSubtype="4" fill="hold" grpId="0" nodeType="withEffect">
                                  <p:stCondLst>
                                    <p:cond delay="0"/>
                                  </p:stCondLst>
                                  <p:childTnLst>
                                    <p:set>
                                      <p:cBhvr>
                                        <p:cTn id="66" dur="1" fill="hold">
                                          <p:stCondLst>
                                            <p:cond delay="0"/>
                                          </p:stCondLst>
                                        </p:cTn>
                                        <p:tgtEl>
                                          <p:spTgt spid="23">
                                            <p:txEl>
                                              <p:pRg st="1" end="1"/>
                                            </p:txEl>
                                          </p:spTgt>
                                        </p:tgtEl>
                                        <p:attrNameLst>
                                          <p:attrName>style.visibility</p:attrName>
                                        </p:attrNameLst>
                                      </p:cBhvr>
                                      <p:to>
                                        <p:strVal val="visible"/>
                                      </p:to>
                                    </p:set>
                                    <p:anim calcmode="lin" valueType="num">
                                      <p:cBhvr additive="base">
                                        <p:cTn id="67" dur="500"/>
                                        <p:tgtEl>
                                          <p:spTgt spid="23">
                                            <p:txEl>
                                              <p:pRg st="1" end="1"/>
                                            </p:txEl>
                                          </p:spTgt>
                                        </p:tgtEl>
                                        <p:attrNameLst>
                                          <p:attrName>ppt_y</p:attrName>
                                        </p:attrNameLst>
                                      </p:cBhvr>
                                      <p:tavLst>
                                        <p:tav tm="0">
                                          <p:val>
                                            <p:strVal val="#ppt_y+#ppt_h*1.125000"/>
                                          </p:val>
                                        </p:tav>
                                        <p:tav tm="100000">
                                          <p:val>
                                            <p:strVal val="#ppt_y"/>
                                          </p:val>
                                        </p:tav>
                                      </p:tavLst>
                                    </p:anim>
                                    <p:animEffect transition="in" filter="wipe(up)">
                                      <p:cBhvr>
                                        <p:cTn id="68" dur="500"/>
                                        <p:tgtEl>
                                          <p:spTgt spid="23">
                                            <p:txEl>
                                              <p:pRg st="1" end="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 calcmode="lin" valueType="num">
                                      <p:cBhvr additive="base">
                                        <p:cTn id="73" dur="500"/>
                                        <p:tgtEl>
                                          <p:spTgt spid="31"/>
                                        </p:tgtEl>
                                        <p:attrNameLst>
                                          <p:attrName>ppt_y</p:attrName>
                                        </p:attrNameLst>
                                      </p:cBhvr>
                                      <p:tavLst>
                                        <p:tav tm="0">
                                          <p:val>
                                            <p:strVal val="#ppt_y+#ppt_h*1.125000"/>
                                          </p:val>
                                        </p:tav>
                                        <p:tav tm="100000">
                                          <p:val>
                                            <p:strVal val="#ppt_y"/>
                                          </p:val>
                                        </p:tav>
                                      </p:tavLst>
                                    </p:anim>
                                    <p:animEffect transition="in" filter="wipe(up)">
                                      <p:cBhvr>
                                        <p:cTn id="7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animBg="1"/>
      <p:bldP spid="19" grpId="0" animBg="1"/>
      <p:bldP spid="23" grpId="0" build="p" animBg="1"/>
      <p:bldP spid="16" grpId="0" animBg="1"/>
      <p:bldP spid="21" grpId="0" animBg="1"/>
      <p:bldP spid="31" grpId="0" animBg="1"/>
      <p:bldP spid="20"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11</a:t>
            </a:fld>
            <a:endParaRPr lang="x-none" dirty="0"/>
          </a:p>
        </p:txBody>
      </p:sp>
      <p:sp>
        <p:nvSpPr>
          <p:cNvPr id="17" name="TextBox 16">
            <a:extLst>
              <a:ext uri="{FF2B5EF4-FFF2-40B4-BE49-F238E27FC236}">
                <a16:creationId xmlns:a16="http://schemas.microsoft.com/office/drawing/2014/main" id="{97D782F5-5073-616D-B063-F914520ABB79}"/>
              </a:ext>
            </a:extLst>
          </p:cNvPr>
          <p:cNvSpPr txBox="1"/>
          <p:nvPr/>
        </p:nvSpPr>
        <p:spPr>
          <a:xfrm>
            <a:off x="4621426" y="1136279"/>
            <a:ext cx="2743201" cy="523220"/>
          </a:xfrm>
          <a:prstGeom prst="rect">
            <a:avLst/>
          </a:prstGeom>
          <a:noFill/>
        </p:spPr>
        <p:txBody>
          <a:bodyPr wrap="square">
            <a:spAutoFit/>
          </a:bodyPr>
          <a:lstStyle/>
          <a:p>
            <a:pPr algn="ctr"/>
            <a:r>
              <a:rPr lang="x-none" sz="2800" b="1" dirty="0">
                <a:solidFill>
                  <a:srgbClr val="0F5093"/>
                </a:solidFill>
                <a:latin typeface="Times" pitchFamily="2" charset="0"/>
              </a:rPr>
              <a:t>Panel date set</a:t>
            </a:r>
          </a:p>
        </p:txBody>
      </p:sp>
      <p:sp>
        <p:nvSpPr>
          <p:cNvPr id="18" name="Rectangle 17">
            <a:extLst>
              <a:ext uri="{FF2B5EF4-FFF2-40B4-BE49-F238E27FC236}">
                <a16:creationId xmlns:a16="http://schemas.microsoft.com/office/drawing/2014/main" id="{C476AD29-3A33-384C-6A01-C4168DDED19E}"/>
              </a:ext>
            </a:extLst>
          </p:cNvPr>
          <p:cNvSpPr/>
          <p:nvPr/>
        </p:nvSpPr>
        <p:spPr>
          <a:xfrm>
            <a:off x="1989667" y="2443010"/>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Cross-Section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444648"/>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Time-Series</a:t>
            </a:r>
          </a:p>
        </p:txBody>
      </p:sp>
      <p:sp>
        <p:nvSpPr>
          <p:cNvPr id="20" name="Rectangle 19">
            <a:extLst>
              <a:ext uri="{FF2B5EF4-FFF2-40B4-BE49-F238E27FC236}">
                <a16:creationId xmlns:a16="http://schemas.microsoft.com/office/drawing/2014/main" id="{1F87F748-314A-EDFF-07C2-8ECC181AED6E}"/>
              </a:ext>
            </a:extLst>
          </p:cNvPr>
          <p:cNvSpPr/>
          <p:nvPr/>
        </p:nvSpPr>
        <p:spPr>
          <a:xfrm>
            <a:off x="838200" y="3318605"/>
            <a:ext cx="5710880" cy="106321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 Sample: 3 real-estate markets in the US; California, New York, and Illinois </a:t>
            </a:r>
          </a:p>
        </p:txBody>
      </p:sp>
      <p:sp>
        <p:nvSpPr>
          <p:cNvPr id="23" name="Rectangle 22">
            <a:extLst>
              <a:ext uri="{FF2B5EF4-FFF2-40B4-BE49-F238E27FC236}">
                <a16:creationId xmlns:a16="http://schemas.microsoft.com/office/drawing/2014/main" id="{FC794CE7-FD0A-03CF-4EDC-E5E4C0919379}"/>
              </a:ext>
            </a:extLst>
          </p:cNvPr>
          <p:cNvSpPr/>
          <p:nvPr/>
        </p:nvSpPr>
        <p:spPr>
          <a:xfrm>
            <a:off x="838199" y="4469803"/>
            <a:ext cx="5710881" cy="1316826"/>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all large domestic banks with commercial real-estate loans in the portfolios and Japanese branches</a:t>
            </a:r>
          </a:p>
        </p:txBody>
      </p:sp>
      <p:sp>
        <p:nvSpPr>
          <p:cNvPr id="24" name="Rectangle 23">
            <a:extLst>
              <a:ext uri="{FF2B5EF4-FFF2-40B4-BE49-F238E27FC236}">
                <a16:creationId xmlns:a16="http://schemas.microsoft.com/office/drawing/2014/main" id="{FA104407-A540-2262-CB19-E8B0F8A0C128}"/>
              </a:ext>
            </a:extLst>
          </p:cNvPr>
          <p:cNvSpPr/>
          <p:nvPr/>
        </p:nvSpPr>
        <p:spPr>
          <a:xfrm>
            <a:off x="7364626" y="3279362"/>
            <a:ext cx="4378411" cy="778212"/>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Semi-annual</a:t>
            </a: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40BE731-EB78-0FB4-A1E2-D197E41EE126}"/>
                  </a:ext>
                </a:extLst>
              </p:cNvPr>
              <p:cNvSpPr/>
              <p:nvPr/>
            </p:nvSpPr>
            <p:spPr>
              <a:xfrm>
                <a:off x="7364626" y="4137920"/>
                <a:ext cx="4378412" cy="778212"/>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Period from 1989 </a:t>
                </a:r>
                <a14:m>
                  <m:oMath xmlns:m="http://schemas.openxmlformats.org/officeDocument/2006/math">
                    <m:r>
                      <a:rPr lang="en-US" sz="2400" i="1" dirty="0" smtClean="0">
                        <a:solidFill>
                          <a:schemeClr val="tx1"/>
                        </a:solidFill>
                        <a:latin typeface="Cambria Math" panose="02040503050406030204" pitchFamily="18" charset="0"/>
                      </a:rPr>
                      <m:t>−</m:t>
                    </m:r>
                  </m:oMath>
                </a14:m>
                <a:r>
                  <a:rPr lang="en-US" sz="2400" dirty="0">
                    <a:solidFill>
                      <a:schemeClr val="tx1"/>
                    </a:solidFill>
                    <a:latin typeface="Times" pitchFamily="2" charset="0"/>
                  </a:rPr>
                  <a:t> 1996</a:t>
                </a:r>
              </a:p>
            </p:txBody>
          </p:sp>
        </mc:Choice>
        <mc:Fallback xmlns="">
          <p:sp>
            <p:nvSpPr>
              <p:cNvPr id="27" name="Rectangle 26">
                <a:extLst>
                  <a:ext uri="{FF2B5EF4-FFF2-40B4-BE49-F238E27FC236}">
                    <a16:creationId xmlns:a16="http://schemas.microsoft.com/office/drawing/2014/main" id="{C40BE731-EB78-0FB4-A1E2-D197E41EE126}"/>
                  </a:ext>
                </a:extLst>
              </p:cNvPr>
              <p:cNvSpPr>
                <a:spLocks noRot="1" noChangeAspect="1" noMove="1" noResize="1" noEditPoints="1" noAdjustHandles="1" noChangeArrowheads="1" noChangeShapeType="1" noTextEdit="1"/>
              </p:cNvSpPr>
              <p:nvPr/>
            </p:nvSpPr>
            <p:spPr>
              <a:xfrm>
                <a:off x="7364626" y="4137920"/>
                <a:ext cx="4378412" cy="778212"/>
              </a:xfrm>
              <a:prstGeom prst="rect">
                <a:avLst/>
              </a:prstGeom>
              <a:blipFill>
                <a:blip r:embed="rId3"/>
                <a:stretch>
                  <a:fillRect/>
                </a:stretch>
              </a:blipFill>
              <a:ln w="28575">
                <a:solidFill>
                  <a:srgbClr val="0F5093"/>
                </a:solidFill>
              </a:ln>
            </p:spPr>
            <p:txBody>
              <a:bodyPr/>
              <a:lstStyle/>
              <a:p>
                <a:r>
                  <a:rPr lang="en-EG">
                    <a:noFill/>
                  </a:rPr>
                  <a:t> </a:t>
                </a:r>
              </a:p>
            </p:txBody>
          </p:sp>
        </mc:Fallback>
      </mc:AlternateContent>
      <p:cxnSp>
        <p:nvCxnSpPr>
          <p:cNvPr id="9" name="Straight Connector 8">
            <a:extLst>
              <a:ext uri="{FF2B5EF4-FFF2-40B4-BE49-F238E27FC236}">
                <a16:creationId xmlns:a16="http://schemas.microsoft.com/office/drawing/2014/main" id="{704862D5-0F06-EDDB-F980-B791CE782BF8}"/>
              </a:ext>
            </a:extLst>
          </p:cNvPr>
          <p:cNvCxnSpPr>
            <a:cxnSpLocks/>
            <a:stCxn id="17" idx="2"/>
          </p:cNvCxnSpPr>
          <p:nvPr/>
        </p:nvCxnSpPr>
        <p:spPr>
          <a:xfrm>
            <a:off x="5993027" y="165949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026476"/>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026476"/>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026476"/>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11EA4B4-F137-3EA8-51CC-6EE9679DEB30}"/>
              </a:ext>
            </a:extLst>
          </p:cNvPr>
          <p:cNvSpPr/>
          <p:nvPr/>
        </p:nvSpPr>
        <p:spPr>
          <a:xfrm>
            <a:off x="732329" y="308277"/>
            <a:ext cx="4942696"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a:solidFill>
                  <a:schemeClr val="bg1"/>
                </a:solidFill>
                <a:latin typeface="Times" pitchFamily="2" charset="0"/>
              </a:rPr>
              <a:t>Sample</a:t>
            </a:r>
            <a:r>
              <a:rPr lang="en-US" sz="2400" dirty="0">
                <a:solidFill>
                  <a:schemeClr val="bg1"/>
                </a:solidFill>
                <a:latin typeface="Times" pitchFamily="2" charset="0"/>
              </a:rPr>
              <a:t> and </a:t>
            </a:r>
            <a:r>
              <a:rPr lang="x-none" sz="2400">
                <a:solidFill>
                  <a:schemeClr val="bg1"/>
                </a:solidFill>
                <a:latin typeface="Times" pitchFamily="2" charset="0"/>
              </a:rPr>
              <a:t>data</a:t>
            </a:r>
            <a:endParaRPr lang="en-US" sz="2400" dirty="0">
              <a:solidFill>
                <a:schemeClr val="bg1"/>
              </a:solidFill>
              <a:latin typeface="Times" pitchFamily="2" charset="0"/>
            </a:endParaRPr>
          </a:p>
        </p:txBody>
      </p:sp>
      <p:sp>
        <p:nvSpPr>
          <p:cNvPr id="21" name="Oval 20">
            <a:extLst>
              <a:ext uri="{FF2B5EF4-FFF2-40B4-BE49-F238E27FC236}">
                <a16:creationId xmlns:a16="http://schemas.microsoft.com/office/drawing/2014/main" id="{26790DAA-900E-63A4-1DFA-1262DEFCD9BD}"/>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2</a:t>
            </a:r>
          </a:p>
        </p:txBody>
      </p:sp>
    </p:spTree>
    <p:extLst>
      <p:ext uri="{BB962C8B-B14F-4D97-AF65-F5344CB8AC3E}">
        <p14:creationId xmlns:p14="http://schemas.microsoft.com/office/powerpoint/2010/main" val="32766601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p:tgtEl>
                                          <p:spTgt spid="21"/>
                                        </p:tgtEl>
                                        <p:attrNameLst>
                                          <p:attrName>ppt_y</p:attrName>
                                        </p:attrNameLst>
                                      </p:cBhvr>
                                      <p:tavLst>
                                        <p:tav tm="0">
                                          <p:val>
                                            <p:strVal val="#ppt_y+#ppt_h*1.125000"/>
                                          </p:val>
                                        </p:tav>
                                        <p:tav tm="100000">
                                          <p:val>
                                            <p:strVal val="#ppt_y"/>
                                          </p:val>
                                        </p:tav>
                                      </p:tavLst>
                                    </p:anim>
                                    <p:animEffect transition="in" filter="wipe(up)">
                                      <p:cBhvr>
                                        <p:cTn id="8" dur="1000"/>
                                        <p:tgtEl>
                                          <p:spTgt spid="21"/>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p:tgtEl>
                                          <p:spTgt spid="16"/>
                                        </p:tgtEl>
                                        <p:attrNameLst>
                                          <p:attrName>ppt_y</p:attrName>
                                        </p:attrNameLst>
                                      </p:cBhvr>
                                      <p:tavLst>
                                        <p:tav tm="0">
                                          <p:val>
                                            <p:strVal val="#ppt_y+#ppt_h*1.125000"/>
                                          </p:val>
                                        </p:tav>
                                        <p:tav tm="100000">
                                          <p:val>
                                            <p:strVal val="#ppt_y"/>
                                          </p:val>
                                        </p:tav>
                                      </p:tavLst>
                                    </p:anim>
                                    <p:animEffect transition="in" filter="wipe(up)">
                                      <p:cBhvr>
                                        <p:cTn id="12" dur="10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p:tgtEl>
                                          <p:spTgt spid="17"/>
                                        </p:tgtEl>
                                        <p:attrNameLst>
                                          <p:attrName>ppt_y</p:attrName>
                                        </p:attrNameLst>
                                      </p:cBhvr>
                                      <p:tavLst>
                                        <p:tav tm="0">
                                          <p:val>
                                            <p:strVal val="#ppt_y+#ppt_h*1.125000"/>
                                          </p:val>
                                        </p:tav>
                                        <p:tav tm="100000">
                                          <p:val>
                                            <p:strVal val="#ppt_y"/>
                                          </p:val>
                                        </p:tav>
                                      </p:tavLst>
                                    </p:anim>
                                    <p:animEffect transition="in" filter="wipe(up)">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p:tgtEl>
                                          <p:spTgt spid="9"/>
                                        </p:tgtEl>
                                        <p:attrNameLst>
                                          <p:attrName>ppt_y</p:attrName>
                                        </p:attrNameLst>
                                      </p:cBhvr>
                                      <p:tavLst>
                                        <p:tav tm="0">
                                          <p:val>
                                            <p:strVal val="#ppt_y+#ppt_h*1.125000"/>
                                          </p:val>
                                        </p:tav>
                                        <p:tav tm="100000">
                                          <p:val>
                                            <p:strVal val="#ppt_y"/>
                                          </p:val>
                                        </p:tav>
                                      </p:tavLst>
                                    </p:anim>
                                    <p:animEffect transition="in" filter="wipe(up)">
                                      <p:cBhvr>
                                        <p:cTn id="24" dur="500"/>
                                        <p:tgtEl>
                                          <p:spTgt spid="9"/>
                                        </p:tgtEl>
                                      </p:cBhvr>
                                    </p:animEffect>
                                  </p:childTnLst>
                                </p:cTn>
                              </p:par>
                              <p:par>
                                <p:cTn id="25" presetID="12" presetClass="entr" presetSubtype="4"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p:tgtEl>
                                          <p:spTgt spid="28"/>
                                        </p:tgtEl>
                                        <p:attrNameLst>
                                          <p:attrName>ppt_y</p:attrName>
                                        </p:attrNameLst>
                                      </p:cBhvr>
                                      <p:tavLst>
                                        <p:tav tm="0">
                                          <p:val>
                                            <p:strVal val="#ppt_y+#ppt_h*1.125000"/>
                                          </p:val>
                                        </p:tav>
                                        <p:tav tm="100000">
                                          <p:val>
                                            <p:strVal val="#ppt_y"/>
                                          </p:val>
                                        </p:tav>
                                      </p:tavLst>
                                    </p:anim>
                                    <p:animEffect transition="in" filter="wipe(up)">
                                      <p:cBhvr>
                                        <p:cTn id="28" dur="500"/>
                                        <p:tgtEl>
                                          <p:spTgt spid="28"/>
                                        </p:tgtEl>
                                      </p:cBhvr>
                                    </p:animEffect>
                                  </p:childTnLst>
                                </p:cTn>
                              </p:par>
                              <p:par>
                                <p:cTn id="29" presetID="12" presetClass="entr" presetSubtype="4"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p:tgtEl>
                                          <p:spTgt spid="30"/>
                                        </p:tgtEl>
                                        <p:attrNameLst>
                                          <p:attrName>ppt_y</p:attrName>
                                        </p:attrNameLst>
                                      </p:cBhvr>
                                      <p:tavLst>
                                        <p:tav tm="0">
                                          <p:val>
                                            <p:strVal val="#ppt_y+#ppt_h*1.125000"/>
                                          </p:val>
                                        </p:tav>
                                        <p:tav tm="100000">
                                          <p:val>
                                            <p:strVal val="#ppt_y"/>
                                          </p:val>
                                        </p:tav>
                                      </p:tavLst>
                                    </p:anim>
                                    <p:animEffect transition="in" filter="wipe(up)">
                                      <p:cBhvr>
                                        <p:cTn id="32" dur="500"/>
                                        <p:tgtEl>
                                          <p:spTgt spid="30"/>
                                        </p:tgtEl>
                                      </p:cBhvr>
                                    </p:animEffect>
                                  </p:childTnLst>
                                </p:cTn>
                              </p:par>
                              <p:par>
                                <p:cTn id="33" presetID="12" presetClass="entr" presetSubtype="4"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p:tgtEl>
                                          <p:spTgt spid="29"/>
                                        </p:tgtEl>
                                        <p:attrNameLst>
                                          <p:attrName>ppt_y</p:attrName>
                                        </p:attrNameLst>
                                      </p:cBhvr>
                                      <p:tavLst>
                                        <p:tav tm="0">
                                          <p:val>
                                            <p:strVal val="#ppt_y+#ppt_h*1.125000"/>
                                          </p:val>
                                        </p:tav>
                                        <p:tav tm="100000">
                                          <p:val>
                                            <p:strVal val="#ppt_y"/>
                                          </p:val>
                                        </p:tav>
                                      </p:tavLst>
                                    </p:anim>
                                    <p:animEffect transition="in" filter="wipe(up)">
                                      <p:cBhvr>
                                        <p:cTn id="36" dur="500"/>
                                        <p:tgtEl>
                                          <p:spTgt spid="29"/>
                                        </p:tgtEl>
                                      </p:cBhvr>
                                    </p:animEffect>
                                  </p:childTnLst>
                                </p:cTn>
                              </p:par>
                            </p:childTnLst>
                          </p:cTn>
                        </p:par>
                        <p:par>
                          <p:cTn id="37" fill="hold">
                            <p:stCondLst>
                              <p:cond delay="500"/>
                            </p:stCondLst>
                            <p:childTnLst>
                              <p:par>
                                <p:cTn id="38" presetID="53" presetClass="entr" presetSubtype="16"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p:cTn id="40" dur="500" fill="hold"/>
                                        <p:tgtEl>
                                          <p:spTgt spid="18"/>
                                        </p:tgtEl>
                                        <p:attrNameLst>
                                          <p:attrName>ppt_w</p:attrName>
                                        </p:attrNameLst>
                                      </p:cBhvr>
                                      <p:tavLst>
                                        <p:tav tm="0">
                                          <p:val>
                                            <p:fltVal val="0"/>
                                          </p:val>
                                        </p:tav>
                                        <p:tav tm="100000">
                                          <p:val>
                                            <p:strVal val="#ppt_w"/>
                                          </p:val>
                                        </p:tav>
                                      </p:tavLst>
                                    </p:anim>
                                    <p:anim calcmode="lin" valueType="num">
                                      <p:cBhvr>
                                        <p:cTn id="41" dur="500" fill="hold"/>
                                        <p:tgtEl>
                                          <p:spTgt spid="18"/>
                                        </p:tgtEl>
                                        <p:attrNameLst>
                                          <p:attrName>ppt_h</p:attrName>
                                        </p:attrNameLst>
                                      </p:cBhvr>
                                      <p:tavLst>
                                        <p:tav tm="0">
                                          <p:val>
                                            <p:fltVal val="0"/>
                                          </p:val>
                                        </p:tav>
                                        <p:tav tm="100000">
                                          <p:val>
                                            <p:strVal val="#ppt_h"/>
                                          </p:val>
                                        </p:tav>
                                      </p:tavLst>
                                    </p:anim>
                                    <p:animEffect transition="in" filter="fade">
                                      <p:cBhvr>
                                        <p:cTn id="42" dur="500"/>
                                        <p:tgtEl>
                                          <p:spTgt spid="18"/>
                                        </p:tgtEl>
                                      </p:cBhvr>
                                    </p:animEffect>
                                  </p:childTnLst>
                                </p:cTn>
                              </p:par>
                            </p:childTnLst>
                          </p:cTn>
                        </p:par>
                        <p:par>
                          <p:cTn id="43" fill="hold">
                            <p:stCondLst>
                              <p:cond delay="1000"/>
                            </p:stCondLst>
                            <p:childTnLst>
                              <p:par>
                                <p:cTn id="44" presetID="53" presetClass="entr" presetSubtype="16"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p:cTn id="46" dur="500" fill="hold"/>
                                        <p:tgtEl>
                                          <p:spTgt spid="19"/>
                                        </p:tgtEl>
                                        <p:attrNameLst>
                                          <p:attrName>ppt_w</p:attrName>
                                        </p:attrNameLst>
                                      </p:cBhvr>
                                      <p:tavLst>
                                        <p:tav tm="0">
                                          <p:val>
                                            <p:fltVal val="0"/>
                                          </p:val>
                                        </p:tav>
                                        <p:tav tm="100000">
                                          <p:val>
                                            <p:strVal val="#ppt_w"/>
                                          </p:val>
                                        </p:tav>
                                      </p:tavLst>
                                    </p:anim>
                                    <p:anim calcmode="lin" valueType="num">
                                      <p:cBhvr>
                                        <p:cTn id="47" dur="500" fill="hold"/>
                                        <p:tgtEl>
                                          <p:spTgt spid="19"/>
                                        </p:tgtEl>
                                        <p:attrNameLst>
                                          <p:attrName>ppt_h</p:attrName>
                                        </p:attrNameLst>
                                      </p:cBhvr>
                                      <p:tavLst>
                                        <p:tav tm="0">
                                          <p:val>
                                            <p:fltVal val="0"/>
                                          </p:val>
                                        </p:tav>
                                        <p:tav tm="100000">
                                          <p:val>
                                            <p:strVal val="#ppt_h"/>
                                          </p:val>
                                        </p:tav>
                                      </p:tavLst>
                                    </p:anim>
                                    <p:animEffect transition="in" filter="fade">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p:tgtEl>
                                          <p:spTgt spid="20"/>
                                        </p:tgtEl>
                                        <p:attrNameLst>
                                          <p:attrName>ppt_y</p:attrName>
                                        </p:attrNameLst>
                                      </p:cBhvr>
                                      <p:tavLst>
                                        <p:tav tm="0">
                                          <p:val>
                                            <p:strVal val="#ppt_y+#ppt_h*1.125000"/>
                                          </p:val>
                                        </p:tav>
                                        <p:tav tm="100000">
                                          <p:val>
                                            <p:strVal val="#ppt_y"/>
                                          </p:val>
                                        </p:tav>
                                      </p:tavLst>
                                    </p:anim>
                                    <p:animEffect transition="in" filter="wipe(up)">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4"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p:tgtEl>
                                          <p:spTgt spid="23"/>
                                        </p:tgtEl>
                                        <p:attrNameLst>
                                          <p:attrName>ppt_y</p:attrName>
                                        </p:attrNameLst>
                                      </p:cBhvr>
                                      <p:tavLst>
                                        <p:tav tm="0">
                                          <p:val>
                                            <p:strVal val="#ppt_y+#ppt_h*1.125000"/>
                                          </p:val>
                                        </p:tav>
                                        <p:tav tm="100000">
                                          <p:val>
                                            <p:strVal val="#ppt_y"/>
                                          </p:val>
                                        </p:tav>
                                      </p:tavLst>
                                    </p:anim>
                                    <p:animEffect transition="in" filter="wipe(up)">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p:tgtEl>
                                          <p:spTgt spid="24"/>
                                        </p:tgtEl>
                                        <p:attrNameLst>
                                          <p:attrName>ppt_y</p:attrName>
                                        </p:attrNameLst>
                                      </p:cBhvr>
                                      <p:tavLst>
                                        <p:tav tm="0">
                                          <p:val>
                                            <p:strVal val="#ppt_y+#ppt_h*1.125000"/>
                                          </p:val>
                                        </p:tav>
                                        <p:tav tm="100000">
                                          <p:val>
                                            <p:strVal val="#ppt_y"/>
                                          </p:val>
                                        </p:tav>
                                      </p:tavLst>
                                    </p:anim>
                                    <p:animEffect transition="in" filter="wipe(up)">
                                      <p:cBhvr>
                                        <p:cTn id="66" dur="500"/>
                                        <p:tgtEl>
                                          <p:spTgt spid="24"/>
                                        </p:tgtEl>
                                      </p:cBhvr>
                                    </p:animEffect>
                                  </p:childTnLst>
                                </p:cTn>
                              </p:par>
                            </p:childTnLst>
                          </p:cTn>
                        </p:par>
                        <p:par>
                          <p:cTn id="67" fill="hold">
                            <p:stCondLst>
                              <p:cond delay="500"/>
                            </p:stCondLst>
                            <p:childTnLst>
                              <p:par>
                                <p:cTn id="68" presetID="12" presetClass="entr" presetSubtype="4" fill="hold" grpId="0" nodeType="afterEffect">
                                  <p:stCondLst>
                                    <p:cond delay="0"/>
                                  </p:stCondLst>
                                  <p:childTnLst>
                                    <p:set>
                                      <p:cBhvr>
                                        <p:cTn id="69" dur="1" fill="hold">
                                          <p:stCondLst>
                                            <p:cond delay="0"/>
                                          </p:stCondLst>
                                        </p:cTn>
                                        <p:tgtEl>
                                          <p:spTgt spid="27"/>
                                        </p:tgtEl>
                                        <p:attrNameLst>
                                          <p:attrName>style.visibility</p:attrName>
                                        </p:attrNameLst>
                                      </p:cBhvr>
                                      <p:to>
                                        <p:strVal val="visible"/>
                                      </p:to>
                                    </p:set>
                                    <p:anim calcmode="lin" valueType="num">
                                      <p:cBhvr additive="base">
                                        <p:cTn id="70" dur="500"/>
                                        <p:tgtEl>
                                          <p:spTgt spid="27"/>
                                        </p:tgtEl>
                                        <p:attrNameLst>
                                          <p:attrName>ppt_y</p:attrName>
                                        </p:attrNameLst>
                                      </p:cBhvr>
                                      <p:tavLst>
                                        <p:tav tm="0">
                                          <p:val>
                                            <p:strVal val="#ppt_y+#ppt_h*1.125000"/>
                                          </p:val>
                                        </p:tav>
                                        <p:tav tm="100000">
                                          <p:val>
                                            <p:strVal val="#ppt_y"/>
                                          </p:val>
                                        </p:tav>
                                      </p:tavLst>
                                    </p:anim>
                                    <p:animEffect transition="in" filter="wipe(up)">
                                      <p:cBhvr>
                                        <p:cTn id="7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P spid="20" grpId="0" animBg="1"/>
      <p:bldP spid="23" grpId="0" animBg="1"/>
      <p:bldP spid="24" grpId="0" animBg="1"/>
      <p:bldP spid="27" grpId="0" animBg="1"/>
      <p:bldP spid="16"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12</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646365" y="2015740"/>
                <a:ext cx="11545635" cy="214225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x-none" sz="3200" i="1" smtClean="0">
                              <a:latin typeface="Cambria Math" panose="02040503050406030204" pitchFamily="18" charset="0"/>
                            </a:rPr>
                          </m:ctrlPr>
                        </m:fPr>
                        <m:num>
                          <m:r>
                            <a:rPr lang="x-none" sz="3200" i="1" smtClean="0">
                              <a:latin typeface="Cambria Math" panose="02040503050406030204" pitchFamily="18" charset="0"/>
                              <a:ea typeface="Cambria Math" panose="02040503050406030204" pitchFamily="18" charset="0"/>
                            </a:rPr>
                            <m:t>∆</m:t>
                          </m:r>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𝐿𝑜𝑎𝑛𝑠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num>
                        <m:den>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𝐴𝑠𝑠𝑒𝑡𝑠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den>
                      </m:f>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𝐽𝑃𝐴𝑅𝐸𝑁𝑇</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𝐽𝐴𝑃𝐴𝑁</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3</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𝑈𝑆</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𝜀</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oMath>
                </a14:m>
                <a:endParaRPr lang="x-none" sz="3200" dirty="0"/>
              </a:p>
            </p:txBody>
          </p:sp>
        </mc:Choice>
        <mc:Fallback xmlns="">
          <p:sp>
            <p:nvSpPr>
              <p:cNvPr id="5" name="TextBox 4">
                <a:extLst>
                  <a:ext uri="{FF2B5EF4-FFF2-40B4-BE49-F238E27FC236}">
                    <a16:creationId xmlns:a16="http://schemas.microsoft.com/office/drawing/2014/main" id="{F442637E-3FF1-AFD2-ACBB-BA40C7E15F23}"/>
                  </a:ext>
                </a:extLst>
              </p:cNvPr>
              <p:cNvSpPr txBox="1">
                <a:spLocks noRot="1" noChangeAspect="1" noMove="1" noResize="1" noEditPoints="1" noAdjustHandles="1" noChangeArrowheads="1" noChangeShapeType="1" noTextEdit="1"/>
              </p:cNvSpPr>
              <p:nvPr/>
            </p:nvSpPr>
            <p:spPr>
              <a:xfrm>
                <a:off x="646365" y="2015740"/>
                <a:ext cx="11545635" cy="2142253"/>
              </a:xfrm>
              <a:prstGeom prst="rect">
                <a:avLst/>
              </a:prstGeom>
              <a:blipFill>
                <a:blip r:embed="rId3"/>
                <a:stretch>
                  <a:fillRect l="-1207" b="-5294"/>
                </a:stretch>
              </a:blipFill>
            </p:spPr>
            <p:txBody>
              <a:bodyPr/>
              <a:lstStyle/>
              <a:p>
                <a:r>
                  <a:rPr lang="en-EG">
                    <a:noFill/>
                  </a:rPr>
                  <a:t> </a:t>
                </a:r>
              </a:p>
            </p:txBody>
          </p:sp>
        </mc:Fallback>
      </mc:AlternateContent>
      <p:sp>
        <p:nvSpPr>
          <p:cNvPr id="23" name="Rectangle 22">
            <a:extLst>
              <a:ext uri="{FF2B5EF4-FFF2-40B4-BE49-F238E27FC236}">
                <a16:creationId xmlns:a16="http://schemas.microsoft.com/office/drawing/2014/main" id="{B3D9026B-71BA-D176-3E73-699CBC8BBFDB}"/>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24" name="Oval 23">
            <a:extLst>
              <a:ext uri="{FF2B5EF4-FFF2-40B4-BE49-F238E27FC236}">
                <a16:creationId xmlns:a16="http://schemas.microsoft.com/office/drawing/2014/main" id="{5C29885D-9D0C-9005-CAAC-AC06A9786374}"/>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25" name="TextBox 24">
            <a:extLst>
              <a:ext uri="{FF2B5EF4-FFF2-40B4-BE49-F238E27FC236}">
                <a16:creationId xmlns:a16="http://schemas.microsoft.com/office/drawing/2014/main" id="{97FF49E6-DF93-7682-8DD3-E1BCCBA5B3E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31" name="Rectangle 30">
            <a:extLst>
              <a:ext uri="{FF2B5EF4-FFF2-40B4-BE49-F238E27FC236}">
                <a16:creationId xmlns:a16="http://schemas.microsoft.com/office/drawing/2014/main" id="{CFD21D27-2FEF-FA6B-C2FE-96CA8B996521}"/>
              </a:ext>
            </a:extLst>
          </p:cNvPr>
          <p:cNvSpPr/>
          <p:nvPr/>
        </p:nvSpPr>
        <p:spPr>
          <a:xfrm>
            <a:off x="646365" y="1978669"/>
            <a:ext cx="2103679" cy="1199019"/>
          </a:xfrm>
          <a:prstGeom prst="rect">
            <a:avLst/>
          </a:prstGeom>
          <a:solidFill>
            <a:schemeClr val="accent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tx1"/>
              </a:solidFill>
              <a:latin typeface="Times" pitchFamily="2" charset="0"/>
            </a:endParaRPr>
          </a:p>
        </p:txBody>
      </p:sp>
      <p:sp>
        <p:nvSpPr>
          <p:cNvPr id="11" name="TextBox 10"/>
          <p:cNvSpPr txBox="1"/>
          <p:nvPr/>
        </p:nvSpPr>
        <p:spPr>
          <a:xfrm>
            <a:off x="467670" y="4802681"/>
            <a:ext cx="11148238" cy="769441"/>
          </a:xfrm>
          <a:prstGeom prst="rect">
            <a:avLst/>
          </a:prstGeom>
          <a:noFill/>
          <a:ln>
            <a:solidFill>
              <a:schemeClr val="accent5">
                <a:lumMod val="60000"/>
                <a:lumOff val="40000"/>
              </a:schemeClr>
            </a:solidFill>
          </a:ln>
        </p:spPr>
        <p:txBody>
          <a:bodyPr wrap="square" rtlCol="0">
            <a:spAutoFit/>
          </a:bodyPr>
          <a:lstStyle/>
          <a:p>
            <a:pPr marL="285750" indent="-285750">
              <a:buFont typeface="Wingdings" pitchFamily="2" charset="2"/>
              <a:buChar char="§"/>
            </a:pPr>
            <a:r>
              <a:rPr lang="en-US" sz="2200" dirty="0">
                <a:latin typeface="Times New Roman" pitchFamily="18" charset="0"/>
                <a:cs typeface="Times New Roman" pitchFamily="18" charset="0"/>
              </a:rPr>
              <a:t>The change in </a:t>
            </a:r>
            <a:r>
              <a:rPr lang="en-US" sz="2200" b="1" dirty="0">
                <a:solidFill>
                  <a:schemeClr val="accent5">
                    <a:lumMod val="75000"/>
                  </a:schemeClr>
                </a:solidFill>
                <a:latin typeface="Times New Roman" pitchFamily="18" charset="0"/>
                <a:cs typeface="Times New Roman" pitchFamily="18" charset="0"/>
              </a:rPr>
              <a:t>total commercial real estate </a:t>
            </a:r>
            <a:r>
              <a:rPr lang="en-US" sz="2200" dirty="0">
                <a:latin typeface="Times New Roman" pitchFamily="18" charset="0"/>
                <a:cs typeface="Times New Roman" pitchFamily="18" charset="0"/>
              </a:rPr>
              <a:t>loans divided by the beginning-of-period assets held by that bank in that state</a:t>
            </a:r>
          </a:p>
        </p:txBody>
      </p:sp>
    </p:spTree>
    <p:extLst>
      <p:ext uri="{BB962C8B-B14F-4D97-AF65-F5344CB8AC3E}">
        <p14:creationId xmlns:p14="http://schemas.microsoft.com/office/powerpoint/2010/main" val="22651592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13</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646365" y="2015740"/>
                <a:ext cx="11545635" cy="214225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x-none" sz="3200" i="1" smtClean="0">
                              <a:latin typeface="Cambria Math" panose="02040503050406030204" pitchFamily="18" charset="0"/>
                            </a:rPr>
                          </m:ctrlPr>
                        </m:fPr>
                        <m:num>
                          <m:r>
                            <a:rPr lang="x-none" sz="3200" i="1" smtClean="0">
                              <a:latin typeface="Cambria Math" panose="02040503050406030204" pitchFamily="18" charset="0"/>
                              <a:ea typeface="Cambria Math" panose="02040503050406030204" pitchFamily="18" charset="0"/>
                            </a:rPr>
                            <m:t>∆</m:t>
                          </m:r>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𝐿𝑜𝑎𝑛𝑠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num>
                        <m:den>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𝐴𝑠𝑠𝑒𝑡𝑠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den>
                      </m:f>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𝐽𝑃𝐴𝑅𝐸𝑁𝑇</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𝐽𝐴𝑃𝐴𝑁</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3</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𝑈𝑆</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𝜀</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oMath>
                </a14:m>
                <a:endParaRPr lang="x-none" sz="3200" dirty="0"/>
              </a:p>
            </p:txBody>
          </p:sp>
        </mc:Choice>
        <mc:Fallback xmlns="">
          <p:sp>
            <p:nvSpPr>
              <p:cNvPr id="5" name="TextBox 4">
                <a:extLst>
                  <a:ext uri="{FF2B5EF4-FFF2-40B4-BE49-F238E27FC236}">
                    <a16:creationId xmlns:a16="http://schemas.microsoft.com/office/drawing/2014/main" id="{F442637E-3FF1-AFD2-ACBB-BA40C7E15F23}"/>
                  </a:ext>
                </a:extLst>
              </p:cNvPr>
              <p:cNvSpPr txBox="1">
                <a:spLocks noRot="1" noChangeAspect="1" noMove="1" noResize="1" noEditPoints="1" noAdjustHandles="1" noChangeArrowheads="1" noChangeShapeType="1" noTextEdit="1"/>
              </p:cNvSpPr>
              <p:nvPr/>
            </p:nvSpPr>
            <p:spPr>
              <a:xfrm>
                <a:off x="646365" y="2015740"/>
                <a:ext cx="11545635" cy="2142253"/>
              </a:xfrm>
              <a:prstGeom prst="rect">
                <a:avLst/>
              </a:prstGeom>
              <a:blipFill>
                <a:blip r:embed="rId3"/>
                <a:stretch>
                  <a:fillRect l="-1207" b="-5294"/>
                </a:stretch>
              </a:blipFill>
            </p:spPr>
            <p:txBody>
              <a:bodyPr/>
              <a:lstStyle/>
              <a:p>
                <a:r>
                  <a:rPr lang="en-EG">
                    <a:noFill/>
                  </a:rPr>
                  <a:t> </a:t>
                </a:r>
              </a:p>
            </p:txBody>
          </p:sp>
        </mc:Fallback>
      </mc:AlternateContent>
      <p:sp>
        <p:nvSpPr>
          <p:cNvPr id="35" name="Rectangle 34">
            <a:extLst>
              <a:ext uri="{FF2B5EF4-FFF2-40B4-BE49-F238E27FC236}">
                <a16:creationId xmlns:a16="http://schemas.microsoft.com/office/drawing/2014/main" id="{30DFB6B1-0846-21BE-DFBC-2275813F2AA2}"/>
              </a:ext>
            </a:extLst>
          </p:cNvPr>
          <p:cNvSpPr/>
          <p:nvPr/>
        </p:nvSpPr>
        <p:spPr>
          <a:xfrm>
            <a:off x="3562560" y="2978116"/>
            <a:ext cx="2665245"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2ADC5554-07C1-490A-0996-961C036727D8}"/>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51" name="Oval 50">
            <a:extLst>
              <a:ext uri="{FF2B5EF4-FFF2-40B4-BE49-F238E27FC236}">
                <a16:creationId xmlns:a16="http://schemas.microsoft.com/office/drawing/2014/main" id="{9EFFD09C-2F11-C7F7-C2AD-4F15FB8A62D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52" name="TextBox 51">
            <a:extLst>
              <a:ext uri="{FF2B5EF4-FFF2-40B4-BE49-F238E27FC236}">
                <a16:creationId xmlns:a16="http://schemas.microsoft.com/office/drawing/2014/main" id="{6074A089-3E63-D07D-CA55-9F5E08BF55F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2" name="TextBox 1"/>
          <p:cNvSpPr txBox="1"/>
          <p:nvPr/>
        </p:nvSpPr>
        <p:spPr>
          <a:xfrm>
            <a:off x="228087" y="4417358"/>
            <a:ext cx="11107864" cy="1938992"/>
          </a:xfrm>
          <a:prstGeom prst="rect">
            <a:avLst/>
          </a:prstGeom>
          <a:noFill/>
        </p:spPr>
        <p:txBody>
          <a:bodyPr wrap="square" rtlCol="0">
            <a:spAutoFit/>
          </a:bodyPr>
          <a:lstStyle/>
          <a:p>
            <a:pPr marL="285750" indent="-285750">
              <a:buFont typeface="Wingdings" pitchFamily="2" charset="2"/>
              <a:buChar char="§"/>
            </a:pPr>
            <a:r>
              <a:rPr lang="en-US" sz="2200" dirty="0">
                <a:latin typeface="Times New Roman" pitchFamily="18" charset="0"/>
                <a:cs typeface="Times New Roman" pitchFamily="18" charset="0"/>
              </a:rPr>
              <a:t>the ratio of </a:t>
            </a:r>
            <a:r>
              <a:rPr lang="en-US" sz="2200" b="1" dirty="0">
                <a:solidFill>
                  <a:schemeClr val="accent1"/>
                </a:solidFill>
                <a:latin typeface="Times New Roman" pitchFamily="18" charset="0"/>
                <a:cs typeface="Times New Roman" pitchFamily="18" charset="0"/>
              </a:rPr>
              <a:t>nonperforming loans </a:t>
            </a:r>
            <a:r>
              <a:rPr lang="en-US" sz="2200" dirty="0">
                <a:latin typeface="Times New Roman" pitchFamily="18" charset="0"/>
                <a:cs typeface="Times New Roman" pitchFamily="18" charset="0"/>
              </a:rPr>
              <a:t>to risk-weighted assets</a:t>
            </a:r>
          </a:p>
          <a:p>
            <a:pPr marL="285750" indent="-285750">
              <a:buFont typeface="Wingdings" pitchFamily="2" charset="2"/>
              <a:buChar char="§"/>
            </a:pPr>
            <a:r>
              <a:rPr lang="en-US" sz="2200" dirty="0">
                <a:latin typeface="Times New Roman" pitchFamily="18" charset="0"/>
                <a:cs typeface="Times New Roman" pitchFamily="18" charset="0"/>
              </a:rPr>
              <a:t>dummy variable indicating the period during which nonperforming loans were available</a:t>
            </a:r>
          </a:p>
          <a:p>
            <a:pPr marL="285750" indent="-285750">
              <a:buFont typeface="Wingdings" pitchFamily="2" charset="2"/>
              <a:buChar char="§"/>
            </a:pPr>
            <a:r>
              <a:rPr lang="en-US" sz="2200" dirty="0">
                <a:latin typeface="Times New Roman" pitchFamily="18" charset="0"/>
                <a:cs typeface="Times New Roman" pitchFamily="18" charset="0"/>
              </a:rPr>
              <a:t>risk-based </a:t>
            </a:r>
            <a:r>
              <a:rPr lang="en-US" sz="2200" b="1" dirty="0">
                <a:solidFill>
                  <a:schemeClr val="accent1"/>
                </a:solidFill>
                <a:latin typeface="Times New Roman" pitchFamily="18" charset="0"/>
                <a:cs typeface="Times New Roman" pitchFamily="18" charset="0"/>
              </a:rPr>
              <a:t>capital ratio</a:t>
            </a:r>
          </a:p>
          <a:p>
            <a:pPr marL="285750" indent="-285750">
              <a:buFont typeface="Wingdings" pitchFamily="2" charset="2"/>
              <a:buChar char="§"/>
            </a:pPr>
            <a:endParaRPr lang="en-US" dirty="0"/>
          </a:p>
          <a:p>
            <a:endParaRPr lang="en-US" dirty="0"/>
          </a:p>
          <a:p>
            <a:pPr marL="285750" indent="-285750">
              <a:buFont typeface="Wingdings" pitchFamily="2" charset="2"/>
              <a:buChar char="§"/>
            </a:pPr>
            <a:endParaRPr lang="en-US" dirty="0"/>
          </a:p>
        </p:txBody>
      </p:sp>
      <p:sp>
        <p:nvSpPr>
          <p:cNvPr id="4" name="Rectangle 3"/>
          <p:cNvSpPr/>
          <p:nvPr/>
        </p:nvSpPr>
        <p:spPr>
          <a:xfrm>
            <a:off x="228087" y="4417358"/>
            <a:ext cx="10657416" cy="1565592"/>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202295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p:tgtEl>
                                          <p:spTgt spid="5"/>
                                        </p:tgtEl>
                                        <p:attrNameLst>
                                          <p:attrName>ppt_y</p:attrName>
                                        </p:attrNameLst>
                                      </p:cBhvr>
                                      <p:tavLst>
                                        <p:tav tm="0">
                                          <p:val>
                                            <p:strVal val="#ppt_y+#ppt_h*1.125000"/>
                                          </p:val>
                                        </p:tav>
                                        <p:tav tm="100000">
                                          <p:val>
                                            <p:strVal val="#ppt_y"/>
                                          </p:val>
                                        </p:tav>
                                      </p:tavLst>
                                    </p:anim>
                                    <p:animEffect transition="in" filter="wipe(up)">
                                      <p:cBhvr>
                                        <p:cTn id="8" dur="1000"/>
                                        <p:tgtEl>
                                          <p:spTgt spid="5"/>
                                        </p:tgtEl>
                                      </p:cBhvr>
                                    </p:animEffect>
                                  </p:childTnLst>
                                </p:cTn>
                              </p:par>
                              <p:par>
                                <p:cTn id="9" presetID="53" presetClass="entr" presetSubtype="16"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p:cTn id="11" dur="500" fill="hold"/>
                                        <p:tgtEl>
                                          <p:spTgt spid="35"/>
                                        </p:tgtEl>
                                        <p:attrNameLst>
                                          <p:attrName>ppt_w</p:attrName>
                                        </p:attrNameLst>
                                      </p:cBhvr>
                                      <p:tavLst>
                                        <p:tav tm="0">
                                          <p:val>
                                            <p:fltVal val="0"/>
                                          </p:val>
                                        </p:tav>
                                        <p:tav tm="100000">
                                          <p:val>
                                            <p:strVal val="#ppt_w"/>
                                          </p:val>
                                        </p:tav>
                                      </p:tavLst>
                                    </p:anim>
                                    <p:anim calcmode="lin" valueType="num">
                                      <p:cBhvr>
                                        <p:cTn id="12" dur="500" fill="hold"/>
                                        <p:tgtEl>
                                          <p:spTgt spid="35"/>
                                        </p:tgtEl>
                                        <p:attrNameLst>
                                          <p:attrName>ppt_h</p:attrName>
                                        </p:attrNameLst>
                                      </p:cBhvr>
                                      <p:tavLst>
                                        <p:tav tm="0">
                                          <p:val>
                                            <p:fltVal val="0"/>
                                          </p:val>
                                        </p:tav>
                                        <p:tav tm="100000">
                                          <p:val>
                                            <p:strVal val="#ppt_h"/>
                                          </p:val>
                                        </p:tav>
                                      </p:tavLst>
                                    </p:anim>
                                    <p:animEffect transition="in" filter="fade">
                                      <p:cBhvr>
                                        <p:cTn id="1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14</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646365" y="2015740"/>
                <a:ext cx="11545635" cy="214225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x-none" sz="3200" i="1" smtClean="0">
                              <a:latin typeface="Cambria Math" panose="02040503050406030204" pitchFamily="18" charset="0"/>
                            </a:rPr>
                          </m:ctrlPr>
                        </m:fPr>
                        <m:num>
                          <m:r>
                            <a:rPr lang="x-none" sz="3200" i="1" smtClean="0">
                              <a:latin typeface="Cambria Math" panose="02040503050406030204" pitchFamily="18" charset="0"/>
                              <a:ea typeface="Cambria Math" panose="02040503050406030204" pitchFamily="18" charset="0"/>
                            </a:rPr>
                            <m:t>∆</m:t>
                          </m:r>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𝐿𝑜𝑎𝑛𝑠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num>
                        <m:den>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𝐴𝑠𝑠𝑒𝑡𝑠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den>
                      </m:f>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𝐽𝑃𝐴𝑅𝐸𝑁𝑇</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𝐽𝐴𝑃𝐴𝑁</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3</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𝑈𝑆</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𝜀</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oMath>
                </a14:m>
                <a:endParaRPr lang="en-US" sz="3200" b="0" dirty="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646365" y="2015740"/>
                <a:ext cx="11545635" cy="2142253"/>
              </a:xfrm>
              <a:prstGeom prst="rect">
                <a:avLst/>
              </a:prstGeom>
              <a:blipFill rotWithShape="1">
                <a:blip r:embed="rId3"/>
                <a:stretch>
                  <a:fillRect l="-53"/>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2ADC5554-07C1-490A-0996-961C036727D8}"/>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51" name="Oval 50">
            <a:extLst>
              <a:ext uri="{FF2B5EF4-FFF2-40B4-BE49-F238E27FC236}">
                <a16:creationId xmlns:a16="http://schemas.microsoft.com/office/drawing/2014/main" id="{9EFFD09C-2F11-C7F7-C2AD-4F15FB8A62D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52" name="TextBox 51">
            <a:extLst>
              <a:ext uri="{FF2B5EF4-FFF2-40B4-BE49-F238E27FC236}">
                <a16:creationId xmlns:a16="http://schemas.microsoft.com/office/drawing/2014/main" id="{6074A089-3E63-D07D-CA55-9F5E08BF55F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2" name="TextBox 1"/>
          <p:cNvSpPr txBox="1"/>
          <p:nvPr/>
        </p:nvSpPr>
        <p:spPr>
          <a:xfrm>
            <a:off x="245935" y="4479403"/>
            <a:ext cx="11826459" cy="2277547"/>
          </a:xfrm>
          <a:prstGeom prst="rect">
            <a:avLst/>
          </a:prstGeom>
          <a:noFill/>
        </p:spPr>
        <p:txBody>
          <a:bodyPr wrap="square" rtlCol="0">
            <a:spAutoFit/>
          </a:bodyPr>
          <a:lstStyle/>
          <a:p>
            <a:pPr algn="just"/>
            <a:endParaRPr lang="en-US" sz="2200" dirty="0">
              <a:latin typeface="Times New Roman" pitchFamily="18" charset="0"/>
              <a:cs typeface="Times New Roman" pitchFamily="18" charset="0"/>
            </a:endParaRPr>
          </a:p>
          <a:p>
            <a:pPr marL="342900" indent="-342900" algn="just">
              <a:buFont typeface="Wingdings" pitchFamily="2" charset="2"/>
              <a:buChar char="§"/>
            </a:pPr>
            <a:r>
              <a:rPr lang="en-US" sz="2200" dirty="0">
                <a:latin typeface="Times New Roman" pitchFamily="18" charset="0"/>
                <a:cs typeface="Times New Roman" pitchFamily="18" charset="0"/>
              </a:rPr>
              <a:t>Dummy variable that has a value of  (1) for Japanese-owned banks and (0) otherwise</a:t>
            </a:r>
          </a:p>
          <a:p>
            <a:pPr marL="285750" indent="-285750" algn="just">
              <a:buFont typeface="Wingdings" pitchFamily="2" charset="2"/>
              <a:buChar char="§"/>
            </a:pPr>
            <a:r>
              <a:rPr lang="en-US" sz="2200" b="1" dirty="0">
                <a:solidFill>
                  <a:schemeClr val="accent1"/>
                </a:solidFill>
                <a:latin typeface="Times New Roman" pitchFamily="18" charset="0"/>
                <a:cs typeface="Times New Roman" pitchFamily="18" charset="0"/>
              </a:rPr>
              <a:t>Foreign direct investment </a:t>
            </a:r>
            <a:r>
              <a:rPr lang="en-US" sz="2200" dirty="0">
                <a:latin typeface="Times New Roman" pitchFamily="18" charset="0"/>
                <a:cs typeface="Times New Roman" pitchFamily="18" charset="0"/>
              </a:rPr>
              <a:t>(FDI) by Japanese companies in the United States over the prior six-month period</a:t>
            </a:r>
          </a:p>
          <a:p>
            <a:endParaRPr lang="en-US" dirty="0"/>
          </a:p>
          <a:p>
            <a:endParaRPr lang="en-US" dirty="0"/>
          </a:p>
          <a:p>
            <a:pPr marL="285750" indent="-285750">
              <a:buFont typeface="Wingdings" pitchFamily="2" charset="2"/>
              <a:buChar char="§"/>
            </a:pPr>
            <a:endParaRPr lang="en-US" dirty="0"/>
          </a:p>
        </p:txBody>
      </p:sp>
      <p:sp>
        <p:nvSpPr>
          <p:cNvPr id="15" name="Rectangle 14">
            <a:extLst>
              <a:ext uri="{FF2B5EF4-FFF2-40B4-BE49-F238E27FC236}">
                <a16:creationId xmlns:a16="http://schemas.microsoft.com/office/drawing/2014/main" id="{30DFB6B1-0846-21BE-DFBC-2275813F2AA2}"/>
              </a:ext>
            </a:extLst>
          </p:cNvPr>
          <p:cNvSpPr/>
          <p:nvPr/>
        </p:nvSpPr>
        <p:spPr>
          <a:xfrm>
            <a:off x="6621033" y="2978116"/>
            <a:ext cx="2665245"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45935" y="4699321"/>
            <a:ext cx="11826459" cy="1446835"/>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955349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p:tgtEl>
                                          <p:spTgt spid="5"/>
                                        </p:tgtEl>
                                        <p:attrNameLst>
                                          <p:attrName>ppt_y</p:attrName>
                                        </p:attrNameLst>
                                      </p:cBhvr>
                                      <p:tavLst>
                                        <p:tav tm="0">
                                          <p:val>
                                            <p:strVal val="#ppt_y+#ppt_h*1.125000"/>
                                          </p:val>
                                        </p:tav>
                                        <p:tav tm="100000">
                                          <p:val>
                                            <p:strVal val="#ppt_y"/>
                                          </p:val>
                                        </p:tav>
                                      </p:tavLst>
                                    </p:anim>
                                    <p:animEffect transition="in" filter="wipe(up)">
                                      <p:cBhvr>
                                        <p:cTn id="8" dur="1000"/>
                                        <p:tgtEl>
                                          <p:spTgt spid="5"/>
                                        </p:tgtEl>
                                      </p:cBhvr>
                                    </p:animEffect>
                                  </p:childTnLst>
                                </p:cTn>
                              </p:par>
                              <p:par>
                                <p:cTn id="9" presetID="53" presetClass="entr" presetSubtype="16"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7C673F1-8BBD-CDB5-1C77-86BBCD4155C8}"/>
              </a:ext>
            </a:extLst>
          </p:cNvPr>
          <p:cNvPicPr>
            <a:picLocks noGrp="1" noChangeAspect="1"/>
          </p:cNvPicPr>
          <p:nvPr>
            <p:ph idx="1"/>
          </p:nvPr>
        </p:nvPicPr>
        <p:blipFill>
          <a:blip r:embed="rId3"/>
          <a:stretch>
            <a:fillRect/>
          </a:stretch>
        </p:blipFill>
        <p:spPr>
          <a:xfrm>
            <a:off x="301250" y="1087119"/>
            <a:ext cx="6056572" cy="5634355"/>
          </a:xfrm>
        </p:spPr>
      </p:pic>
      <p:sp>
        <p:nvSpPr>
          <p:cNvPr id="3" name="Footer Placeholder 2">
            <a:extLst>
              <a:ext uri="{FF2B5EF4-FFF2-40B4-BE49-F238E27FC236}">
                <a16:creationId xmlns:a16="http://schemas.microsoft.com/office/drawing/2014/main" id="{81D19CAD-BA2A-CB85-837A-AD71267759A7}"/>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2B72854F-0CEE-63FD-2280-FC139D983703}"/>
              </a:ext>
            </a:extLst>
          </p:cNvPr>
          <p:cNvSpPr>
            <a:spLocks noGrp="1"/>
          </p:cNvSpPr>
          <p:nvPr>
            <p:ph type="sldNum" sz="quarter" idx="12"/>
          </p:nvPr>
        </p:nvSpPr>
        <p:spPr/>
        <p:txBody>
          <a:bodyPr/>
          <a:lstStyle/>
          <a:p>
            <a:fld id="{1AE92137-7C9E-4C4A-86B0-0BF68CCC1610}" type="slidenum">
              <a:rPr lang="x-none" smtClean="0"/>
              <a:pPr/>
              <a:t>15</a:t>
            </a:fld>
            <a:endParaRPr lang="x-none" dirty="0"/>
          </a:p>
        </p:txBody>
      </p:sp>
      <p:sp>
        <p:nvSpPr>
          <p:cNvPr id="8" name="Rectangle 7">
            <a:extLst>
              <a:ext uri="{FF2B5EF4-FFF2-40B4-BE49-F238E27FC236}">
                <a16:creationId xmlns:a16="http://schemas.microsoft.com/office/drawing/2014/main" id="{F3BC5EBD-2B5F-E335-BD67-111642222281}"/>
              </a:ext>
            </a:extLst>
          </p:cNvPr>
          <p:cNvSpPr/>
          <p:nvPr/>
        </p:nvSpPr>
        <p:spPr>
          <a:xfrm>
            <a:off x="379959" y="1600606"/>
            <a:ext cx="2118511" cy="1054831"/>
          </a:xfrm>
          <a:prstGeom prst="rect">
            <a:avLst/>
          </a:prstGeom>
          <a:solidFill>
            <a:schemeClr val="accent6">
              <a:lumMod val="60000"/>
              <a:lumOff val="40000"/>
              <a:alpha val="250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1" name="Rectangle 10">
            <a:extLst>
              <a:ext uri="{FF2B5EF4-FFF2-40B4-BE49-F238E27FC236}">
                <a16:creationId xmlns:a16="http://schemas.microsoft.com/office/drawing/2014/main" id="{86759700-0077-D20E-B6BC-A6133974F7DB}"/>
              </a:ext>
            </a:extLst>
          </p:cNvPr>
          <p:cNvSpPr/>
          <p:nvPr/>
        </p:nvSpPr>
        <p:spPr>
          <a:xfrm>
            <a:off x="379958" y="2759106"/>
            <a:ext cx="2118511" cy="615946"/>
          </a:xfrm>
          <a:prstGeom prst="rect">
            <a:avLst/>
          </a:prstGeom>
          <a:solidFill>
            <a:schemeClr val="tx2">
              <a:lumMod val="60000"/>
              <a:lumOff val="40000"/>
              <a:alpha val="250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3" name="Rectangle 12">
            <a:extLst>
              <a:ext uri="{FF2B5EF4-FFF2-40B4-BE49-F238E27FC236}">
                <a16:creationId xmlns:a16="http://schemas.microsoft.com/office/drawing/2014/main" id="{D9BB97B2-4C7E-D76A-91CB-466513384DD4}"/>
              </a:ext>
            </a:extLst>
          </p:cNvPr>
          <p:cNvSpPr/>
          <p:nvPr/>
        </p:nvSpPr>
        <p:spPr>
          <a:xfrm>
            <a:off x="379957" y="3443426"/>
            <a:ext cx="2118511" cy="1445097"/>
          </a:xfrm>
          <a:prstGeom prst="rect">
            <a:avLst/>
          </a:prstGeom>
          <a:solidFill>
            <a:srgbClr val="F4B22A">
              <a:alpha val="25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0" name="Rectangle 19">
            <a:extLst>
              <a:ext uri="{FF2B5EF4-FFF2-40B4-BE49-F238E27FC236}">
                <a16:creationId xmlns:a16="http://schemas.microsoft.com/office/drawing/2014/main" id="{E838A292-CEC9-D697-6D2D-44D950BAF4BA}"/>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21" name="Oval 20">
            <a:extLst>
              <a:ext uri="{FF2B5EF4-FFF2-40B4-BE49-F238E27FC236}">
                <a16:creationId xmlns:a16="http://schemas.microsoft.com/office/drawing/2014/main" id="{BFB3ED4B-8CCC-5F65-5B21-FBBEC4C6B4CA}"/>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22" name="TextBox 21">
            <a:extLst>
              <a:ext uri="{FF2B5EF4-FFF2-40B4-BE49-F238E27FC236}">
                <a16:creationId xmlns:a16="http://schemas.microsoft.com/office/drawing/2014/main" id="{8E1D3EFD-3FC8-8907-4E9F-AA54C1C9254E}"/>
              </a:ext>
            </a:extLst>
          </p:cNvPr>
          <p:cNvSpPr txBox="1"/>
          <p:nvPr/>
        </p:nvSpPr>
        <p:spPr>
          <a:xfrm>
            <a:off x="3251200" y="381064"/>
            <a:ext cx="2925801"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Empirical Results</a:t>
            </a:r>
          </a:p>
        </p:txBody>
      </p:sp>
      <p:pic>
        <p:nvPicPr>
          <p:cNvPr id="26" name="Picture 25">
            <a:extLst>
              <a:ext uri="{FF2B5EF4-FFF2-40B4-BE49-F238E27FC236}">
                <a16:creationId xmlns:a16="http://schemas.microsoft.com/office/drawing/2014/main" id="{4444A906-B189-C5D4-7B4D-5F3A38AC3103}"/>
              </a:ext>
            </a:extLst>
          </p:cNvPr>
          <p:cNvPicPr>
            <a:picLocks noChangeAspect="1"/>
          </p:cNvPicPr>
          <p:nvPr/>
        </p:nvPicPr>
        <p:blipFill>
          <a:blip r:embed="rId4"/>
          <a:stretch>
            <a:fillRect/>
          </a:stretch>
        </p:blipFill>
        <p:spPr>
          <a:xfrm>
            <a:off x="6490881" y="1326807"/>
            <a:ext cx="5454220" cy="1328630"/>
          </a:xfrm>
          <a:prstGeom prst="rect">
            <a:avLst/>
          </a:prstGeom>
        </p:spPr>
      </p:pic>
    </p:spTree>
    <p:extLst>
      <p:ext uri="{BB962C8B-B14F-4D97-AF65-F5344CB8AC3E}">
        <p14:creationId xmlns:p14="http://schemas.microsoft.com/office/powerpoint/2010/main" val="411401181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p:tgtEl>
                                          <p:spTgt spid="21"/>
                                        </p:tgtEl>
                                        <p:attrNameLst>
                                          <p:attrName>ppt_y</p:attrName>
                                        </p:attrNameLst>
                                      </p:cBhvr>
                                      <p:tavLst>
                                        <p:tav tm="0">
                                          <p:val>
                                            <p:strVal val="#ppt_y+#ppt_h*1.125000"/>
                                          </p:val>
                                        </p:tav>
                                        <p:tav tm="100000">
                                          <p:val>
                                            <p:strVal val="#ppt_y"/>
                                          </p:val>
                                        </p:tav>
                                      </p:tavLst>
                                    </p:anim>
                                    <p:animEffect transition="in" filter="wipe(up)">
                                      <p:cBhvr>
                                        <p:cTn id="8" dur="1000"/>
                                        <p:tgtEl>
                                          <p:spTgt spid="21"/>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000"/>
                                        <p:tgtEl>
                                          <p:spTgt spid="20"/>
                                        </p:tgtEl>
                                        <p:attrNameLst>
                                          <p:attrName>ppt_y</p:attrName>
                                        </p:attrNameLst>
                                      </p:cBhvr>
                                      <p:tavLst>
                                        <p:tav tm="0">
                                          <p:val>
                                            <p:strVal val="#ppt_y+#ppt_h*1.125000"/>
                                          </p:val>
                                        </p:tav>
                                        <p:tav tm="100000">
                                          <p:val>
                                            <p:strVal val="#ppt_y"/>
                                          </p:val>
                                        </p:tav>
                                      </p:tavLst>
                                    </p:anim>
                                    <p:animEffect transition="in" filter="wipe(up)">
                                      <p:cBhvr>
                                        <p:cTn id="12" dur="1000"/>
                                        <p:tgtEl>
                                          <p:spTgt spid="20"/>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p:tgtEl>
                                          <p:spTgt spid="22"/>
                                        </p:tgtEl>
                                        <p:attrNameLst>
                                          <p:attrName>ppt_y</p:attrName>
                                        </p:attrNameLst>
                                      </p:cBhvr>
                                      <p:tavLst>
                                        <p:tav tm="0">
                                          <p:val>
                                            <p:strVal val="#ppt_y+#ppt_h*1.125000"/>
                                          </p:val>
                                        </p:tav>
                                        <p:tav tm="100000">
                                          <p:val>
                                            <p:strVal val="#ppt_y"/>
                                          </p:val>
                                        </p:tav>
                                      </p:tavLst>
                                    </p:anim>
                                    <p:animEffect transition="in" filter="wipe(up)">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1000"/>
                                        <p:tgtEl>
                                          <p:spTgt spid="8"/>
                                        </p:tgtEl>
                                        <p:attrNameLst>
                                          <p:attrName>ppt_y</p:attrName>
                                        </p:attrNameLst>
                                      </p:cBhvr>
                                      <p:tavLst>
                                        <p:tav tm="0">
                                          <p:val>
                                            <p:strVal val="#ppt_y+#ppt_h*1.125000"/>
                                          </p:val>
                                        </p:tav>
                                        <p:tav tm="100000">
                                          <p:val>
                                            <p:strVal val="#ppt_y"/>
                                          </p:val>
                                        </p:tav>
                                      </p:tavLst>
                                    </p:anim>
                                    <p:animEffect transition="in" filter="wipe(up)">
                                      <p:cBhvr>
                                        <p:cTn id="30" dur="1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1000"/>
                                        <p:tgtEl>
                                          <p:spTgt spid="11"/>
                                        </p:tgtEl>
                                        <p:attrNameLst>
                                          <p:attrName>ppt_y</p:attrName>
                                        </p:attrNameLst>
                                      </p:cBhvr>
                                      <p:tavLst>
                                        <p:tav tm="0">
                                          <p:val>
                                            <p:strVal val="#ppt_y+#ppt_h*1.125000"/>
                                          </p:val>
                                        </p:tav>
                                        <p:tav tm="100000">
                                          <p:val>
                                            <p:strVal val="#ppt_y"/>
                                          </p:val>
                                        </p:tav>
                                      </p:tavLst>
                                    </p:anim>
                                    <p:animEffect transition="in" filter="wipe(up)">
                                      <p:cBhvr>
                                        <p:cTn id="36" dur="10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1000"/>
                                        <p:tgtEl>
                                          <p:spTgt spid="13"/>
                                        </p:tgtEl>
                                        <p:attrNameLst>
                                          <p:attrName>ppt_y</p:attrName>
                                        </p:attrNameLst>
                                      </p:cBhvr>
                                      <p:tavLst>
                                        <p:tav tm="0">
                                          <p:val>
                                            <p:strVal val="#ppt_y+#ppt_h*1.125000"/>
                                          </p:val>
                                        </p:tav>
                                        <p:tav tm="100000">
                                          <p:val>
                                            <p:strVal val="#ppt_y"/>
                                          </p:val>
                                        </p:tav>
                                      </p:tavLst>
                                    </p:anim>
                                    <p:animEffect transition="in" filter="wipe(up)">
                                      <p:cBhvr>
                                        <p:cTn id="4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20" grpId="0" animBg="1"/>
      <p:bldP spid="21" grpId="0" animBg="1"/>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1D19CAD-BA2A-CB85-837A-AD71267759A7}"/>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2B72854F-0CEE-63FD-2280-FC139D983703}"/>
              </a:ext>
            </a:extLst>
          </p:cNvPr>
          <p:cNvSpPr>
            <a:spLocks noGrp="1"/>
          </p:cNvSpPr>
          <p:nvPr>
            <p:ph type="sldNum" sz="quarter" idx="12"/>
          </p:nvPr>
        </p:nvSpPr>
        <p:spPr/>
        <p:txBody>
          <a:bodyPr/>
          <a:lstStyle/>
          <a:p>
            <a:fld id="{1AE92137-7C9E-4C4A-86B0-0BF68CCC1610}" type="slidenum">
              <a:rPr lang="x-none" smtClean="0"/>
              <a:pPr/>
              <a:t>16</a:t>
            </a:fld>
            <a:endParaRPr lang="x-none" dirty="0"/>
          </a:p>
        </p:txBody>
      </p:sp>
      <p:sp>
        <p:nvSpPr>
          <p:cNvPr id="12" name="Rectangle 11">
            <a:extLst>
              <a:ext uri="{FF2B5EF4-FFF2-40B4-BE49-F238E27FC236}">
                <a16:creationId xmlns:a16="http://schemas.microsoft.com/office/drawing/2014/main" id="{A59032BE-3523-F5B2-8486-3F00E48882A9}"/>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14" name="Oval 13">
            <a:extLst>
              <a:ext uri="{FF2B5EF4-FFF2-40B4-BE49-F238E27FC236}">
                <a16:creationId xmlns:a16="http://schemas.microsoft.com/office/drawing/2014/main" id="{2C4B264F-5464-D330-C3DB-858F0DC63768}"/>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15" name="TextBox 14">
            <a:extLst>
              <a:ext uri="{FF2B5EF4-FFF2-40B4-BE49-F238E27FC236}">
                <a16:creationId xmlns:a16="http://schemas.microsoft.com/office/drawing/2014/main" id="{D0609BA1-508C-BD3A-59C3-861B0E99B672}"/>
              </a:ext>
            </a:extLst>
          </p:cNvPr>
          <p:cNvSpPr txBox="1"/>
          <p:nvPr/>
        </p:nvSpPr>
        <p:spPr>
          <a:xfrm>
            <a:off x="3251200" y="381064"/>
            <a:ext cx="2786340"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Empirical Result</a:t>
            </a:r>
            <a:endParaRPr lang="x-none" sz="2800" b="1" dirty="0">
              <a:solidFill>
                <a:srgbClr val="0F5093"/>
              </a:solidFill>
              <a:latin typeface="Times" pitchFamily="2" charset="0"/>
              <a:ea typeface="+mj-ea"/>
              <a:cs typeface="+mj-cs"/>
            </a:endParaRPr>
          </a:p>
        </p:txBody>
      </p:sp>
      <p:sp>
        <p:nvSpPr>
          <p:cNvPr id="5" name="TextBox 4"/>
          <p:cNvSpPr txBox="1"/>
          <p:nvPr/>
        </p:nvSpPr>
        <p:spPr>
          <a:xfrm>
            <a:off x="548640" y="1625600"/>
            <a:ext cx="11226800" cy="738664"/>
          </a:xfrm>
          <a:prstGeom prst="rect">
            <a:avLst/>
          </a:prstGeom>
          <a:noFill/>
        </p:spPr>
        <p:txBody>
          <a:bodyPr wrap="square" rtlCol="0">
            <a:spAutoFit/>
          </a:bodyPr>
          <a:lstStyle/>
          <a:p>
            <a:pPr marL="285750" indent="-285750" algn="just">
              <a:buFont typeface="Wingdings" pitchFamily="2" charset="2"/>
              <a:buChar char="§"/>
            </a:pPr>
            <a:r>
              <a:rPr lang="en-US" dirty="0"/>
              <a:t> </a:t>
            </a:r>
            <a:r>
              <a:rPr lang="en-US" sz="2100" dirty="0">
                <a:latin typeface="Times New Roman" pitchFamily="18" charset="0"/>
                <a:cs typeface="Times New Roman" pitchFamily="18" charset="0"/>
              </a:rPr>
              <a:t>It has been established that </a:t>
            </a:r>
            <a:r>
              <a:rPr lang="en-US" sz="2100" b="1" dirty="0">
                <a:solidFill>
                  <a:schemeClr val="accent1"/>
                </a:solidFill>
                <a:latin typeface="Times New Roman" pitchFamily="18" charset="0"/>
                <a:cs typeface="Times New Roman" pitchFamily="18" charset="0"/>
              </a:rPr>
              <a:t>stock market and real estate problems in Japan </a:t>
            </a:r>
            <a:r>
              <a:rPr lang="en-US" sz="2100" dirty="0">
                <a:latin typeface="Times New Roman" pitchFamily="18" charset="0"/>
                <a:cs typeface="Times New Roman" pitchFamily="18" charset="0"/>
              </a:rPr>
              <a:t>were </a:t>
            </a:r>
            <a:r>
              <a:rPr lang="en-US" sz="2100" b="1" dirty="0">
                <a:solidFill>
                  <a:schemeClr val="accent1"/>
                </a:solidFill>
                <a:latin typeface="Times New Roman" pitchFamily="18" charset="0"/>
                <a:cs typeface="Times New Roman" pitchFamily="18" charset="0"/>
              </a:rPr>
              <a:t>transmitted</a:t>
            </a:r>
            <a:r>
              <a:rPr lang="en-US" sz="2100" dirty="0">
                <a:solidFill>
                  <a:schemeClr val="accent1"/>
                </a:solidFill>
                <a:latin typeface="Times New Roman" pitchFamily="18" charset="0"/>
                <a:cs typeface="Times New Roman" pitchFamily="18" charset="0"/>
              </a:rPr>
              <a:t> </a:t>
            </a:r>
            <a:r>
              <a:rPr lang="en-US" sz="2100" dirty="0">
                <a:latin typeface="Times New Roman" pitchFamily="18" charset="0"/>
                <a:cs typeface="Times New Roman" pitchFamily="18" charset="0"/>
              </a:rPr>
              <a:t>to </a:t>
            </a:r>
            <a:r>
              <a:rPr lang="en-US" sz="2100" b="1" dirty="0">
                <a:solidFill>
                  <a:schemeClr val="accent1"/>
                </a:solidFill>
                <a:latin typeface="Times New Roman" pitchFamily="18" charset="0"/>
                <a:cs typeface="Times New Roman" pitchFamily="18" charset="0"/>
              </a:rPr>
              <a:t>U.S. commercial real estate markets </a:t>
            </a:r>
            <a:r>
              <a:rPr lang="en-US" sz="2100" dirty="0">
                <a:latin typeface="Times New Roman" pitchFamily="18" charset="0"/>
                <a:cs typeface="Times New Roman" pitchFamily="18" charset="0"/>
              </a:rPr>
              <a:t>in the form of </a:t>
            </a:r>
            <a:r>
              <a:rPr lang="en-US" sz="2100" b="1" dirty="0">
                <a:solidFill>
                  <a:schemeClr val="accent1"/>
                </a:solidFill>
                <a:latin typeface="Times New Roman" pitchFamily="18" charset="0"/>
                <a:cs typeface="Times New Roman" pitchFamily="18" charset="0"/>
              </a:rPr>
              <a:t>reduced lending </a:t>
            </a:r>
            <a:r>
              <a:rPr lang="en-US" sz="2100" dirty="0">
                <a:latin typeface="Times New Roman" pitchFamily="18" charset="0"/>
                <a:cs typeface="Times New Roman" pitchFamily="18" charset="0"/>
              </a:rPr>
              <a:t>by Japanese bank affiliates</a:t>
            </a:r>
          </a:p>
        </p:txBody>
      </p:sp>
    </p:spTree>
    <p:extLst>
      <p:ext uri="{BB962C8B-B14F-4D97-AF65-F5344CB8AC3E}">
        <p14:creationId xmlns:p14="http://schemas.microsoft.com/office/powerpoint/2010/main" val="33632200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p:tgtEl>
                                          <p:spTgt spid="14"/>
                                        </p:tgtEl>
                                        <p:attrNameLst>
                                          <p:attrName>ppt_y</p:attrName>
                                        </p:attrNameLst>
                                      </p:cBhvr>
                                      <p:tavLst>
                                        <p:tav tm="0">
                                          <p:val>
                                            <p:strVal val="#ppt_y+#ppt_h*1.125000"/>
                                          </p:val>
                                        </p:tav>
                                        <p:tav tm="100000">
                                          <p:val>
                                            <p:strVal val="#ppt_y"/>
                                          </p:val>
                                        </p:tav>
                                      </p:tavLst>
                                    </p:anim>
                                    <p:animEffect transition="in" filter="wipe(up)">
                                      <p:cBhvr>
                                        <p:cTn id="8" dur="1000"/>
                                        <p:tgtEl>
                                          <p:spTgt spid="1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p:tgtEl>
                                          <p:spTgt spid="12"/>
                                        </p:tgtEl>
                                        <p:attrNameLst>
                                          <p:attrName>ppt_y</p:attrName>
                                        </p:attrNameLst>
                                      </p:cBhvr>
                                      <p:tavLst>
                                        <p:tav tm="0">
                                          <p:val>
                                            <p:strVal val="#ppt_y+#ppt_h*1.125000"/>
                                          </p:val>
                                        </p:tav>
                                        <p:tav tm="100000">
                                          <p:val>
                                            <p:strVal val="#ppt_y"/>
                                          </p:val>
                                        </p:tav>
                                      </p:tavLst>
                                    </p:anim>
                                    <p:animEffect transition="in" filter="wipe(up)">
                                      <p:cBhvr>
                                        <p:cTn id="12" dur="1000"/>
                                        <p:tgtEl>
                                          <p:spTgt spid="12"/>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ppt_y</p:attrName>
                                        </p:attrNameLst>
                                      </p:cBhvr>
                                      <p:tavLst>
                                        <p:tav tm="0">
                                          <p:val>
                                            <p:strVal val="#ppt_y+#ppt_h*1.125000"/>
                                          </p:val>
                                        </p:tav>
                                        <p:tav tm="100000">
                                          <p:val>
                                            <p:strVal val="#ppt_y"/>
                                          </p:val>
                                        </p:tav>
                                      </p:tavLst>
                                    </p:anim>
                                    <p:animEffect transition="in" filter="wipe(up)">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838200" y="365125"/>
            <a:ext cx="10515600" cy="993225"/>
          </a:xfrm>
        </p:spPr>
        <p:txBody>
          <a:bodyPr/>
          <a:lstStyle/>
          <a:p>
            <a:r>
              <a:rPr lang="x-none" dirty="0">
                <a:latin typeface="Times" pitchFamily="2" charset="0"/>
              </a:rPr>
              <a:t>Structure</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17</a:t>
            </a:fld>
            <a:endParaRPr lang="x-none" dirty="0"/>
          </a:p>
        </p:txBody>
      </p:sp>
      <p:sp>
        <p:nvSpPr>
          <p:cNvPr id="14" name="Rectangle 13">
            <a:extLst>
              <a:ext uri="{FF2B5EF4-FFF2-40B4-BE49-F238E27FC236}">
                <a16:creationId xmlns:a16="http://schemas.microsoft.com/office/drawing/2014/main" id="{AAC5588F-5F9B-D65D-5FA6-949F45BE95C3}"/>
              </a:ext>
            </a:extLst>
          </p:cNvPr>
          <p:cNvSpPr/>
          <p:nvPr/>
        </p:nvSpPr>
        <p:spPr>
          <a:xfrm>
            <a:off x="1361873" y="1507788"/>
            <a:ext cx="9883302"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Introduction and Overview</a:t>
            </a:r>
            <a:endParaRPr lang="en-US" sz="2800" dirty="0">
              <a:solidFill>
                <a:schemeClr val="tx1"/>
              </a:solidFill>
              <a:latin typeface="Times" pitchFamily="2" charset="0"/>
            </a:endParaRPr>
          </a:p>
        </p:txBody>
      </p:sp>
      <p:sp>
        <p:nvSpPr>
          <p:cNvPr id="17" name="Rectangle 16">
            <a:extLst>
              <a:ext uri="{FF2B5EF4-FFF2-40B4-BE49-F238E27FC236}">
                <a16:creationId xmlns:a16="http://schemas.microsoft.com/office/drawing/2014/main" id="{1DC30FD7-5FF1-0CD6-BB2B-1220A8EF2BCA}"/>
              </a:ext>
            </a:extLst>
          </p:cNvPr>
          <p:cNvSpPr/>
          <p:nvPr/>
        </p:nvSpPr>
        <p:spPr>
          <a:xfrm>
            <a:off x="1750979" y="2453971"/>
            <a:ext cx="9494196"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4500"/>
            <a:r>
              <a:rPr lang="x-none" sz="2800" dirty="0">
                <a:solidFill>
                  <a:schemeClr val="tx1"/>
                </a:solidFill>
                <a:latin typeface="Times" pitchFamily="2" charset="0"/>
              </a:rPr>
              <a:t>Sample, Data, and Limitation</a:t>
            </a:r>
            <a:endParaRPr lang="en-US" sz="2800" dirty="0">
              <a:solidFill>
                <a:schemeClr val="tx1"/>
              </a:solidFill>
              <a:latin typeface="Times" pitchFamily="2" charset="0"/>
            </a:endParaRPr>
          </a:p>
        </p:txBody>
      </p:sp>
      <p:sp>
        <p:nvSpPr>
          <p:cNvPr id="19" name="Rectangle 18">
            <a:extLst>
              <a:ext uri="{FF2B5EF4-FFF2-40B4-BE49-F238E27FC236}">
                <a16:creationId xmlns:a16="http://schemas.microsoft.com/office/drawing/2014/main" id="{195B547B-7200-A753-DD5B-1DEB7F1C9001}"/>
              </a:ext>
            </a:extLst>
          </p:cNvPr>
          <p:cNvSpPr/>
          <p:nvPr/>
        </p:nvSpPr>
        <p:spPr>
          <a:xfrm>
            <a:off x="2140085" y="3409880"/>
            <a:ext cx="9105090"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Transmission: Methodology and Results</a:t>
            </a:r>
            <a:endParaRPr lang="x-none" sz="2800" dirty="0"/>
          </a:p>
        </p:txBody>
      </p:sp>
      <p:sp>
        <p:nvSpPr>
          <p:cNvPr id="21" name="Rectangle 20">
            <a:extLst>
              <a:ext uri="{FF2B5EF4-FFF2-40B4-BE49-F238E27FC236}">
                <a16:creationId xmlns:a16="http://schemas.microsoft.com/office/drawing/2014/main" id="{D76F4944-442A-EB3A-98F5-FF54DE0D25CD}"/>
              </a:ext>
            </a:extLst>
          </p:cNvPr>
          <p:cNvSpPr/>
          <p:nvPr/>
        </p:nvSpPr>
        <p:spPr>
          <a:xfrm>
            <a:off x="2529191" y="4375515"/>
            <a:ext cx="8715984"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Real Effects: Methodology and Results</a:t>
            </a:r>
            <a:endParaRPr lang="x-none" sz="2800" dirty="0"/>
          </a:p>
        </p:txBody>
      </p:sp>
      <p:sp>
        <p:nvSpPr>
          <p:cNvPr id="23" name="Rectangle 22">
            <a:extLst>
              <a:ext uri="{FF2B5EF4-FFF2-40B4-BE49-F238E27FC236}">
                <a16:creationId xmlns:a16="http://schemas.microsoft.com/office/drawing/2014/main" id="{6858A3C6-4F49-AEC5-B95E-1D4F6E4DB932}"/>
              </a:ext>
            </a:extLst>
          </p:cNvPr>
          <p:cNvSpPr/>
          <p:nvPr/>
        </p:nvSpPr>
        <p:spPr>
          <a:xfrm>
            <a:off x="2908570" y="5312893"/>
            <a:ext cx="8336605"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a:r>
              <a:rPr lang="x-none" sz="2800" dirty="0">
                <a:solidFill>
                  <a:schemeClr val="tx1"/>
                </a:solidFill>
                <a:latin typeface="Times" pitchFamily="2" charset="0"/>
              </a:rPr>
              <a:t>Conclusion</a:t>
            </a:r>
          </a:p>
        </p:txBody>
      </p:sp>
      <p:sp>
        <p:nvSpPr>
          <p:cNvPr id="25" name="Rectangle 24">
            <a:extLst>
              <a:ext uri="{FF2B5EF4-FFF2-40B4-BE49-F238E27FC236}">
                <a16:creationId xmlns:a16="http://schemas.microsoft.com/office/drawing/2014/main" id="{30C79B97-7D6C-23D8-602B-1AAA0934A4B5}"/>
              </a:ext>
            </a:extLst>
          </p:cNvPr>
          <p:cNvSpPr/>
          <p:nvPr/>
        </p:nvSpPr>
        <p:spPr>
          <a:xfrm>
            <a:off x="2529190" y="4376658"/>
            <a:ext cx="8725711" cy="778213"/>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bg1"/>
                </a:solidFill>
                <a:latin typeface="Times" pitchFamily="2" charset="0"/>
              </a:rPr>
              <a:t>Real Effects: Methodology and Results</a:t>
            </a:r>
            <a:endParaRPr lang="x-none" sz="2800" dirty="0">
              <a:solidFill>
                <a:schemeClr val="bg1"/>
              </a:solidFill>
            </a:endParaRPr>
          </a:p>
        </p:txBody>
      </p:sp>
      <p:sp>
        <p:nvSpPr>
          <p:cNvPr id="13" name="Oval 12">
            <a:extLst>
              <a:ext uri="{FF2B5EF4-FFF2-40B4-BE49-F238E27FC236}">
                <a16:creationId xmlns:a16="http://schemas.microsoft.com/office/drawing/2014/main" id="{C3711E62-76FC-9067-B3AA-F3ADE8F3C6E3}"/>
              </a:ext>
            </a:extLst>
          </p:cNvPr>
          <p:cNvSpPr/>
          <p:nvPr/>
        </p:nvSpPr>
        <p:spPr>
          <a:xfrm>
            <a:off x="982494" y="1517515"/>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18" name="Oval 17">
            <a:extLst>
              <a:ext uri="{FF2B5EF4-FFF2-40B4-BE49-F238E27FC236}">
                <a16:creationId xmlns:a16="http://schemas.microsoft.com/office/drawing/2014/main" id="{F3F7DFAA-95BC-D826-F520-E36FF12541A6}"/>
              </a:ext>
            </a:extLst>
          </p:cNvPr>
          <p:cNvSpPr/>
          <p:nvPr/>
        </p:nvSpPr>
        <p:spPr>
          <a:xfrm>
            <a:off x="1371600" y="246369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20" name="Oval 19">
            <a:extLst>
              <a:ext uri="{FF2B5EF4-FFF2-40B4-BE49-F238E27FC236}">
                <a16:creationId xmlns:a16="http://schemas.microsoft.com/office/drawing/2014/main" id="{CABB0FD8-FA2A-9187-2269-7E6158061805}"/>
              </a:ext>
            </a:extLst>
          </p:cNvPr>
          <p:cNvSpPr/>
          <p:nvPr/>
        </p:nvSpPr>
        <p:spPr>
          <a:xfrm>
            <a:off x="1760706" y="3419607"/>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3</a:t>
            </a:r>
          </a:p>
        </p:txBody>
      </p:sp>
      <p:sp>
        <p:nvSpPr>
          <p:cNvPr id="22" name="Oval 21">
            <a:extLst>
              <a:ext uri="{FF2B5EF4-FFF2-40B4-BE49-F238E27FC236}">
                <a16:creationId xmlns:a16="http://schemas.microsoft.com/office/drawing/2014/main" id="{C38B0F32-5D73-1CCF-7CE2-0AC692AFCFDA}"/>
              </a:ext>
            </a:extLst>
          </p:cNvPr>
          <p:cNvSpPr/>
          <p:nvPr/>
        </p:nvSpPr>
        <p:spPr>
          <a:xfrm>
            <a:off x="2149812" y="4385242"/>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4</a:t>
            </a:r>
          </a:p>
        </p:txBody>
      </p:sp>
      <p:sp>
        <p:nvSpPr>
          <p:cNvPr id="24" name="Oval 23">
            <a:extLst>
              <a:ext uri="{FF2B5EF4-FFF2-40B4-BE49-F238E27FC236}">
                <a16:creationId xmlns:a16="http://schemas.microsoft.com/office/drawing/2014/main" id="{91FAE129-E0AF-63A9-A729-4F9A5BED7718}"/>
              </a:ext>
            </a:extLst>
          </p:cNvPr>
          <p:cNvSpPr/>
          <p:nvPr/>
        </p:nvSpPr>
        <p:spPr>
          <a:xfrm>
            <a:off x="2529191" y="5322620"/>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5</a:t>
            </a:r>
          </a:p>
        </p:txBody>
      </p:sp>
    </p:spTree>
    <p:extLst>
      <p:ext uri="{BB962C8B-B14F-4D97-AF65-F5344CB8AC3E}">
        <p14:creationId xmlns:p14="http://schemas.microsoft.com/office/powerpoint/2010/main" val="37852729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p:tgtEl>
                                          <p:spTgt spid="25"/>
                                        </p:tgtEl>
                                        <p:attrNameLst>
                                          <p:attrName>ppt_y</p:attrName>
                                        </p:attrNameLst>
                                      </p:cBhvr>
                                      <p:tavLst>
                                        <p:tav tm="0">
                                          <p:val>
                                            <p:strVal val="#ppt_y+#ppt_h*1.125000"/>
                                          </p:val>
                                        </p:tav>
                                        <p:tav tm="100000">
                                          <p:val>
                                            <p:strVal val="#ppt_y"/>
                                          </p:val>
                                        </p:tav>
                                      </p:tavLst>
                                    </p:anim>
                                    <p:animEffect transition="in" filter="wipe(up)">
                                      <p:cBhvr>
                                        <p:cTn id="8"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4879184" y="340158"/>
            <a:ext cx="4106372" cy="594584"/>
          </a:xfrm>
        </p:spPr>
        <p:txBody>
          <a:bodyPr>
            <a:normAutofit/>
          </a:bodyPr>
          <a:lstStyle/>
          <a:p>
            <a:r>
              <a:rPr lang="x-none" sz="2800" b="1" dirty="0">
                <a:solidFill>
                  <a:srgbClr val="0F5093"/>
                </a:solidFill>
                <a:latin typeface="Times" pitchFamily="2" charset="0"/>
              </a:rPr>
              <a:t>Study Questions</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18</a:t>
            </a:fld>
            <a:endParaRPr lang="x-none" dirty="0"/>
          </a:p>
        </p:txBody>
      </p:sp>
      <p:sp>
        <p:nvSpPr>
          <p:cNvPr id="17" name="TextBox 16">
            <a:extLst>
              <a:ext uri="{FF2B5EF4-FFF2-40B4-BE49-F238E27FC236}">
                <a16:creationId xmlns:a16="http://schemas.microsoft.com/office/drawing/2014/main" id="{97D782F5-5073-616D-B063-F914520ABB79}"/>
              </a:ext>
            </a:extLst>
          </p:cNvPr>
          <p:cNvSpPr txBox="1"/>
          <p:nvPr/>
        </p:nvSpPr>
        <p:spPr>
          <a:xfrm>
            <a:off x="4621426" y="1305152"/>
            <a:ext cx="2743201" cy="523220"/>
          </a:xfrm>
          <a:prstGeom prst="rect">
            <a:avLst/>
          </a:prstGeom>
          <a:noFill/>
        </p:spPr>
        <p:txBody>
          <a:bodyPr wrap="square">
            <a:spAutoFit/>
          </a:bodyPr>
          <a:lstStyle/>
          <a:p>
            <a:pPr algn="ctr"/>
            <a:r>
              <a:rPr lang="en-US" sz="2800" b="1" dirty="0">
                <a:solidFill>
                  <a:srgbClr val="0F5093"/>
                </a:solidFill>
                <a:latin typeface="Times" pitchFamily="2" charset="0"/>
              </a:rPr>
              <a:t>Study Questions</a:t>
            </a:r>
            <a:endParaRPr lang="x-none" sz="2800" b="1" dirty="0">
              <a:solidFill>
                <a:srgbClr val="0F5093"/>
              </a:solidFill>
              <a:latin typeface="Times" pitchFamily="2" charset="0"/>
            </a:endParaRPr>
          </a:p>
        </p:txBody>
      </p:sp>
      <p:sp>
        <p:nvSpPr>
          <p:cNvPr id="18" name="Rectangle 17">
            <a:extLst>
              <a:ext uri="{FF2B5EF4-FFF2-40B4-BE49-F238E27FC236}">
                <a16:creationId xmlns:a16="http://schemas.microsoft.com/office/drawing/2014/main" id="{C476AD29-3A33-384C-6A01-C4168DDED19E}"/>
              </a:ext>
            </a:extLst>
          </p:cNvPr>
          <p:cNvSpPr/>
          <p:nvPr/>
        </p:nvSpPr>
        <p:spPr>
          <a:xfrm>
            <a:off x="1989667" y="2611883"/>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Transmission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613521"/>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Real Effects</a:t>
            </a:r>
          </a:p>
        </p:txBody>
      </p:sp>
      <p:sp>
        <p:nvSpPr>
          <p:cNvPr id="23" name="Rectangle 22">
            <a:extLst>
              <a:ext uri="{FF2B5EF4-FFF2-40B4-BE49-F238E27FC236}">
                <a16:creationId xmlns:a16="http://schemas.microsoft.com/office/drawing/2014/main" id="{FC794CE7-FD0A-03CF-4EDC-E5E4C0919379}"/>
              </a:ext>
            </a:extLst>
          </p:cNvPr>
          <p:cNvSpPr/>
          <p:nvPr/>
        </p:nvSpPr>
        <p:spPr>
          <a:xfrm>
            <a:off x="908946" y="3561780"/>
            <a:ext cx="4733974" cy="211602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4938" algn="justLow"/>
            <a:endParaRPr lang="en-US" sz="2400" dirty="0">
              <a:solidFill>
                <a:schemeClr val="tx1"/>
              </a:solidFill>
              <a:latin typeface="Times" pitchFamily="2" charset="0"/>
            </a:endParaRPr>
          </a:p>
          <a:p>
            <a:pPr marL="134938" algn="justLow"/>
            <a:r>
              <a:rPr lang="en-US" sz="2400" dirty="0">
                <a:solidFill>
                  <a:schemeClr val="tx1"/>
                </a:solidFill>
                <a:latin typeface="Times" pitchFamily="2" charset="0"/>
              </a:rPr>
              <a:t>Are stock market and real estate problems in Japan transmitted to the U.S. commercial real estate (CRE) markets in the form of reduced lending? </a:t>
            </a:r>
          </a:p>
          <a:p>
            <a:pPr marL="134938"/>
            <a:endParaRPr lang="en-US" sz="2000" dirty="0">
              <a:solidFill>
                <a:schemeClr val="tx1"/>
              </a:solidFill>
              <a:latin typeface="Times" pitchFamily="2" charset="0"/>
            </a:endParaRPr>
          </a:p>
        </p:txBody>
      </p:sp>
      <p:cxnSp>
        <p:nvCxnSpPr>
          <p:cNvPr id="9" name="Straight Connector 8">
            <a:extLst>
              <a:ext uri="{FF2B5EF4-FFF2-40B4-BE49-F238E27FC236}">
                <a16:creationId xmlns:a16="http://schemas.microsoft.com/office/drawing/2014/main" id="{704862D5-0F06-EDDB-F980-B791CE782BF8}"/>
              </a:ext>
            </a:extLst>
          </p:cNvPr>
          <p:cNvCxnSpPr>
            <a:cxnSpLocks/>
            <a:stCxn id="17" idx="2"/>
          </p:cNvCxnSpPr>
          <p:nvPr/>
        </p:nvCxnSpPr>
        <p:spPr>
          <a:xfrm>
            <a:off x="5993027" y="182837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195349"/>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099BFB7-9D9C-508E-3C3D-B05382206F97}"/>
              </a:ext>
            </a:extLst>
          </p:cNvPr>
          <p:cNvSpPr/>
          <p:nvPr/>
        </p:nvSpPr>
        <p:spPr>
          <a:xfrm>
            <a:off x="1427129"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21" name="Oval 20">
            <a:extLst>
              <a:ext uri="{FF2B5EF4-FFF2-40B4-BE49-F238E27FC236}">
                <a16:creationId xmlns:a16="http://schemas.microsoft.com/office/drawing/2014/main" id="{DA88E56C-7DFC-286B-7F02-6B746C24D12E}"/>
              </a:ext>
            </a:extLst>
          </p:cNvPr>
          <p:cNvSpPr/>
          <p:nvPr/>
        </p:nvSpPr>
        <p:spPr>
          <a:xfrm>
            <a:off x="6548127"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31" name="Rectangle 30">
            <a:extLst>
              <a:ext uri="{FF2B5EF4-FFF2-40B4-BE49-F238E27FC236}">
                <a16:creationId xmlns:a16="http://schemas.microsoft.com/office/drawing/2014/main" id="{304F8A17-10E4-D39C-6CF6-9A57C4CA786B}"/>
              </a:ext>
            </a:extLst>
          </p:cNvPr>
          <p:cNvSpPr/>
          <p:nvPr/>
        </p:nvSpPr>
        <p:spPr>
          <a:xfrm>
            <a:off x="6166248" y="3565021"/>
            <a:ext cx="4888703" cy="1527231"/>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41338"/>
            <a:r>
              <a:rPr lang="en-US" sz="2400" dirty="0">
                <a:solidFill>
                  <a:schemeClr val="tx1"/>
                </a:solidFill>
                <a:latin typeface="Times" pitchFamily="2" charset="0"/>
              </a:rPr>
              <a:t>Did the reduction in Japanese lending have an effect on real activity in U.S. CRE markets?</a:t>
            </a:r>
          </a:p>
        </p:txBody>
      </p:sp>
      <p:sp>
        <p:nvSpPr>
          <p:cNvPr id="20" name="Rectangle 19">
            <a:extLst>
              <a:ext uri="{FF2B5EF4-FFF2-40B4-BE49-F238E27FC236}">
                <a16:creationId xmlns:a16="http://schemas.microsoft.com/office/drawing/2014/main" id="{4E2471B7-ABD0-7D13-666A-A8B1E2B4FD3E}"/>
              </a:ext>
            </a:extLst>
          </p:cNvPr>
          <p:cNvSpPr/>
          <p:nvPr/>
        </p:nvSpPr>
        <p:spPr>
          <a:xfrm>
            <a:off x="732329" y="308277"/>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22" name="Oval 21">
            <a:extLst>
              <a:ext uri="{FF2B5EF4-FFF2-40B4-BE49-F238E27FC236}">
                <a16:creationId xmlns:a16="http://schemas.microsoft.com/office/drawing/2014/main" id="{47D90C0A-D988-F0AE-85EC-B2935FA946A5}"/>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Tree>
    <p:extLst>
      <p:ext uri="{BB962C8B-B14F-4D97-AF65-F5344CB8AC3E}">
        <p14:creationId xmlns:p14="http://schemas.microsoft.com/office/powerpoint/2010/main" val="230678191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000"/>
                                        <p:tgtEl>
                                          <p:spTgt spid="22"/>
                                        </p:tgtEl>
                                        <p:attrNameLst>
                                          <p:attrName>ppt_y</p:attrName>
                                        </p:attrNameLst>
                                      </p:cBhvr>
                                      <p:tavLst>
                                        <p:tav tm="0">
                                          <p:val>
                                            <p:strVal val="#ppt_y+#ppt_h*1.125000"/>
                                          </p:val>
                                        </p:tav>
                                        <p:tav tm="100000">
                                          <p:val>
                                            <p:strVal val="#ppt_y"/>
                                          </p:val>
                                        </p:tav>
                                      </p:tavLst>
                                    </p:anim>
                                    <p:animEffect transition="in" filter="wipe(up)">
                                      <p:cBhvr>
                                        <p:cTn id="8" dur="1000"/>
                                        <p:tgtEl>
                                          <p:spTgt spid="2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000"/>
                                        <p:tgtEl>
                                          <p:spTgt spid="20"/>
                                        </p:tgtEl>
                                        <p:attrNameLst>
                                          <p:attrName>ppt_y</p:attrName>
                                        </p:attrNameLst>
                                      </p:cBhvr>
                                      <p:tavLst>
                                        <p:tav tm="0">
                                          <p:val>
                                            <p:strVal val="#ppt_y+#ppt_h*1.125000"/>
                                          </p:val>
                                        </p:tav>
                                        <p:tav tm="100000">
                                          <p:val>
                                            <p:strVal val="#ppt_y"/>
                                          </p:val>
                                        </p:tav>
                                      </p:tavLst>
                                    </p:anim>
                                    <p:animEffect transition="in" filter="wipe(up)">
                                      <p:cBhvr>
                                        <p:cTn id="12" dur="1000"/>
                                        <p:tgtEl>
                                          <p:spTgt spid="20"/>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p:tgtEl>
                                          <p:spTgt spid="2"/>
                                        </p:tgtEl>
                                        <p:attrNameLst>
                                          <p:attrName>ppt_y</p:attrName>
                                        </p:attrNameLst>
                                      </p:cBhvr>
                                      <p:tavLst>
                                        <p:tav tm="0">
                                          <p:val>
                                            <p:strVal val="#ppt_y+#ppt_h*1.125000"/>
                                          </p:val>
                                        </p:tav>
                                        <p:tav tm="100000">
                                          <p:val>
                                            <p:strVal val="#ppt_y"/>
                                          </p:val>
                                        </p:tav>
                                      </p:tavLst>
                                    </p:anim>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p:tgtEl>
                                          <p:spTgt spid="17"/>
                                        </p:tgtEl>
                                        <p:attrNameLst>
                                          <p:attrName>ppt_y</p:attrName>
                                        </p:attrNameLst>
                                      </p:cBhvr>
                                      <p:tavLst>
                                        <p:tav tm="0">
                                          <p:val>
                                            <p:strVal val="#ppt_y+#ppt_h*1.125000"/>
                                          </p:val>
                                        </p:tav>
                                        <p:tav tm="100000">
                                          <p:val>
                                            <p:strVal val="#ppt_y"/>
                                          </p:val>
                                        </p:tav>
                                      </p:tavLst>
                                    </p:anim>
                                    <p:animEffect transition="in" filter="wipe(up)">
                                      <p:cBhvr>
                                        <p:cTn id="23" dur="500"/>
                                        <p:tgtEl>
                                          <p:spTgt spid="17"/>
                                        </p:tgtEl>
                                      </p:cBhvr>
                                    </p:animEffect>
                                  </p:childTnLst>
                                </p:cTn>
                              </p:par>
                              <p:par>
                                <p:cTn id="24" presetID="12" presetClass="entr" presetSubtype="4"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p:tgtEl>
                                          <p:spTgt spid="9"/>
                                        </p:tgtEl>
                                        <p:attrNameLst>
                                          <p:attrName>ppt_y</p:attrName>
                                        </p:attrNameLst>
                                      </p:cBhvr>
                                      <p:tavLst>
                                        <p:tav tm="0">
                                          <p:val>
                                            <p:strVal val="#ppt_y+#ppt_h*1.125000"/>
                                          </p:val>
                                        </p:tav>
                                        <p:tav tm="100000">
                                          <p:val>
                                            <p:strVal val="#ppt_y"/>
                                          </p:val>
                                        </p:tav>
                                      </p:tavLst>
                                    </p:anim>
                                    <p:animEffect transition="in" filter="wipe(up)">
                                      <p:cBhvr>
                                        <p:cTn id="27" dur="500"/>
                                        <p:tgtEl>
                                          <p:spTgt spid="9"/>
                                        </p:tgtEl>
                                      </p:cBhvr>
                                    </p:animEffect>
                                  </p:childTnLst>
                                </p:cTn>
                              </p:par>
                              <p:par>
                                <p:cTn id="28" presetID="12" presetClass="entr" presetSubtype="4"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p:tgtEl>
                                          <p:spTgt spid="28"/>
                                        </p:tgtEl>
                                        <p:attrNameLst>
                                          <p:attrName>ppt_y</p:attrName>
                                        </p:attrNameLst>
                                      </p:cBhvr>
                                      <p:tavLst>
                                        <p:tav tm="0">
                                          <p:val>
                                            <p:strVal val="#ppt_y+#ppt_h*1.125000"/>
                                          </p:val>
                                        </p:tav>
                                        <p:tav tm="100000">
                                          <p:val>
                                            <p:strVal val="#ppt_y"/>
                                          </p:val>
                                        </p:tav>
                                      </p:tavLst>
                                    </p:anim>
                                    <p:animEffect transition="in" filter="wipe(up)">
                                      <p:cBhvr>
                                        <p:cTn id="31" dur="500"/>
                                        <p:tgtEl>
                                          <p:spTgt spid="28"/>
                                        </p:tgtEl>
                                      </p:cBhvr>
                                    </p:animEffect>
                                  </p:childTnLst>
                                </p:cTn>
                              </p:par>
                              <p:par>
                                <p:cTn id="32" presetID="12" presetClass="entr" presetSubtype="4"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 calcmode="lin" valueType="num">
                                      <p:cBhvr additive="base">
                                        <p:cTn id="34" dur="500"/>
                                        <p:tgtEl>
                                          <p:spTgt spid="30"/>
                                        </p:tgtEl>
                                        <p:attrNameLst>
                                          <p:attrName>ppt_y</p:attrName>
                                        </p:attrNameLst>
                                      </p:cBhvr>
                                      <p:tavLst>
                                        <p:tav tm="0">
                                          <p:val>
                                            <p:strVal val="#ppt_y+#ppt_h*1.125000"/>
                                          </p:val>
                                        </p:tav>
                                        <p:tav tm="100000">
                                          <p:val>
                                            <p:strVal val="#ppt_y"/>
                                          </p:val>
                                        </p:tav>
                                      </p:tavLst>
                                    </p:anim>
                                    <p:animEffect transition="in" filter="wipe(up)">
                                      <p:cBhvr>
                                        <p:cTn id="35" dur="500"/>
                                        <p:tgtEl>
                                          <p:spTgt spid="30"/>
                                        </p:tgtEl>
                                      </p:cBhvr>
                                    </p:animEffect>
                                  </p:childTnLst>
                                </p:cTn>
                              </p:par>
                              <p:par>
                                <p:cTn id="36" presetID="12" presetClass="entr" presetSubtype="4"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additive="base">
                                        <p:cTn id="38" dur="500"/>
                                        <p:tgtEl>
                                          <p:spTgt spid="29"/>
                                        </p:tgtEl>
                                        <p:attrNameLst>
                                          <p:attrName>ppt_y</p:attrName>
                                        </p:attrNameLst>
                                      </p:cBhvr>
                                      <p:tavLst>
                                        <p:tav tm="0">
                                          <p:val>
                                            <p:strVal val="#ppt_y+#ppt_h*1.125000"/>
                                          </p:val>
                                        </p:tav>
                                        <p:tav tm="100000">
                                          <p:val>
                                            <p:strVal val="#ppt_y"/>
                                          </p:val>
                                        </p:tav>
                                      </p:tavLst>
                                    </p:anim>
                                    <p:animEffect transition="in" filter="wipe(up)">
                                      <p:cBhvr>
                                        <p:cTn id="39" dur="500"/>
                                        <p:tgtEl>
                                          <p:spTgt spid="2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p:cTn id="47" dur="500" fill="hold"/>
                                        <p:tgtEl>
                                          <p:spTgt spid="18"/>
                                        </p:tgtEl>
                                        <p:attrNameLst>
                                          <p:attrName>ppt_w</p:attrName>
                                        </p:attrNameLst>
                                      </p:cBhvr>
                                      <p:tavLst>
                                        <p:tav tm="0">
                                          <p:val>
                                            <p:fltVal val="0"/>
                                          </p:val>
                                        </p:tav>
                                        <p:tav tm="100000">
                                          <p:val>
                                            <p:strVal val="#ppt_w"/>
                                          </p:val>
                                        </p:tav>
                                      </p:tavLst>
                                    </p:anim>
                                    <p:anim calcmode="lin" valueType="num">
                                      <p:cBhvr>
                                        <p:cTn id="48" dur="500" fill="hold"/>
                                        <p:tgtEl>
                                          <p:spTgt spid="18"/>
                                        </p:tgtEl>
                                        <p:attrNameLst>
                                          <p:attrName>ppt_h</p:attrName>
                                        </p:attrNameLst>
                                      </p:cBhvr>
                                      <p:tavLst>
                                        <p:tav tm="0">
                                          <p:val>
                                            <p:fltVal val="0"/>
                                          </p:val>
                                        </p:tav>
                                        <p:tav tm="100000">
                                          <p:val>
                                            <p:strVal val="#ppt_h"/>
                                          </p:val>
                                        </p:tav>
                                      </p:tavLst>
                                    </p:anim>
                                    <p:animEffect transition="in" filter="fade">
                                      <p:cBhvr>
                                        <p:cTn id="49" dur="500"/>
                                        <p:tgtEl>
                                          <p:spTgt spid="18"/>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500" fill="hold"/>
                                        <p:tgtEl>
                                          <p:spTgt spid="21"/>
                                        </p:tgtEl>
                                        <p:attrNameLst>
                                          <p:attrName>ppt_w</p:attrName>
                                        </p:attrNameLst>
                                      </p:cBhvr>
                                      <p:tavLst>
                                        <p:tav tm="0">
                                          <p:val>
                                            <p:fltVal val="0"/>
                                          </p:val>
                                        </p:tav>
                                        <p:tav tm="100000">
                                          <p:val>
                                            <p:strVal val="#ppt_w"/>
                                          </p:val>
                                        </p:tav>
                                      </p:tavLst>
                                    </p:anim>
                                    <p:anim calcmode="lin" valueType="num">
                                      <p:cBhvr>
                                        <p:cTn id="53" dur="500" fill="hold"/>
                                        <p:tgtEl>
                                          <p:spTgt spid="21"/>
                                        </p:tgtEl>
                                        <p:attrNameLst>
                                          <p:attrName>ppt_h</p:attrName>
                                        </p:attrNameLst>
                                      </p:cBhvr>
                                      <p:tavLst>
                                        <p:tav tm="0">
                                          <p:val>
                                            <p:fltVal val="0"/>
                                          </p:val>
                                        </p:tav>
                                        <p:tav tm="100000">
                                          <p:val>
                                            <p:strVal val="#ppt_h"/>
                                          </p:val>
                                        </p:tav>
                                      </p:tavLst>
                                    </p:anim>
                                    <p:animEffect transition="in" filter="fade">
                                      <p:cBhvr>
                                        <p:cTn id="54" dur="500"/>
                                        <p:tgtEl>
                                          <p:spTgt spid="21"/>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animEffect transition="in" filter="fade">
                                      <p:cBhvr>
                                        <p:cTn id="59" dur="500"/>
                                        <p:tgtEl>
                                          <p:spTgt spid="19"/>
                                        </p:tgtEl>
                                      </p:cBhvr>
                                    </p:animEffect>
                                  </p:childTnLst>
                                </p:cTn>
                              </p:par>
                              <p:par>
                                <p:cTn id="60" presetID="12" presetClass="entr" presetSubtype="4" fill="hold" grpId="0" nodeType="withEffect">
                                  <p:stCondLst>
                                    <p:cond delay="0"/>
                                  </p:stCondLst>
                                  <p:childTnLst>
                                    <p:set>
                                      <p:cBhvr>
                                        <p:cTn id="61" dur="1" fill="hold">
                                          <p:stCondLst>
                                            <p:cond delay="0"/>
                                          </p:stCondLst>
                                        </p:cTn>
                                        <p:tgtEl>
                                          <p:spTgt spid="23">
                                            <p:bg/>
                                          </p:spTgt>
                                        </p:tgtEl>
                                        <p:attrNameLst>
                                          <p:attrName>style.visibility</p:attrName>
                                        </p:attrNameLst>
                                      </p:cBhvr>
                                      <p:to>
                                        <p:strVal val="visible"/>
                                      </p:to>
                                    </p:set>
                                    <p:anim calcmode="lin" valueType="num">
                                      <p:cBhvr additive="base">
                                        <p:cTn id="62" dur="500"/>
                                        <p:tgtEl>
                                          <p:spTgt spid="23">
                                            <p:bg/>
                                          </p:spTgt>
                                        </p:tgtEl>
                                        <p:attrNameLst>
                                          <p:attrName>ppt_y</p:attrName>
                                        </p:attrNameLst>
                                      </p:cBhvr>
                                      <p:tavLst>
                                        <p:tav tm="0">
                                          <p:val>
                                            <p:strVal val="#ppt_y+#ppt_h*1.125000"/>
                                          </p:val>
                                        </p:tav>
                                        <p:tav tm="100000">
                                          <p:val>
                                            <p:strVal val="#ppt_y"/>
                                          </p:val>
                                        </p:tav>
                                      </p:tavLst>
                                    </p:anim>
                                    <p:animEffect transition="in" filter="wipe(up)">
                                      <p:cBhvr>
                                        <p:cTn id="63" dur="500"/>
                                        <p:tgtEl>
                                          <p:spTgt spid="23">
                                            <p:bg/>
                                          </p:spTgt>
                                        </p:tgtEl>
                                      </p:cBhvr>
                                    </p:animEffect>
                                  </p:childTnLst>
                                </p:cTn>
                              </p:par>
                              <p:par>
                                <p:cTn id="64" presetID="12" presetClass="entr" presetSubtype="4" fill="hold" grpId="0" nodeType="withEffect">
                                  <p:stCondLst>
                                    <p:cond delay="0"/>
                                  </p:stCondLst>
                                  <p:childTnLst>
                                    <p:set>
                                      <p:cBhvr>
                                        <p:cTn id="65" dur="1" fill="hold">
                                          <p:stCondLst>
                                            <p:cond delay="0"/>
                                          </p:stCondLst>
                                        </p:cTn>
                                        <p:tgtEl>
                                          <p:spTgt spid="23">
                                            <p:txEl>
                                              <p:pRg st="1" end="1"/>
                                            </p:txEl>
                                          </p:spTgt>
                                        </p:tgtEl>
                                        <p:attrNameLst>
                                          <p:attrName>style.visibility</p:attrName>
                                        </p:attrNameLst>
                                      </p:cBhvr>
                                      <p:to>
                                        <p:strVal val="visible"/>
                                      </p:to>
                                    </p:set>
                                    <p:anim calcmode="lin" valueType="num">
                                      <p:cBhvr additive="base">
                                        <p:cTn id="66" dur="500"/>
                                        <p:tgtEl>
                                          <p:spTgt spid="23">
                                            <p:txEl>
                                              <p:pRg st="1" end="1"/>
                                            </p:txEl>
                                          </p:spTgt>
                                        </p:tgtEl>
                                        <p:attrNameLst>
                                          <p:attrName>ppt_y</p:attrName>
                                        </p:attrNameLst>
                                      </p:cBhvr>
                                      <p:tavLst>
                                        <p:tav tm="0">
                                          <p:val>
                                            <p:strVal val="#ppt_y+#ppt_h*1.125000"/>
                                          </p:val>
                                        </p:tav>
                                        <p:tav tm="100000">
                                          <p:val>
                                            <p:strVal val="#ppt_y"/>
                                          </p:val>
                                        </p:tav>
                                      </p:tavLst>
                                    </p:anim>
                                    <p:animEffect transition="in" filter="wipe(up)">
                                      <p:cBhvr>
                                        <p:cTn id="67" dur="500"/>
                                        <p:tgtEl>
                                          <p:spTgt spid="23">
                                            <p:txEl>
                                              <p:pRg st="1" end="1"/>
                                            </p:txEl>
                                          </p:spTgt>
                                        </p:tgtEl>
                                      </p:cBhvr>
                                    </p:animEffect>
                                  </p:childTnLst>
                                </p:cTn>
                              </p:par>
                              <p:par>
                                <p:cTn id="68" presetID="12" presetClass="entr" presetSubtype="4"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 calcmode="lin" valueType="num">
                                      <p:cBhvr additive="base">
                                        <p:cTn id="70" dur="500"/>
                                        <p:tgtEl>
                                          <p:spTgt spid="31"/>
                                        </p:tgtEl>
                                        <p:attrNameLst>
                                          <p:attrName>ppt_y</p:attrName>
                                        </p:attrNameLst>
                                      </p:cBhvr>
                                      <p:tavLst>
                                        <p:tav tm="0">
                                          <p:val>
                                            <p:strVal val="#ppt_y+#ppt_h*1.125000"/>
                                          </p:val>
                                        </p:tav>
                                        <p:tav tm="100000">
                                          <p:val>
                                            <p:strVal val="#ppt_y"/>
                                          </p:val>
                                        </p:tav>
                                      </p:tavLst>
                                    </p:anim>
                                    <p:animEffect transition="in" filter="wipe(up)">
                                      <p:cBhvr>
                                        <p:cTn id="7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18" grpId="0" animBg="1"/>
      <p:bldP spid="19" grpId="0" animBg="1"/>
      <p:bldP spid="23" grpId="0" uiExpand="1" build="p" animBg="1"/>
      <p:bldP spid="16" grpId="0" animBg="1"/>
      <p:bldP spid="21" grpId="0" animBg="1"/>
      <p:bldP spid="31" grpId="0" animBg="1"/>
      <p:bldP spid="20"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19</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590871" y="1645546"/>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590871" y="1645546"/>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F18244AE-1DCB-4116-9968-A470B2CF1A0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32" name="Oval 31">
            <a:extLst>
              <a:ext uri="{FF2B5EF4-FFF2-40B4-BE49-F238E27FC236}">
                <a16:creationId xmlns:a16="http://schemas.microsoft.com/office/drawing/2014/main" id="{3FFC596D-9C06-8DC6-A40E-75DD4FDF725B}"/>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41" name="TextBox 40">
            <a:extLst>
              <a:ext uri="{FF2B5EF4-FFF2-40B4-BE49-F238E27FC236}">
                <a16:creationId xmlns:a16="http://schemas.microsoft.com/office/drawing/2014/main" id="{200C451C-146C-7DA9-D257-CD3F0D88CE0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19" name="Rectangle 18">
            <a:extLst>
              <a:ext uri="{FF2B5EF4-FFF2-40B4-BE49-F238E27FC236}">
                <a16:creationId xmlns:a16="http://schemas.microsoft.com/office/drawing/2014/main" id="{30DFB6B1-0846-21BE-DFBC-2275813F2AA2}"/>
              </a:ext>
            </a:extLst>
          </p:cNvPr>
          <p:cNvSpPr/>
          <p:nvPr/>
        </p:nvSpPr>
        <p:spPr>
          <a:xfrm>
            <a:off x="590871" y="1544159"/>
            <a:ext cx="1657132" cy="721521"/>
          </a:xfrm>
          <a:prstGeom prst="rect">
            <a:avLst/>
          </a:prstGeom>
          <a:solidFill>
            <a:srgbClr val="0F5093">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accent1"/>
              </a:solidFill>
              <a:latin typeface="Times" pitchFamily="2" charset="0"/>
            </a:endParaRPr>
          </a:p>
        </p:txBody>
      </p:sp>
      <p:sp>
        <p:nvSpPr>
          <p:cNvPr id="2" name="TextBox 1"/>
          <p:cNvSpPr txBox="1"/>
          <p:nvPr/>
        </p:nvSpPr>
        <p:spPr>
          <a:xfrm>
            <a:off x="590870" y="4135120"/>
            <a:ext cx="10889930" cy="738664"/>
          </a:xfrm>
          <a:prstGeom prst="rect">
            <a:avLst/>
          </a:prstGeom>
          <a:noFill/>
        </p:spPr>
        <p:txBody>
          <a:bodyPr wrap="square" rtlCol="0">
            <a:spAutoFit/>
          </a:bodyPr>
          <a:lstStyle/>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The value</a:t>
            </a:r>
            <a:r>
              <a:rPr lang="en-US" sz="2100" dirty="0">
                <a:latin typeface="Times New Roman" pitchFamily="18" charset="0"/>
                <a:cs typeface="Times New Roman" pitchFamily="18" charset="0"/>
              </a:rPr>
              <a:t>, </a:t>
            </a:r>
            <a:r>
              <a:rPr lang="en-US" sz="2100" b="1" dirty="0">
                <a:solidFill>
                  <a:schemeClr val="accent1"/>
                </a:solidFill>
                <a:latin typeface="Times New Roman" pitchFamily="18" charset="0"/>
                <a:cs typeface="Times New Roman" pitchFamily="18" charset="0"/>
              </a:rPr>
              <a:t>the number</a:t>
            </a:r>
            <a:r>
              <a:rPr lang="en-US" sz="2100" dirty="0">
                <a:latin typeface="Times New Roman" pitchFamily="18" charset="0"/>
                <a:cs typeface="Times New Roman" pitchFamily="18" charset="0"/>
              </a:rPr>
              <a:t>, and </a:t>
            </a:r>
            <a:r>
              <a:rPr lang="en-US" sz="2100" b="1" dirty="0">
                <a:solidFill>
                  <a:schemeClr val="accent1"/>
                </a:solidFill>
                <a:latin typeface="Times New Roman" pitchFamily="18" charset="0"/>
                <a:cs typeface="Times New Roman" pitchFamily="18" charset="0"/>
              </a:rPr>
              <a:t>the square footage </a:t>
            </a:r>
            <a:r>
              <a:rPr lang="en-US" sz="2100" dirty="0">
                <a:latin typeface="Times New Roman" pitchFamily="18" charset="0"/>
                <a:cs typeface="Times New Roman" pitchFamily="18" charset="0"/>
              </a:rPr>
              <a:t>of total </a:t>
            </a:r>
            <a:r>
              <a:rPr lang="en-US" sz="2100" b="1" dirty="0">
                <a:solidFill>
                  <a:schemeClr val="accent1"/>
                </a:solidFill>
                <a:latin typeface="Times New Roman" pitchFamily="18" charset="0"/>
                <a:cs typeface="Times New Roman" pitchFamily="18" charset="0"/>
              </a:rPr>
              <a:t>new construction projects </a:t>
            </a:r>
            <a:r>
              <a:rPr lang="en-US" sz="2100" dirty="0">
                <a:latin typeface="Times New Roman" pitchFamily="18" charset="0"/>
                <a:cs typeface="Times New Roman" pitchFamily="18" charset="0"/>
              </a:rPr>
              <a:t>in state j</a:t>
            </a:r>
          </a:p>
          <a:p>
            <a:pPr marL="285750" indent="-285750">
              <a:buFont typeface="Wingdings" pitchFamily="2" charset="2"/>
              <a:buChar char="§"/>
            </a:pPr>
            <a:r>
              <a:rPr lang="en-US" sz="2100" dirty="0">
                <a:latin typeface="Times New Roman" pitchFamily="18" charset="0"/>
                <a:cs typeface="Times New Roman" pitchFamily="18" charset="0"/>
              </a:rPr>
              <a:t>Percentage change in </a:t>
            </a:r>
            <a:r>
              <a:rPr lang="en-US" sz="2100" b="1" dirty="0">
                <a:solidFill>
                  <a:schemeClr val="accent1"/>
                </a:solidFill>
                <a:latin typeface="Times New Roman" pitchFamily="18" charset="0"/>
                <a:cs typeface="Times New Roman" pitchFamily="18" charset="0"/>
              </a:rPr>
              <a:t>employment</a:t>
            </a:r>
            <a:r>
              <a:rPr lang="en-US" sz="2100" dirty="0">
                <a:solidFill>
                  <a:schemeClr val="accent1"/>
                </a:solidFill>
                <a:latin typeface="Times New Roman" pitchFamily="18" charset="0"/>
                <a:cs typeface="Times New Roman" pitchFamily="18" charset="0"/>
              </a:rPr>
              <a:t> </a:t>
            </a:r>
            <a:r>
              <a:rPr lang="en-US" sz="2100" dirty="0">
                <a:latin typeface="Times New Roman" pitchFamily="18" charset="0"/>
                <a:cs typeface="Times New Roman" pitchFamily="18" charset="0"/>
              </a:rPr>
              <a:t>in the construction industry in state j</a:t>
            </a:r>
          </a:p>
        </p:txBody>
      </p:sp>
    </p:spTree>
    <p:extLst>
      <p:ext uri="{BB962C8B-B14F-4D97-AF65-F5344CB8AC3E}">
        <p14:creationId xmlns:p14="http://schemas.microsoft.com/office/powerpoint/2010/main" val="33547346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p:tgtEl>
                                          <p:spTgt spid="32"/>
                                        </p:tgtEl>
                                        <p:attrNameLst>
                                          <p:attrName>ppt_y</p:attrName>
                                        </p:attrNameLst>
                                      </p:cBhvr>
                                      <p:tavLst>
                                        <p:tav tm="0">
                                          <p:val>
                                            <p:strVal val="#ppt_y+#ppt_h*1.125000"/>
                                          </p:val>
                                        </p:tav>
                                        <p:tav tm="100000">
                                          <p:val>
                                            <p:strVal val="#ppt_y"/>
                                          </p:val>
                                        </p:tav>
                                      </p:tavLst>
                                    </p:anim>
                                    <p:animEffect transition="in" filter="wipe(up)">
                                      <p:cBhvr>
                                        <p:cTn id="8" dur="1000"/>
                                        <p:tgtEl>
                                          <p:spTgt spid="3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p:tgtEl>
                                          <p:spTgt spid="31"/>
                                        </p:tgtEl>
                                        <p:attrNameLst>
                                          <p:attrName>ppt_y</p:attrName>
                                        </p:attrNameLst>
                                      </p:cBhvr>
                                      <p:tavLst>
                                        <p:tav tm="0">
                                          <p:val>
                                            <p:strVal val="#ppt_y+#ppt_h*1.125000"/>
                                          </p:val>
                                        </p:tav>
                                        <p:tav tm="100000">
                                          <p:val>
                                            <p:strVal val="#ppt_y"/>
                                          </p:val>
                                        </p:tav>
                                      </p:tavLst>
                                    </p:anim>
                                    <p:animEffect transition="in" filter="wipe(up)">
                                      <p:cBhvr>
                                        <p:cTn id="12" dur="1000"/>
                                        <p:tgtEl>
                                          <p:spTgt spid="31"/>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p:tgtEl>
                                          <p:spTgt spid="5"/>
                                        </p:tgtEl>
                                        <p:attrNameLst>
                                          <p:attrName>ppt_y</p:attrName>
                                        </p:attrNameLst>
                                      </p:cBhvr>
                                      <p:tavLst>
                                        <p:tav tm="0">
                                          <p:val>
                                            <p:strVal val="#ppt_y+#ppt_h*1.125000"/>
                                          </p:val>
                                        </p:tav>
                                        <p:tav tm="100000">
                                          <p:val>
                                            <p:strVal val="#ppt_y"/>
                                          </p:val>
                                        </p:tav>
                                      </p:tavLst>
                                    </p:anim>
                                    <p:animEffect transition="in" filter="wipe(up)">
                                      <p:cBhvr>
                                        <p:cTn id="2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1" grpId="0" animBg="1"/>
      <p:bldP spid="32" grpId="0" animBg="1"/>
      <p:bldP spid="4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20</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794552" y="1893511"/>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794552" y="1893511"/>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86A5B545-EF6F-04C1-7B34-5D583205C2DA}"/>
              </a:ext>
            </a:extLst>
          </p:cNvPr>
          <p:cNvSpPr/>
          <p:nvPr/>
        </p:nvSpPr>
        <p:spPr>
          <a:xfrm>
            <a:off x="3777286" y="2277635"/>
            <a:ext cx="1400335"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tx1"/>
              </a:solidFill>
              <a:latin typeface="Times" pitchFamily="2" charset="0"/>
            </a:endParaRPr>
          </a:p>
        </p:txBody>
      </p:sp>
      <p:sp>
        <p:nvSpPr>
          <p:cNvPr id="19" name="TextBox 18">
            <a:extLst>
              <a:ext uri="{FF2B5EF4-FFF2-40B4-BE49-F238E27FC236}">
                <a16:creationId xmlns:a16="http://schemas.microsoft.com/office/drawing/2014/main" id="{55C7D8C8-4FE3-5F08-E3E1-4C3098FE0489}"/>
              </a:ext>
            </a:extLst>
          </p:cNvPr>
          <p:cNvSpPr txBox="1"/>
          <p:nvPr/>
        </p:nvSpPr>
        <p:spPr>
          <a:xfrm>
            <a:off x="459232" y="4458803"/>
            <a:ext cx="8271959" cy="667560"/>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98425"/>
            <a:r>
              <a:rPr lang="en-US" sz="2100" dirty="0">
                <a:solidFill>
                  <a:schemeClr val="tx1"/>
                </a:solidFill>
                <a:latin typeface="Times New Roman" pitchFamily="18" charset="0"/>
                <a:cs typeface="Times New Roman" pitchFamily="18" charset="0"/>
              </a:rPr>
              <a:t>Change in commercial real estate loans by Japanese banks</a:t>
            </a:r>
            <a:endParaRPr lang="x-none" sz="2100" dirty="0">
              <a:solidFill>
                <a:schemeClr val="tx1"/>
              </a:solidFill>
            </a:endParaRPr>
          </a:p>
        </p:txBody>
      </p:sp>
      <p:sp>
        <p:nvSpPr>
          <p:cNvPr id="25" name="Rectangle 24">
            <a:extLst>
              <a:ext uri="{FF2B5EF4-FFF2-40B4-BE49-F238E27FC236}">
                <a16:creationId xmlns:a16="http://schemas.microsoft.com/office/drawing/2014/main" id="{7DD22D79-F05C-3F55-0156-F8EF7ABD5BCD}"/>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7" name="Oval 26">
            <a:extLst>
              <a:ext uri="{FF2B5EF4-FFF2-40B4-BE49-F238E27FC236}">
                <a16:creationId xmlns:a16="http://schemas.microsoft.com/office/drawing/2014/main" id="{61643A7D-8AB3-23B5-7943-31B65FA33EF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8" name="TextBox 27">
            <a:extLst>
              <a:ext uri="{FF2B5EF4-FFF2-40B4-BE49-F238E27FC236}">
                <a16:creationId xmlns:a16="http://schemas.microsoft.com/office/drawing/2014/main" id="{570A98E2-6228-DECF-309C-69F0FB68EE6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13" name="TextBox 12">
            <a:extLst>
              <a:ext uri="{FF2B5EF4-FFF2-40B4-BE49-F238E27FC236}">
                <a16:creationId xmlns:a16="http://schemas.microsoft.com/office/drawing/2014/main" id="{55C7D8C8-4FE3-5F08-E3E1-4C3098FE0489}"/>
              </a:ext>
            </a:extLst>
          </p:cNvPr>
          <p:cNvSpPr txBox="1"/>
          <p:nvPr/>
        </p:nvSpPr>
        <p:spPr>
          <a:xfrm>
            <a:off x="467670" y="5288402"/>
            <a:ext cx="8255085" cy="496489"/>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98425"/>
            <a:r>
              <a:rPr lang="en-US" sz="2100" dirty="0">
                <a:solidFill>
                  <a:schemeClr val="tx1"/>
                </a:solidFill>
                <a:latin typeface="Times New Roman" pitchFamily="18" charset="0"/>
                <a:cs typeface="Times New Roman" pitchFamily="18" charset="0"/>
              </a:rPr>
              <a:t>The ratio of nonperforming commercial real estate loans for all banks </a:t>
            </a:r>
            <a:endParaRPr lang="x-none" sz="2100" dirty="0">
              <a:solidFill>
                <a:schemeClr val="tx1"/>
              </a:solidFill>
            </a:endParaRPr>
          </a:p>
        </p:txBody>
      </p:sp>
      <p:cxnSp>
        <p:nvCxnSpPr>
          <p:cNvPr id="14" name="Straight Arrow Connector 13"/>
          <p:cNvCxnSpPr/>
          <p:nvPr/>
        </p:nvCxnSpPr>
        <p:spPr>
          <a:xfrm flipV="1">
            <a:off x="8899049" y="4792583"/>
            <a:ext cx="522743" cy="617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9484966" y="4537612"/>
            <a:ext cx="2092354" cy="588751"/>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9484966" y="4598701"/>
            <a:ext cx="2402234" cy="400110"/>
          </a:xfrm>
          <a:prstGeom prst="rect">
            <a:avLst/>
          </a:prstGeom>
          <a:noFill/>
        </p:spPr>
        <p:txBody>
          <a:bodyPr wrap="square" rtlCol="0">
            <a:spAutoFit/>
          </a:bodyPr>
          <a:lstStyle/>
          <a:p>
            <a:r>
              <a:rPr lang="en-US" sz="2000" dirty="0">
                <a:solidFill>
                  <a:srgbClr val="FF0000"/>
                </a:solidFill>
                <a:latin typeface="Times New Roman" pitchFamily="18" charset="0"/>
                <a:cs typeface="Times New Roman" pitchFamily="18" charset="0"/>
              </a:rPr>
              <a:t>Object of Interest</a:t>
            </a:r>
          </a:p>
        </p:txBody>
      </p:sp>
    </p:spTree>
    <p:extLst>
      <p:ext uri="{BB962C8B-B14F-4D97-AF65-F5344CB8AC3E}">
        <p14:creationId xmlns:p14="http://schemas.microsoft.com/office/powerpoint/2010/main" val="27355043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p:tgtEl>
                                          <p:spTgt spid="27"/>
                                        </p:tgtEl>
                                        <p:attrNameLst>
                                          <p:attrName>ppt_y</p:attrName>
                                        </p:attrNameLst>
                                      </p:cBhvr>
                                      <p:tavLst>
                                        <p:tav tm="0">
                                          <p:val>
                                            <p:strVal val="#ppt_y+#ppt_h*1.125000"/>
                                          </p:val>
                                        </p:tav>
                                        <p:tav tm="100000">
                                          <p:val>
                                            <p:strVal val="#ppt_y"/>
                                          </p:val>
                                        </p:tav>
                                      </p:tavLst>
                                    </p:anim>
                                    <p:animEffect transition="in" filter="wipe(up)">
                                      <p:cBhvr>
                                        <p:cTn id="8" dur="1000"/>
                                        <p:tgtEl>
                                          <p:spTgt spid="2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1000"/>
                                        <p:tgtEl>
                                          <p:spTgt spid="25"/>
                                        </p:tgtEl>
                                        <p:attrNameLst>
                                          <p:attrName>ppt_y</p:attrName>
                                        </p:attrNameLst>
                                      </p:cBhvr>
                                      <p:tavLst>
                                        <p:tav tm="0">
                                          <p:val>
                                            <p:strVal val="#ppt_y+#ppt_h*1.125000"/>
                                          </p:val>
                                        </p:tav>
                                        <p:tav tm="100000">
                                          <p:val>
                                            <p:strVal val="#ppt_y"/>
                                          </p:val>
                                        </p:tav>
                                      </p:tavLst>
                                    </p:anim>
                                    <p:animEffect transition="in" filter="wipe(up)">
                                      <p:cBhvr>
                                        <p:cTn id="12" dur="1000"/>
                                        <p:tgtEl>
                                          <p:spTgt spid="25"/>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p:tgtEl>
                                          <p:spTgt spid="28"/>
                                        </p:tgtEl>
                                        <p:attrNameLst>
                                          <p:attrName>ppt_y</p:attrName>
                                        </p:attrNameLst>
                                      </p:cBhvr>
                                      <p:tavLst>
                                        <p:tav tm="0">
                                          <p:val>
                                            <p:strVal val="#ppt_y+#ppt_h*1.125000"/>
                                          </p:val>
                                        </p:tav>
                                        <p:tav tm="100000">
                                          <p:val>
                                            <p:strVal val="#ppt_y"/>
                                          </p:val>
                                        </p:tav>
                                      </p:tavLst>
                                    </p:anim>
                                    <p:animEffect transition="in" filter="wipe(up)">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p:tgtEl>
                                          <p:spTgt spid="19"/>
                                        </p:tgtEl>
                                        <p:attrNameLst>
                                          <p:attrName>ppt_y</p:attrName>
                                        </p:attrNameLst>
                                      </p:cBhvr>
                                      <p:tavLst>
                                        <p:tav tm="0">
                                          <p:val>
                                            <p:strVal val="#ppt_y+#ppt_h*1.125000"/>
                                          </p:val>
                                        </p:tav>
                                        <p:tav tm="100000">
                                          <p:val>
                                            <p:strVal val="#ppt_y"/>
                                          </p:val>
                                        </p:tav>
                                      </p:tavLst>
                                    </p:anim>
                                    <p:animEffect transition="in" filter="wipe(up)">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p:tgtEl>
                                          <p:spTgt spid="13"/>
                                        </p:tgtEl>
                                        <p:attrNameLst>
                                          <p:attrName>ppt_y</p:attrName>
                                        </p:attrNameLst>
                                      </p:cBhvr>
                                      <p:tavLst>
                                        <p:tav tm="0">
                                          <p:val>
                                            <p:strVal val="#ppt_y+#ppt_h*1.125000"/>
                                          </p:val>
                                        </p:tav>
                                        <p:tav tm="100000">
                                          <p:val>
                                            <p:strVal val="#ppt_y"/>
                                          </p:val>
                                        </p:tav>
                                      </p:tavLst>
                                    </p:anim>
                                    <p:animEffect transition="in" filter="wipe(up)">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7" grpId="0" animBg="1"/>
      <p:bldP spid="28" grpId="0"/>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21</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590871" y="1645546"/>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590871" y="1645546"/>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F18244AE-1DCB-4116-9968-A470B2CF1A0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32" name="Oval 31">
            <a:extLst>
              <a:ext uri="{FF2B5EF4-FFF2-40B4-BE49-F238E27FC236}">
                <a16:creationId xmlns:a16="http://schemas.microsoft.com/office/drawing/2014/main" id="{3FFC596D-9C06-8DC6-A40E-75DD4FDF725B}"/>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41" name="TextBox 40">
            <a:extLst>
              <a:ext uri="{FF2B5EF4-FFF2-40B4-BE49-F238E27FC236}">
                <a16:creationId xmlns:a16="http://schemas.microsoft.com/office/drawing/2014/main" id="{200C451C-146C-7DA9-D257-CD3F0D88CE0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19" name="Rectangle 18">
            <a:extLst>
              <a:ext uri="{FF2B5EF4-FFF2-40B4-BE49-F238E27FC236}">
                <a16:creationId xmlns:a16="http://schemas.microsoft.com/office/drawing/2014/main" id="{30DFB6B1-0846-21BE-DFBC-2275813F2AA2}"/>
              </a:ext>
            </a:extLst>
          </p:cNvPr>
          <p:cNvSpPr/>
          <p:nvPr/>
        </p:nvSpPr>
        <p:spPr>
          <a:xfrm>
            <a:off x="3251200" y="2082792"/>
            <a:ext cx="1361440" cy="721521"/>
          </a:xfrm>
          <a:prstGeom prst="rect">
            <a:avLst/>
          </a:prstGeom>
          <a:solidFill>
            <a:srgbClr val="0F5093">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accent1"/>
              </a:solidFill>
              <a:latin typeface="Times" pitchFamily="2" charset="0"/>
            </a:endParaRPr>
          </a:p>
        </p:txBody>
      </p:sp>
      <p:sp>
        <p:nvSpPr>
          <p:cNvPr id="2" name="TextBox 1"/>
          <p:cNvSpPr txBox="1"/>
          <p:nvPr/>
        </p:nvSpPr>
        <p:spPr>
          <a:xfrm>
            <a:off x="590870" y="4135120"/>
            <a:ext cx="11174410" cy="1708160"/>
          </a:xfrm>
          <a:prstGeom prst="rect">
            <a:avLst/>
          </a:prstGeom>
          <a:noFill/>
        </p:spPr>
        <p:txBody>
          <a:bodyPr wrap="square" rtlCol="0">
            <a:spAutoFit/>
          </a:bodyPr>
          <a:lstStyle/>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Change in commercial real estate loans </a:t>
            </a:r>
            <a:r>
              <a:rPr lang="en-US" sz="2100" dirty="0">
                <a:latin typeface="Times New Roman" pitchFamily="18" charset="0"/>
                <a:cs typeface="Times New Roman" pitchFamily="18" charset="0"/>
              </a:rPr>
              <a:t>held by all branches and subsidiaries of </a:t>
            </a:r>
            <a:r>
              <a:rPr lang="en-US" sz="2100" b="1" dirty="0">
                <a:solidFill>
                  <a:schemeClr val="accent1"/>
                </a:solidFill>
                <a:latin typeface="Times New Roman" pitchFamily="18" charset="0"/>
                <a:cs typeface="Times New Roman" pitchFamily="18" charset="0"/>
              </a:rPr>
              <a:t>Japanese banks </a:t>
            </a:r>
            <a:r>
              <a:rPr lang="en-US" sz="2100" dirty="0">
                <a:latin typeface="Times New Roman" pitchFamily="18" charset="0"/>
                <a:cs typeface="Times New Roman" pitchFamily="18" charset="0"/>
              </a:rPr>
              <a:t>in state                         Object of Interest</a:t>
            </a:r>
          </a:p>
          <a:p>
            <a:endParaRPr lang="en-US" sz="2100" dirty="0">
              <a:latin typeface="Times New Roman" pitchFamily="18" charset="0"/>
              <a:cs typeface="Times New Roman" pitchFamily="18" charset="0"/>
            </a:endParaRPr>
          </a:p>
          <a:p>
            <a:pPr marL="285750" indent="-285750">
              <a:buFont typeface="Wingdings" pitchFamily="2" charset="2"/>
              <a:buChar char="§"/>
            </a:pPr>
            <a:r>
              <a:rPr lang="en-US" sz="2100" dirty="0">
                <a:latin typeface="Times New Roman" pitchFamily="18" charset="0"/>
                <a:cs typeface="Times New Roman" pitchFamily="18" charset="0"/>
              </a:rPr>
              <a:t>The ratio of </a:t>
            </a:r>
            <a:r>
              <a:rPr lang="en-US" sz="2100" b="1" dirty="0">
                <a:solidFill>
                  <a:schemeClr val="accent1"/>
                </a:solidFill>
                <a:latin typeface="Times New Roman" pitchFamily="18" charset="0"/>
                <a:cs typeface="Times New Roman" pitchFamily="18" charset="0"/>
              </a:rPr>
              <a:t>nonperforming commercial real estate loans</a:t>
            </a:r>
            <a:r>
              <a:rPr lang="en-US" sz="2100" dirty="0">
                <a:latin typeface="Times New Roman" pitchFamily="18" charset="0"/>
                <a:cs typeface="Times New Roman" pitchFamily="18" charset="0"/>
              </a:rPr>
              <a:t> for </a:t>
            </a:r>
            <a:r>
              <a:rPr lang="en-US" sz="2100" b="1" dirty="0">
                <a:solidFill>
                  <a:schemeClr val="accent1"/>
                </a:solidFill>
                <a:latin typeface="Times New Roman" pitchFamily="18" charset="0"/>
                <a:cs typeface="Times New Roman" pitchFamily="18" charset="0"/>
              </a:rPr>
              <a:t>all</a:t>
            </a:r>
            <a:r>
              <a:rPr lang="en-US" sz="2100" dirty="0">
                <a:latin typeface="Times New Roman" pitchFamily="18" charset="0"/>
                <a:cs typeface="Times New Roman" pitchFamily="18" charset="0"/>
              </a:rPr>
              <a:t> domestically owned commercial banks plus foreign-owned bank affiliates in the state j</a:t>
            </a:r>
          </a:p>
        </p:txBody>
      </p:sp>
      <p:cxnSp>
        <p:nvCxnSpPr>
          <p:cNvPr id="4" name="Straight Arrow Connector 3"/>
          <p:cNvCxnSpPr/>
          <p:nvPr/>
        </p:nvCxnSpPr>
        <p:spPr>
          <a:xfrm>
            <a:off x="1828800" y="4693920"/>
            <a:ext cx="14224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382471" y="4502552"/>
            <a:ext cx="2092354" cy="37039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426276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p:tgtEl>
                                          <p:spTgt spid="32"/>
                                        </p:tgtEl>
                                        <p:attrNameLst>
                                          <p:attrName>ppt_y</p:attrName>
                                        </p:attrNameLst>
                                      </p:cBhvr>
                                      <p:tavLst>
                                        <p:tav tm="0">
                                          <p:val>
                                            <p:strVal val="#ppt_y+#ppt_h*1.125000"/>
                                          </p:val>
                                        </p:tav>
                                        <p:tav tm="100000">
                                          <p:val>
                                            <p:strVal val="#ppt_y"/>
                                          </p:val>
                                        </p:tav>
                                      </p:tavLst>
                                    </p:anim>
                                    <p:animEffect transition="in" filter="wipe(up)">
                                      <p:cBhvr>
                                        <p:cTn id="8" dur="1000"/>
                                        <p:tgtEl>
                                          <p:spTgt spid="3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p:tgtEl>
                                          <p:spTgt spid="31"/>
                                        </p:tgtEl>
                                        <p:attrNameLst>
                                          <p:attrName>ppt_y</p:attrName>
                                        </p:attrNameLst>
                                      </p:cBhvr>
                                      <p:tavLst>
                                        <p:tav tm="0">
                                          <p:val>
                                            <p:strVal val="#ppt_y+#ppt_h*1.125000"/>
                                          </p:val>
                                        </p:tav>
                                        <p:tav tm="100000">
                                          <p:val>
                                            <p:strVal val="#ppt_y"/>
                                          </p:val>
                                        </p:tav>
                                      </p:tavLst>
                                    </p:anim>
                                    <p:animEffect transition="in" filter="wipe(up)">
                                      <p:cBhvr>
                                        <p:cTn id="12" dur="1000"/>
                                        <p:tgtEl>
                                          <p:spTgt spid="31"/>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p:tgtEl>
                                          <p:spTgt spid="5"/>
                                        </p:tgtEl>
                                        <p:attrNameLst>
                                          <p:attrName>ppt_y</p:attrName>
                                        </p:attrNameLst>
                                      </p:cBhvr>
                                      <p:tavLst>
                                        <p:tav tm="0">
                                          <p:val>
                                            <p:strVal val="#ppt_y+#ppt_h*1.125000"/>
                                          </p:val>
                                        </p:tav>
                                        <p:tav tm="100000">
                                          <p:val>
                                            <p:strVal val="#ppt_y"/>
                                          </p:val>
                                        </p:tav>
                                      </p:tavLst>
                                    </p:anim>
                                    <p:animEffect transition="in" filter="wipe(up)">
                                      <p:cBhvr>
                                        <p:cTn id="2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1" grpId="0" animBg="1"/>
      <p:bldP spid="32" grpId="0" animBg="1"/>
      <p:bldP spid="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22</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794552" y="1893511"/>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794552" y="1893511"/>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86A5B545-EF6F-04C1-7B34-5D583205C2DA}"/>
              </a:ext>
            </a:extLst>
          </p:cNvPr>
          <p:cNvSpPr/>
          <p:nvPr/>
        </p:nvSpPr>
        <p:spPr>
          <a:xfrm>
            <a:off x="5822321" y="2277635"/>
            <a:ext cx="1400335"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tx1"/>
              </a:solidFill>
              <a:latin typeface="Times" pitchFamily="2" charset="0"/>
            </a:endParaRPr>
          </a:p>
        </p:txBody>
      </p:sp>
      <p:sp>
        <p:nvSpPr>
          <p:cNvPr id="19" name="TextBox 18">
            <a:extLst>
              <a:ext uri="{FF2B5EF4-FFF2-40B4-BE49-F238E27FC236}">
                <a16:creationId xmlns:a16="http://schemas.microsoft.com/office/drawing/2014/main" id="{55C7D8C8-4FE3-5F08-E3E1-4C3098FE0489}"/>
              </a:ext>
            </a:extLst>
          </p:cNvPr>
          <p:cNvSpPr txBox="1"/>
          <p:nvPr/>
        </p:nvSpPr>
        <p:spPr>
          <a:xfrm>
            <a:off x="732329" y="4545281"/>
            <a:ext cx="3054562" cy="667560"/>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98425"/>
            <a:r>
              <a:rPr lang="en-US" sz="2400" dirty="0">
                <a:solidFill>
                  <a:schemeClr val="tx1"/>
                </a:solidFill>
              </a:rPr>
              <a:t>Vacancy rate </a:t>
            </a:r>
            <a:endParaRPr lang="x-none" sz="2400" dirty="0">
              <a:solidFill>
                <a:schemeClr val="tx1"/>
              </a:solidFill>
            </a:endParaRPr>
          </a:p>
        </p:txBody>
      </p:sp>
      <p:sp>
        <p:nvSpPr>
          <p:cNvPr id="21" name="TextBox 20">
            <a:extLst>
              <a:ext uri="{FF2B5EF4-FFF2-40B4-BE49-F238E27FC236}">
                <a16:creationId xmlns:a16="http://schemas.microsoft.com/office/drawing/2014/main" id="{11F0CCA1-5A89-02BF-3EBF-E3BB467D3989}"/>
              </a:ext>
            </a:extLst>
          </p:cNvPr>
          <p:cNvSpPr txBox="1"/>
          <p:nvPr/>
        </p:nvSpPr>
        <p:spPr>
          <a:xfrm>
            <a:off x="4301418" y="4545281"/>
            <a:ext cx="5622757" cy="667560"/>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98425">
              <a:defRPr sz="24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State’s population growth rate per year </a:t>
            </a:r>
            <a:endParaRPr lang="x-none" dirty="0">
              <a:solidFill>
                <a:schemeClr val="tx1"/>
              </a:solidFill>
            </a:endParaRPr>
          </a:p>
        </p:txBody>
      </p:sp>
      <p:sp>
        <p:nvSpPr>
          <p:cNvPr id="23" name="TextBox 22">
            <a:extLst>
              <a:ext uri="{FF2B5EF4-FFF2-40B4-BE49-F238E27FC236}">
                <a16:creationId xmlns:a16="http://schemas.microsoft.com/office/drawing/2014/main" id="{A1AE4ACA-FFF3-43E7-4A57-269C3CE7319E}"/>
              </a:ext>
            </a:extLst>
          </p:cNvPr>
          <p:cNvSpPr txBox="1"/>
          <p:nvPr/>
        </p:nvSpPr>
        <p:spPr>
          <a:xfrm>
            <a:off x="4301418" y="5333712"/>
            <a:ext cx="5622758" cy="800869"/>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98425">
              <a:defRPr sz="24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0">
              <a:defRPr/>
            </a:pPr>
            <a:r>
              <a:rPr lang="en-US" sz="2100" dirty="0">
                <a:solidFill>
                  <a:schemeClr val="tx1"/>
                </a:solidFill>
              </a:rPr>
              <a:t> Growth of state personal income per capita </a:t>
            </a:r>
          </a:p>
        </p:txBody>
      </p:sp>
      <p:sp>
        <p:nvSpPr>
          <p:cNvPr id="24" name="TextBox 23">
            <a:extLst>
              <a:ext uri="{FF2B5EF4-FFF2-40B4-BE49-F238E27FC236}">
                <a16:creationId xmlns:a16="http://schemas.microsoft.com/office/drawing/2014/main" id="{67431ABB-9CB0-71A4-F791-196BAD8D17F2}"/>
              </a:ext>
            </a:extLst>
          </p:cNvPr>
          <p:cNvSpPr txBox="1"/>
          <p:nvPr/>
        </p:nvSpPr>
        <p:spPr>
          <a:xfrm>
            <a:off x="722723" y="5296773"/>
            <a:ext cx="3054563" cy="837808"/>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0">
              <a:defRPr/>
            </a:pPr>
            <a:r>
              <a:rPr lang="en-US" sz="2400" dirty="0">
                <a:solidFill>
                  <a:schemeClr val="tx1"/>
                </a:solidFill>
              </a:rPr>
              <a:t> Unemployment rate </a:t>
            </a:r>
          </a:p>
        </p:txBody>
      </p:sp>
      <p:sp>
        <p:nvSpPr>
          <p:cNvPr id="25" name="Rectangle 24">
            <a:extLst>
              <a:ext uri="{FF2B5EF4-FFF2-40B4-BE49-F238E27FC236}">
                <a16:creationId xmlns:a16="http://schemas.microsoft.com/office/drawing/2014/main" id="{7DD22D79-F05C-3F55-0156-F8EF7ABD5BCD}"/>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7" name="Oval 26">
            <a:extLst>
              <a:ext uri="{FF2B5EF4-FFF2-40B4-BE49-F238E27FC236}">
                <a16:creationId xmlns:a16="http://schemas.microsoft.com/office/drawing/2014/main" id="{61643A7D-8AB3-23B5-7943-31B65FA33EF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8" name="TextBox 27">
            <a:extLst>
              <a:ext uri="{FF2B5EF4-FFF2-40B4-BE49-F238E27FC236}">
                <a16:creationId xmlns:a16="http://schemas.microsoft.com/office/drawing/2014/main" id="{570A98E2-6228-DECF-309C-69F0FB68EE6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Tree>
    <p:extLst>
      <p:ext uri="{BB962C8B-B14F-4D97-AF65-F5344CB8AC3E}">
        <p14:creationId xmlns:p14="http://schemas.microsoft.com/office/powerpoint/2010/main" val="51032933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p:tgtEl>
                                          <p:spTgt spid="27"/>
                                        </p:tgtEl>
                                        <p:attrNameLst>
                                          <p:attrName>ppt_y</p:attrName>
                                        </p:attrNameLst>
                                      </p:cBhvr>
                                      <p:tavLst>
                                        <p:tav tm="0">
                                          <p:val>
                                            <p:strVal val="#ppt_y+#ppt_h*1.125000"/>
                                          </p:val>
                                        </p:tav>
                                        <p:tav tm="100000">
                                          <p:val>
                                            <p:strVal val="#ppt_y"/>
                                          </p:val>
                                        </p:tav>
                                      </p:tavLst>
                                    </p:anim>
                                    <p:animEffect transition="in" filter="wipe(up)">
                                      <p:cBhvr>
                                        <p:cTn id="8" dur="1000"/>
                                        <p:tgtEl>
                                          <p:spTgt spid="2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1000"/>
                                        <p:tgtEl>
                                          <p:spTgt spid="25"/>
                                        </p:tgtEl>
                                        <p:attrNameLst>
                                          <p:attrName>ppt_y</p:attrName>
                                        </p:attrNameLst>
                                      </p:cBhvr>
                                      <p:tavLst>
                                        <p:tav tm="0">
                                          <p:val>
                                            <p:strVal val="#ppt_y+#ppt_h*1.125000"/>
                                          </p:val>
                                        </p:tav>
                                        <p:tav tm="100000">
                                          <p:val>
                                            <p:strVal val="#ppt_y"/>
                                          </p:val>
                                        </p:tav>
                                      </p:tavLst>
                                    </p:anim>
                                    <p:animEffect transition="in" filter="wipe(up)">
                                      <p:cBhvr>
                                        <p:cTn id="12" dur="1000"/>
                                        <p:tgtEl>
                                          <p:spTgt spid="25"/>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p:tgtEl>
                                          <p:spTgt spid="28"/>
                                        </p:tgtEl>
                                        <p:attrNameLst>
                                          <p:attrName>ppt_y</p:attrName>
                                        </p:attrNameLst>
                                      </p:cBhvr>
                                      <p:tavLst>
                                        <p:tav tm="0">
                                          <p:val>
                                            <p:strVal val="#ppt_y+#ppt_h*1.125000"/>
                                          </p:val>
                                        </p:tav>
                                        <p:tav tm="100000">
                                          <p:val>
                                            <p:strVal val="#ppt_y"/>
                                          </p:val>
                                        </p:tav>
                                      </p:tavLst>
                                    </p:anim>
                                    <p:animEffect transition="in" filter="wipe(up)">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p:tgtEl>
                                          <p:spTgt spid="19"/>
                                        </p:tgtEl>
                                        <p:attrNameLst>
                                          <p:attrName>ppt_y</p:attrName>
                                        </p:attrNameLst>
                                      </p:cBhvr>
                                      <p:tavLst>
                                        <p:tav tm="0">
                                          <p:val>
                                            <p:strVal val="#ppt_y+#ppt_h*1.125000"/>
                                          </p:val>
                                        </p:tav>
                                        <p:tav tm="100000">
                                          <p:val>
                                            <p:strVal val="#ppt_y"/>
                                          </p:val>
                                        </p:tav>
                                      </p:tavLst>
                                    </p:anim>
                                    <p:animEffect transition="in" filter="wipe(up)">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p:tgtEl>
                                          <p:spTgt spid="24"/>
                                        </p:tgtEl>
                                        <p:attrNameLst>
                                          <p:attrName>ppt_y</p:attrName>
                                        </p:attrNameLst>
                                      </p:cBhvr>
                                      <p:tavLst>
                                        <p:tav tm="0">
                                          <p:val>
                                            <p:strVal val="#ppt_y+#ppt_h*1.125000"/>
                                          </p:val>
                                        </p:tav>
                                        <p:tav tm="100000">
                                          <p:val>
                                            <p:strVal val="#ppt_y"/>
                                          </p:val>
                                        </p:tav>
                                      </p:tavLst>
                                    </p:anim>
                                    <p:animEffect transition="in" filter="wipe(up)">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500"/>
                                        <p:tgtEl>
                                          <p:spTgt spid="21"/>
                                        </p:tgtEl>
                                        <p:attrNameLst>
                                          <p:attrName>ppt_y</p:attrName>
                                        </p:attrNameLst>
                                      </p:cBhvr>
                                      <p:tavLst>
                                        <p:tav tm="0">
                                          <p:val>
                                            <p:strVal val="#ppt_y+#ppt_h*1.125000"/>
                                          </p:val>
                                        </p:tav>
                                        <p:tav tm="100000">
                                          <p:val>
                                            <p:strVal val="#ppt_y"/>
                                          </p:val>
                                        </p:tav>
                                      </p:tavLst>
                                    </p:anim>
                                    <p:animEffect transition="in" filter="wipe(up)">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additive="base">
                                        <p:cTn id="40" dur="500"/>
                                        <p:tgtEl>
                                          <p:spTgt spid="23"/>
                                        </p:tgtEl>
                                        <p:attrNameLst>
                                          <p:attrName>ppt_y</p:attrName>
                                        </p:attrNameLst>
                                      </p:cBhvr>
                                      <p:tavLst>
                                        <p:tav tm="0">
                                          <p:val>
                                            <p:strVal val="#ppt_y+#ppt_h*1.125000"/>
                                          </p:val>
                                        </p:tav>
                                        <p:tav tm="100000">
                                          <p:val>
                                            <p:strVal val="#ppt_y"/>
                                          </p:val>
                                        </p:tav>
                                      </p:tavLst>
                                    </p:anim>
                                    <p:animEffect transition="in" filter="wipe(up)">
                                      <p:cBhvr>
                                        <p:cTn id="4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P spid="24" grpId="0" animBg="1"/>
      <p:bldP spid="25" grpId="0" animBg="1"/>
      <p:bldP spid="27" grpId="0" animBg="1"/>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23</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794552" y="1893511"/>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794552" y="1893511"/>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86A5B545-EF6F-04C1-7B34-5D583205C2DA}"/>
              </a:ext>
            </a:extLst>
          </p:cNvPr>
          <p:cNvSpPr/>
          <p:nvPr/>
        </p:nvSpPr>
        <p:spPr>
          <a:xfrm>
            <a:off x="8171982" y="2217184"/>
            <a:ext cx="1909567"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tx1"/>
              </a:solidFill>
              <a:latin typeface="Times" pitchFamily="2" charset="0"/>
            </a:endParaRPr>
          </a:p>
        </p:txBody>
      </p:sp>
      <p:sp>
        <p:nvSpPr>
          <p:cNvPr id="19" name="TextBox 18">
            <a:extLst>
              <a:ext uri="{FF2B5EF4-FFF2-40B4-BE49-F238E27FC236}">
                <a16:creationId xmlns:a16="http://schemas.microsoft.com/office/drawing/2014/main" id="{55C7D8C8-4FE3-5F08-E3E1-4C3098FE0489}"/>
              </a:ext>
            </a:extLst>
          </p:cNvPr>
          <p:cNvSpPr txBox="1"/>
          <p:nvPr/>
        </p:nvSpPr>
        <p:spPr>
          <a:xfrm>
            <a:off x="4301418" y="4878115"/>
            <a:ext cx="6798704" cy="496489"/>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98425"/>
            <a:r>
              <a:rPr lang="en-US" sz="2100" dirty="0">
                <a:solidFill>
                  <a:schemeClr val="tx1"/>
                </a:solidFill>
              </a:rPr>
              <a:t>      Interest rate of 30-year-fixed-mortgage</a:t>
            </a:r>
            <a:endParaRPr lang="x-none" sz="2100" dirty="0">
              <a:solidFill>
                <a:schemeClr val="tx1"/>
              </a:solidFill>
            </a:endParaRPr>
          </a:p>
        </p:txBody>
      </p:sp>
      <p:sp>
        <p:nvSpPr>
          <p:cNvPr id="21" name="TextBox 20">
            <a:extLst>
              <a:ext uri="{FF2B5EF4-FFF2-40B4-BE49-F238E27FC236}">
                <a16:creationId xmlns:a16="http://schemas.microsoft.com/office/drawing/2014/main" id="{11F0CCA1-5A89-02BF-3EBF-E3BB467D3989}"/>
              </a:ext>
            </a:extLst>
          </p:cNvPr>
          <p:cNvSpPr txBox="1"/>
          <p:nvPr/>
        </p:nvSpPr>
        <p:spPr>
          <a:xfrm>
            <a:off x="4301418" y="4190035"/>
            <a:ext cx="6798704" cy="534984"/>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98425">
              <a:defRPr sz="24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2100" dirty="0">
                <a:solidFill>
                  <a:schemeClr val="tx1"/>
                </a:solidFill>
              </a:rPr>
              <a:t>      Level of the Michigan consumer sentiment index</a:t>
            </a:r>
            <a:endParaRPr lang="x-none" sz="2100" dirty="0">
              <a:solidFill>
                <a:schemeClr val="tx1"/>
              </a:solidFill>
            </a:endParaRPr>
          </a:p>
        </p:txBody>
      </p:sp>
      <p:sp>
        <p:nvSpPr>
          <p:cNvPr id="24" name="TextBox 23">
            <a:extLst>
              <a:ext uri="{FF2B5EF4-FFF2-40B4-BE49-F238E27FC236}">
                <a16:creationId xmlns:a16="http://schemas.microsoft.com/office/drawing/2014/main" id="{67431ABB-9CB0-71A4-F791-196BAD8D17F2}"/>
              </a:ext>
            </a:extLst>
          </p:cNvPr>
          <p:cNvSpPr txBox="1"/>
          <p:nvPr/>
        </p:nvSpPr>
        <p:spPr>
          <a:xfrm>
            <a:off x="4301418" y="5532698"/>
            <a:ext cx="6798704" cy="597087"/>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2100" dirty="0">
                <a:solidFill>
                  <a:schemeClr val="tx1"/>
                </a:solidFill>
              </a:rPr>
              <a:t>Annualized CPI inflation rate </a:t>
            </a:r>
          </a:p>
        </p:txBody>
      </p:sp>
      <p:sp>
        <p:nvSpPr>
          <p:cNvPr id="25" name="Rectangle 24">
            <a:extLst>
              <a:ext uri="{FF2B5EF4-FFF2-40B4-BE49-F238E27FC236}">
                <a16:creationId xmlns:a16="http://schemas.microsoft.com/office/drawing/2014/main" id="{7DD22D79-F05C-3F55-0156-F8EF7ABD5BCD}"/>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7" name="Oval 26">
            <a:extLst>
              <a:ext uri="{FF2B5EF4-FFF2-40B4-BE49-F238E27FC236}">
                <a16:creationId xmlns:a16="http://schemas.microsoft.com/office/drawing/2014/main" id="{61643A7D-8AB3-23B5-7943-31B65FA33EF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8" name="TextBox 27">
            <a:extLst>
              <a:ext uri="{FF2B5EF4-FFF2-40B4-BE49-F238E27FC236}">
                <a16:creationId xmlns:a16="http://schemas.microsoft.com/office/drawing/2014/main" id="{570A98E2-6228-DECF-309C-69F0FB68EE6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Tree>
    <p:extLst>
      <p:ext uri="{BB962C8B-B14F-4D97-AF65-F5344CB8AC3E}">
        <p14:creationId xmlns:p14="http://schemas.microsoft.com/office/powerpoint/2010/main" val="217686305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p:tgtEl>
                                          <p:spTgt spid="27"/>
                                        </p:tgtEl>
                                        <p:attrNameLst>
                                          <p:attrName>ppt_y</p:attrName>
                                        </p:attrNameLst>
                                      </p:cBhvr>
                                      <p:tavLst>
                                        <p:tav tm="0">
                                          <p:val>
                                            <p:strVal val="#ppt_y+#ppt_h*1.125000"/>
                                          </p:val>
                                        </p:tav>
                                        <p:tav tm="100000">
                                          <p:val>
                                            <p:strVal val="#ppt_y"/>
                                          </p:val>
                                        </p:tav>
                                      </p:tavLst>
                                    </p:anim>
                                    <p:animEffect transition="in" filter="wipe(up)">
                                      <p:cBhvr>
                                        <p:cTn id="8" dur="1000"/>
                                        <p:tgtEl>
                                          <p:spTgt spid="2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1000"/>
                                        <p:tgtEl>
                                          <p:spTgt spid="25"/>
                                        </p:tgtEl>
                                        <p:attrNameLst>
                                          <p:attrName>ppt_y</p:attrName>
                                        </p:attrNameLst>
                                      </p:cBhvr>
                                      <p:tavLst>
                                        <p:tav tm="0">
                                          <p:val>
                                            <p:strVal val="#ppt_y+#ppt_h*1.125000"/>
                                          </p:val>
                                        </p:tav>
                                        <p:tav tm="100000">
                                          <p:val>
                                            <p:strVal val="#ppt_y"/>
                                          </p:val>
                                        </p:tav>
                                      </p:tavLst>
                                    </p:anim>
                                    <p:animEffect transition="in" filter="wipe(up)">
                                      <p:cBhvr>
                                        <p:cTn id="12" dur="1000"/>
                                        <p:tgtEl>
                                          <p:spTgt spid="25"/>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p:tgtEl>
                                          <p:spTgt spid="28"/>
                                        </p:tgtEl>
                                        <p:attrNameLst>
                                          <p:attrName>ppt_y</p:attrName>
                                        </p:attrNameLst>
                                      </p:cBhvr>
                                      <p:tavLst>
                                        <p:tav tm="0">
                                          <p:val>
                                            <p:strVal val="#ppt_y+#ppt_h*1.125000"/>
                                          </p:val>
                                        </p:tav>
                                        <p:tav tm="100000">
                                          <p:val>
                                            <p:strVal val="#ppt_y"/>
                                          </p:val>
                                        </p:tav>
                                      </p:tavLst>
                                    </p:anim>
                                    <p:animEffect transition="in" filter="wipe(up)">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p:tgtEl>
                                          <p:spTgt spid="19"/>
                                        </p:tgtEl>
                                        <p:attrNameLst>
                                          <p:attrName>ppt_y</p:attrName>
                                        </p:attrNameLst>
                                      </p:cBhvr>
                                      <p:tavLst>
                                        <p:tav tm="0">
                                          <p:val>
                                            <p:strVal val="#ppt_y+#ppt_h*1.125000"/>
                                          </p:val>
                                        </p:tav>
                                        <p:tav tm="100000">
                                          <p:val>
                                            <p:strVal val="#ppt_y"/>
                                          </p:val>
                                        </p:tav>
                                      </p:tavLst>
                                    </p:anim>
                                    <p:animEffect transition="in" filter="wipe(up)">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p:tgtEl>
                                          <p:spTgt spid="24"/>
                                        </p:tgtEl>
                                        <p:attrNameLst>
                                          <p:attrName>ppt_y</p:attrName>
                                        </p:attrNameLst>
                                      </p:cBhvr>
                                      <p:tavLst>
                                        <p:tav tm="0">
                                          <p:val>
                                            <p:strVal val="#ppt_y+#ppt_h*1.125000"/>
                                          </p:val>
                                        </p:tav>
                                        <p:tav tm="100000">
                                          <p:val>
                                            <p:strVal val="#ppt_y"/>
                                          </p:val>
                                        </p:tav>
                                      </p:tavLst>
                                    </p:anim>
                                    <p:animEffect transition="in" filter="wipe(up)">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500"/>
                                        <p:tgtEl>
                                          <p:spTgt spid="21"/>
                                        </p:tgtEl>
                                        <p:attrNameLst>
                                          <p:attrName>ppt_y</p:attrName>
                                        </p:attrNameLst>
                                      </p:cBhvr>
                                      <p:tavLst>
                                        <p:tav tm="0">
                                          <p:val>
                                            <p:strVal val="#ppt_y+#ppt_h*1.125000"/>
                                          </p:val>
                                        </p:tav>
                                        <p:tav tm="100000">
                                          <p:val>
                                            <p:strVal val="#ppt_y"/>
                                          </p:val>
                                        </p:tav>
                                      </p:tavLst>
                                    </p:anim>
                                    <p:animEffect transition="in" filter="wipe(up)">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4" grpId="0" animBg="1"/>
      <p:bldP spid="25" grpId="0" animBg="1"/>
      <p:bldP spid="27" grpId="0" animBg="1"/>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24</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590871" y="1645546"/>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590871" y="1645546"/>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F18244AE-1DCB-4116-9968-A470B2CF1A0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32" name="Oval 31">
            <a:extLst>
              <a:ext uri="{FF2B5EF4-FFF2-40B4-BE49-F238E27FC236}">
                <a16:creationId xmlns:a16="http://schemas.microsoft.com/office/drawing/2014/main" id="{3FFC596D-9C06-8DC6-A40E-75DD4FDF725B}"/>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41" name="TextBox 40">
            <a:extLst>
              <a:ext uri="{FF2B5EF4-FFF2-40B4-BE49-F238E27FC236}">
                <a16:creationId xmlns:a16="http://schemas.microsoft.com/office/drawing/2014/main" id="{200C451C-146C-7DA9-D257-CD3F0D88CE0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19" name="Rectangle 18">
            <a:extLst>
              <a:ext uri="{FF2B5EF4-FFF2-40B4-BE49-F238E27FC236}">
                <a16:creationId xmlns:a16="http://schemas.microsoft.com/office/drawing/2014/main" id="{30DFB6B1-0846-21BE-DFBC-2275813F2AA2}"/>
              </a:ext>
            </a:extLst>
          </p:cNvPr>
          <p:cNvSpPr/>
          <p:nvPr/>
        </p:nvSpPr>
        <p:spPr>
          <a:xfrm>
            <a:off x="3251200" y="2082792"/>
            <a:ext cx="1361440" cy="721521"/>
          </a:xfrm>
          <a:prstGeom prst="rect">
            <a:avLst/>
          </a:prstGeom>
          <a:solidFill>
            <a:srgbClr val="0F5093">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accent1"/>
              </a:solidFill>
              <a:latin typeface="Times" pitchFamily="2" charset="0"/>
            </a:endParaRPr>
          </a:p>
        </p:txBody>
      </p:sp>
      <p:sp>
        <p:nvSpPr>
          <p:cNvPr id="2" name="TextBox 1"/>
          <p:cNvSpPr txBox="1"/>
          <p:nvPr/>
        </p:nvSpPr>
        <p:spPr>
          <a:xfrm>
            <a:off x="436381" y="3599875"/>
            <a:ext cx="11174410" cy="1877437"/>
          </a:xfrm>
          <a:prstGeom prst="rect">
            <a:avLst/>
          </a:prstGeom>
          <a:noFill/>
        </p:spPr>
        <p:txBody>
          <a:bodyPr wrap="square" rtlCol="0">
            <a:spAutoFit/>
          </a:bodyPr>
          <a:lstStyle/>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Change in commercial real estate loans </a:t>
            </a:r>
            <a:r>
              <a:rPr lang="en-US" sz="2100" dirty="0">
                <a:latin typeface="Times New Roman" pitchFamily="18" charset="0"/>
                <a:cs typeface="Times New Roman" pitchFamily="18" charset="0"/>
              </a:rPr>
              <a:t>held by all branches and subsidiaries of </a:t>
            </a:r>
            <a:r>
              <a:rPr lang="en-US" sz="2100" b="1" dirty="0">
                <a:solidFill>
                  <a:schemeClr val="accent1"/>
                </a:solidFill>
                <a:latin typeface="Times New Roman" pitchFamily="18" charset="0"/>
                <a:cs typeface="Times New Roman" pitchFamily="18" charset="0"/>
              </a:rPr>
              <a:t>Japanese banks </a:t>
            </a:r>
            <a:r>
              <a:rPr lang="en-US" sz="2100" dirty="0">
                <a:latin typeface="Times New Roman" pitchFamily="18" charset="0"/>
                <a:cs typeface="Times New Roman" pitchFamily="18" charset="0"/>
              </a:rPr>
              <a:t>in state object of interest</a:t>
            </a:r>
          </a:p>
          <a:p>
            <a:endParaRPr lang="en-US" sz="2100" dirty="0">
              <a:latin typeface="Times New Roman" pitchFamily="18" charset="0"/>
              <a:cs typeface="Times New Roman" pitchFamily="18" charset="0"/>
            </a:endParaRPr>
          </a:p>
          <a:p>
            <a:r>
              <a:rPr lang="en-US" sz="3200" b="1" dirty="0">
                <a:solidFill>
                  <a:srgbClr val="FF0000"/>
                </a:solidFill>
                <a:latin typeface="Times New Roman" pitchFamily="18" charset="0"/>
                <a:cs typeface="Times New Roman" pitchFamily="18" charset="0"/>
              </a:rPr>
              <a:t>! </a:t>
            </a:r>
            <a:r>
              <a:rPr lang="en-US" sz="2100" b="1" dirty="0">
                <a:solidFill>
                  <a:schemeClr val="accent1"/>
                </a:solidFill>
                <a:latin typeface="Times New Roman" pitchFamily="18" charset="0"/>
                <a:cs typeface="Times New Roman" pitchFamily="18" charset="0"/>
              </a:rPr>
              <a:t>Change in lending </a:t>
            </a:r>
            <a:r>
              <a:rPr lang="en-US" sz="2100" dirty="0">
                <a:latin typeface="Times New Roman" pitchFamily="18" charset="0"/>
                <a:cs typeface="Times New Roman" pitchFamily="18" charset="0"/>
              </a:rPr>
              <a:t>by Japanese banks may reflect shocks to the </a:t>
            </a:r>
            <a:r>
              <a:rPr lang="en-US" sz="2100" b="1" dirty="0">
                <a:solidFill>
                  <a:schemeClr val="accent1"/>
                </a:solidFill>
                <a:latin typeface="Times New Roman" pitchFamily="18" charset="0"/>
                <a:cs typeface="Times New Roman" pitchFamily="18" charset="0"/>
              </a:rPr>
              <a:t>demand</a:t>
            </a:r>
            <a:r>
              <a:rPr lang="en-US" sz="2100" dirty="0">
                <a:solidFill>
                  <a:schemeClr val="accent1"/>
                </a:solidFill>
                <a:latin typeface="Times New Roman" pitchFamily="18" charset="0"/>
                <a:cs typeface="Times New Roman" pitchFamily="18" charset="0"/>
              </a:rPr>
              <a:t> </a:t>
            </a:r>
            <a:r>
              <a:rPr lang="en-US" sz="2100" dirty="0">
                <a:latin typeface="Times New Roman" pitchFamily="18" charset="0"/>
                <a:cs typeface="Times New Roman" pitchFamily="18" charset="0"/>
              </a:rPr>
              <a:t>as well as </a:t>
            </a:r>
            <a:r>
              <a:rPr lang="en-US" sz="2100" b="1" dirty="0">
                <a:solidFill>
                  <a:schemeClr val="accent1"/>
                </a:solidFill>
                <a:latin typeface="Times New Roman" pitchFamily="18" charset="0"/>
                <a:cs typeface="Times New Roman" pitchFamily="18" charset="0"/>
              </a:rPr>
              <a:t>supply</a:t>
            </a:r>
            <a:r>
              <a:rPr lang="en-US" sz="2100" dirty="0">
                <a:latin typeface="Times New Roman" pitchFamily="18" charset="0"/>
                <a:cs typeface="Times New Roman" pitchFamily="18" charset="0"/>
              </a:rPr>
              <a:t> of real    estate credit</a:t>
            </a:r>
            <a:endParaRPr lang="en-US" sz="3200" b="1" dirty="0">
              <a:solidFill>
                <a:srgbClr val="FF0000"/>
              </a:solidFill>
              <a:latin typeface="Times New Roman" pitchFamily="18" charset="0"/>
              <a:cs typeface="Times New Roman" pitchFamily="18" charset="0"/>
            </a:endParaRPr>
          </a:p>
        </p:txBody>
      </p:sp>
      <p:sp>
        <p:nvSpPr>
          <p:cNvPr id="3" name="Rectangle 2"/>
          <p:cNvSpPr/>
          <p:nvPr/>
        </p:nvSpPr>
        <p:spPr>
          <a:xfrm>
            <a:off x="467669" y="4538593"/>
            <a:ext cx="11037565" cy="1040404"/>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35738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p:tgtEl>
                                          <p:spTgt spid="32"/>
                                        </p:tgtEl>
                                        <p:attrNameLst>
                                          <p:attrName>ppt_y</p:attrName>
                                        </p:attrNameLst>
                                      </p:cBhvr>
                                      <p:tavLst>
                                        <p:tav tm="0">
                                          <p:val>
                                            <p:strVal val="#ppt_y+#ppt_h*1.125000"/>
                                          </p:val>
                                        </p:tav>
                                        <p:tav tm="100000">
                                          <p:val>
                                            <p:strVal val="#ppt_y"/>
                                          </p:val>
                                        </p:tav>
                                      </p:tavLst>
                                    </p:anim>
                                    <p:animEffect transition="in" filter="wipe(up)">
                                      <p:cBhvr>
                                        <p:cTn id="8" dur="1000"/>
                                        <p:tgtEl>
                                          <p:spTgt spid="3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p:tgtEl>
                                          <p:spTgt spid="31"/>
                                        </p:tgtEl>
                                        <p:attrNameLst>
                                          <p:attrName>ppt_y</p:attrName>
                                        </p:attrNameLst>
                                      </p:cBhvr>
                                      <p:tavLst>
                                        <p:tav tm="0">
                                          <p:val>
                                            <p:strVal val="#ppt_y+#ppt_h*1.125000"/>
                                          </p:val>
                                        </p:tav>
                                        <p:tav tm="100000">
                                          <p:val>
                                            <p:strVal val="#ppt_y"/>
                                          </p:val>
                                        </p:tav>
                                      </p:tavLst>
                                    </p:anim>
                                    <p:animEffect transition="in" filter="wipe(up)">
                                      <p:cBhvr>
                                        <p:cTn id="12" dur="1000"/>
                                        <p:tgtEl>
                                          <p:spTgt spid="31"/>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p:tgtEl>
                                          <p:spTgt spid="5"/>
                                        </p:tgtEl>
                                        <p:attrNameLst>
                                          <p:attrName>ppt_y</p:attrName>
                                        </p:attrNameLst>
                                      </p:cBhvr>
                                      <p:tavLst>
                                        <p:tav tm="0">
                                          <p:val>
                                            <p:strVal val="#ppt_y+#ppt_h*1.125000"/>
                                          </p:val>
                                        </p:tav>
                                        <p:tav tm="100000">
                                          <p:val>
                                            <p:strVal val="#ppt_y"/>
                                          </p:val>
                                        </p:tav>
                                      </p:tavLst>
                                    </p:anim>
                                    <p:animEffect transition="in" filter="wipe(up)">
                                      <p:cBhvr>
                                        <p:cTn id="2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1" grpId="0" animBg="1"/>
      <p:bldP spid="32" grpId="0" animBg="1"/>
      <p:bldP spid="4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25</a:t>
            </a:fld>
            <a:endParaRPr lang="x-none" dirty="0"/>
          </a:p>
        </p:txBody>
      </p:sp>
      <p:sp>
        <p:nvSpPr>
          <p:cNvPr id="31" name="Rectangle 30">
            <a:extLst>
              <a:ext uri="{FF2B5EF4-FFF2-40B4-BE49-F238E27FC236}">
                <a16:creationId xmlns:a16="http://schemas.microsoft.com/office/drawing/2014/main" id="{F18244AE-1DCB-4116-9968-A470B2CF1A0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32" name="Oval 31">
            <a:extLst>
              <a:ext uri="{FF2B5EF4-FFF2-40B4-BE49-F238E27FC236}">
                <a16:creationId xmlns:a16="http://schemas.microsoft.com/office/drawing/2014/main" id="{3FFC596D-9C06-8DC6-A40E-75DD4FDF725B}"/>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41" name="TextBox 40">
            <a:extLst>
              <a:ext uri="{FF2B5EF4-FFF2-40B4-BE49-F238E27FC236}">
                <a16:creationId xmlns:a16="http://schemas.microsoft.com/office/drawing/2014/main" id="{200C451C-146C-7DA9-D257-CD3F0D88CE00}"/>
              </a:ext>
            </a:extLst>
          </p:cNvPr>
          <p:cNvSpPr txBox="1"/>
          <p:nvPr/>
        </p:nvSpPr>
        <p:spPr>
          <a:xfrm>
            <a:off x="3251200" y="381064"/>
            <a:ext cx="3726341"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Instrumental Variables</a:t>
            </a:r>
            <a:endParaRPr lang="x-none" sz="2800" b="1" dirty="0">
              <a:solidFill>
                <a:srgbClr val="0F5093"/>
              </a:solidFill>
              <a:latin typeface="Times" pitchFamily="2" charset="0"/>
              <a:ea typeface="+mj-ea"/>
              <a:cs typeface="+mj-cs"/>
            </a:endParaRPr>
          </a:p>
        </p:txBody>
      </p:sp>
      <p:sp>
        <p:nvSpPr>
          <p:cNvPr id="2" name="TextBox 1"/>
          <p:cNvSpPr txBox="1"/>
          <p:nvPr/>
        </p:nvSpPr>
        <p:spPr>
          <a:xfrm>
            <a:off x="436381" y="1151315"/>
            <a:ext cx="11174410" cy="6232475"/>
          </a:xfrm>
          <a:prstGeom prst="rect">
            <a:avLst/>
          </a:prstGeom>
          <a:noFill/>
        </p:spPr>
        <p:txBody>
          <a:bodyPr wrap="square" rtlCol="0">
            <a:spAutoFit/>
          </a:bodyPr>
          <a:lstStyle/>
          <a:p>
            <a:pPr marL="285750" indent="-285750">
              <a:buFont typeface="Wingdings" pitchFamily="2" charset="2"/>
              <a:buChar char="§"/>
            </a:pPr>
            <a:r>
              <a:rPr lang="en-US" sz="2100" dirty="0">
                <a:latin typeface="Times New Roman" pitchFamily="18" charset="0"/>
                <a:cs typeface="Times New Roman" pitchFamily="18" charset="0"/>
              </a:rPr>
              <a:t>Change</a:t>
            </a:r>
            <a:r>
              <a:rPr lang="en-US" sz="2100" b="1" dirty="0">
                <a:latin typeface="Times New Roman" pitchFamily="18" charset="0"/>
                <a:cs typeface="Times New Roman" pitchFamily="18" charset="0"/>
              </a:rPr>
              <a:t> </a:t>
            </a:r>
            <a:r>
              <a:rPr lang="en-US" sz="2100" b="1" dirty="0">
                <a:solidFill>
                  <a:schemeClr val="accent1"/>
                </a:solidFill>
                <a:latin typeface="Times New Roman" pitchFamily="18" charset="0"/>
                <a:cs typeface="Times New Roman" pitchFamily="18" charset="0"/>
              </a:rPr>
              <a:t>in commercial real estate loans </a:t>
            </a:r>
            <a:r>
              <a:rPr lang="en-US" sz="2100" dirty="0">
                <a:latin typeface="Times New Roman" pitchFamily="18" charset="0"/>
                <a:cs typeface="Times New Roman" pitchFamily="18" charset="0"/>
              </a:rPr>
              <a:t>held by all branches and subsidiaries of </a:t>
            </a:r>
            <a:r>
              <a:rPr lang="en-US" sz="2100" b="1" dirty="0">
                <a:solidFill>
                  <a:schemeClr val="accent1"/>
                </a:solidFill>
                <a:latin typeface="Times New Roman" pitchFamily="18" charset="0"/>
                <a:cs typeface="Times New Roman" pitchFamily="18" charset="0"/>
              </a:rPr>
              <a:t>Japanese banks </a:t>
            </a:r>
            <a:r>
              <a:rPr lang="en-US" sz="2100" dirty="0">
                <a:latin typeface="Times New Roman" pitchFamily="18" charset="0"/>
                <a:cs typeface="Times New Roman" pitchFamily="18" charset="0"/>
              </a:rPr>
              <a:t>in state object of interest</a:t>
            </a:r>
          </a:p>
          <a:p>
            <a:endParaRPr lang="en-US" sz="2100" dirty="0">
              <a:latin typeface="Times New Roman" pitchFamily="18" charset="0"/>
              <a:cs typeface="Times New Roman" pitchFamily="18" charset="0"/>
            </a:endParaRPr>
          </a:p>
          <a:p>
            <a:pPr marL="285750" indent="-285750">
              <a:buFont typeface="Wingdings" pitchFamily="2" charset="2"/>
              <a:buChar char="§"/>
            </a:pPr>
            <a:r>
              <a:rPr lang="en-US" sz="2100" dirty="0">
                <a:latin typeface="Times New Roman" pitchFamily="18" charset="0"/>
                <a:cs typeface="Times New Roman" pitchFamily="18" charset="0"/>
              </a:rPr>
              <a:t>Criteria: Variables reflecting loan </a:t>
            </a:r>
            <a:r>
              <a:rPr lang="en-US" sz="2100" b="1" dirty="0">
                <a:solidFill>
                  <a:schemeClr val="accent1"/>
                </a:solidFill>
                <a:latin typeface="Times New Roman" pitchFamily="18" charset="0"/>
                <a:cs typeface="Times New Roman" pitchFamily="18" charset="0"/>
              </a:rPr>
              <a:t>supply effects emanating from Japan</a:t>
            </a:r>
          </a:p>
          <a:p>
            <a:pPr marL="285750" indent="-285750">
              <a:buFont typeface="Wingdings" pitchFamily="2" charset="2"/>
              <a:buChar char="§"/>
            </a:pPr>
            <a:endParaRPr lang="en-US" sz="2100" b="1" dirty="0">
              <a:solidFill>
                <a:schemeClr val="accent1"/>
              </a:solidFill>
              <a:latin typeface="Times New Roman" pitchFamily="18" charset="0"/>
              <a:cs typeface="Times New Roman" pitchFamily="18" charset="0"/>
            </a:endParaRPr>
          </a:p>
          <a:p>
            <a:endParaRPr lang="en-US" sz="2100" b="1" dirty="0">
              <a:solidFill>
                <a:schemeClr val="accent1"/>
              </a:solidFill>
              <a:latin typeface="Times New Roman" pitchFamily="18" charset="0"/>
              <a:cs typeface="Times New Roman" pitchFamily="18" charset="0"/>
            </a:endParaRPr>
          </a:p>
          <a:p>
            <a:pPr marL="1714500" lvl="3" indent="-342900">
              <a:buFont typeface="Wingdings" pitchFamily="2" charset="2"/>
              <a:buChar char="§"/>
            </a:pPr>
            <a:r>
              <a:rPr lang="en-US" sz="2100" dirty="0">
                <a:latin typeface="Times New Roman" pitchFamily="18" charset="0"/>
                <a:cs typeface="Times New Roman" pitchFamily="18" charset="0"/>
              </a:rPr>
              <a:t>Average </a:t>
            </a:r>
            <a:r>
              <a:rPr lang="en-US" sz="2100" b="1" dirty="0">
                <a:solidFill>
                  <a:schemeClr val="accent1"/>
                </a:solidFill>
                <a:latin typeface="Times New Roman" pitchFamily="18" charset="0"/>
                <a:cs typeface="Times New Roman" pitchFamily="18" charset="0"/>
              </a:rPr>
              <a:t>risk based capital ratio </a:t>
            </a:r>
            <a:r>
              <a:rPr lang="en-US" sz="2100" dirty="0">
                <a:latin typeface="Times New Roman" pitchFamily="18" charset="0"/>
                <a:cs typeface="Times New Roman" pitchFamily="18" charset="0"/>
              </a:rPr>
              <a:t>for Japanese parent bank (1)</a:t>
            </a:r>
          </a:p>
          <a:p>
            <a:pPr marL="1714500" lvl="3" indent="-342900">
              <a:buFont typeface="Wingdings" pitchFamily="2" charset="2"/>
              <a:buChar char="§"/>
            </a:pPr>
            <a:r>
              <a:rPr lang="en-US" sz="2100" dirty="0">
                <a:latin typeface="Times New Roman" pitchFamily="18" charset="0"/>
                <a:cs typeface="Times New Roman" pitchFamily="18" charset="0"/>
              </a:rPr>
              <a:t>(0,1) dummy indicating the period for which data (1) is available </a:t>
            </a:r>
          </a:p>
          <a:p>
            <a:pPr marL="1714500" lvl="3" indent="-342900">
              <a:buFont typeface="Wingdings" pitchFamily="2" charset="2"/>
              <a:buChar char="§"/>
            </a:pPr>
            <a:r>
              <a:rPr lang="en-US" sz="2100" dirty="0">
                <a:latin typeface="Times New Roman" pitchFamily="18" charset="0"/>
                <a:cs typeface="Times New Roman" pitchFamily="18" charset="0"/>
              </a:rPr>
              <a:t> Annualized percentage change in </a:t>
            </a:r>
            <a:r>
              <a:rPr lang="en-US" sz="2100" b="1" dirty="0">
                <a:solidFill>
                  <a:schemeClr val="accent1"/>
                </a:solidFill>
                <a:latin typeface="Times New Roman" pitchFamily="18" charset="0"/>
                <a:cs typeface="Times New Roman" pitchFamily="18" charset="0"/>
              </a:rPr>
              <a:t>Japanese commercial and land prices</a:t>
            </a:r>
          </a:p>
          <a:p>
            <a:r>
              <a:rPr lang="en-US" sz="2100" b="1" dirty="0">
                <a:solidFill>
                  <a:schemeClr val="accent1"/>
                </a:solidFill>
                <a:latin typeface="Times New Roman" pitchFamily="18" charset="0"/>
                <a:cs typeface="Times New Roman" pitchFamily="18" charset="0"/>
              </a:rPr>
              <a:t>                    </a:t>
            </a:r>
          </a:p>
          <a:p>
            <a:endParaRPr lang="en-US" sz="2100" b="1" dirty="0">
              <a:solidFill>
                <a:schemeClr val="accent1"/>
              </a:solidFill>
              <a:latin typeface="Times New Roman" pitchFamily="18" charset="0"/>
              <a:cs typeface="Times New Roman" pitchFamily="18" charset="0"/>
            </a:endParaRPr>
          </a:p>
          <a:p>
            <a:endParaRPr lang="en-US" sz="2100" b="1" dirty="0">
              <a:solidFill>
                <a:schemeClr val="accent1"/>
              </a:solidFill>
              <a:latin typeface="Times New Roman" pitchFamily="18" charset="0"/>
              <a:cs typeface="Times New Roman" pitchFamily="18" charset="0"/>
            </a:endParaRPr>
          </a:p>
          <a:p>
            <a:endParaRPr lang="en-US" sz="2100" b="1" dirty="0">
              <a:solidFill>
                <a:schemeClr val="accent1"/>
              </a:solidFill>
              <a:latin typeface="Times New Roman" pitchFamily="18" charset="0"/>
              <a:cs typeface="Times New Roman" pitchFamily="18" charset="0"/>
            </a:endParaRPr>
          </a:p>
          <a:p>
            <a:r>
              <a:rPr lang="en-US" sz="2100" b="1" dirty="0">
                <a:latin typeface="Times New Roman" pitchFamily="18" charset="0"/>
                <a:cs typeface="Times New Roman" pitchFamily="18" charset="0"/>
              </a:rPr>
              <a:t> </a:t>
            </a:r>
          </a:p>
          <a:p>
            <a:r>
              <a:rPr lang="en-US" sz="2100" b="1" dirty="0">
                <a:latin typeface="Times New Roman" pitchFamily="18" charset="0"/>
                <a:cs typeface="Times New Roman" pitchFamily="18" charset="0"/>
              </a:rPr>
              <a:t>* </a:t>
            </a:r>
            <a:r>
              <a:rPr lang="en-US" sz="2100" dirty="0">
                <a:latin typeface="Times New Roman" pitchFamily="18" charset="0"/>
                <a:cs typeface="Times New Roman" pitchFamily="18" charset="0"/>
              </a:rPr>
              <a:t>Two lagged values each of a set of variables are included</a:t>
            </a:r>
            <a:endParaRPr lang="en-US" sz="2100" b="1" dirty="0">
              <a:solidFill>
                <a:schemeClr val="accent1"/>
              </a:solidFill>
              <a:latin typeface="Times New Roman" pitchFamily="18" charset="0"/>
              <a:cs typeface="Times New Roman" pitchFamily="18" charset="0"/>
            </a:endParaRPr>
          </a:p>
          <a:p>
            <a:pPr lvl="2" algn="just"/>
            <a:endParaRPr lang="en-US" sz="2100" dirty="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a:p>
            <a:pPr marL="285750" indent="-285750">
              <a:buFont typeface="Wingdings" pitchFamily="2" charset="2"/>
              <a:buChar char="§"/>
            </a:pPr>
            <a:endParaRPr lang="en-US" sz="2100" dirty="0">
              <a:latin typeface="Times New Roman" pitchFamily="18" charset="0"/>
              <a:cs typeface="Times New Roman" pitchFamily="18" charset="0"/>
            </a:endParaRPr>
          </a:p>
          <a:p>
            <a:r>
              <a:rPr lang="en-US" sz="2100" dirty="0">
                <a:latin typeface="Times New Roman" pitchFamily="18" charset="0"/>
                <a:cs typeface="Times New Roman" pitchFamily="18" charset="0"/>
              </a:rPr>
              <a:t> </a:t>
            </a:r>
          </a:p>
        </p:txBody>
      </p:sp>
      <p:sp>
        <p:nvSpPr>
          <p:cNvPr id="6" name="Rectangle 5"/>
          <p:cNvSpPr/>
          <p:nvPr/>
        </p:nvSpPr>
        <p:spPr>
          <a:xfrm>
            <a:off x="1713053" y="2928395"/>
            <a:ext cx="8704162" cy="1458410"/>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417702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p:tgtEl>
                                          <p:spTgt spid="32"/>
                                        </p:tgtEl>
                                        <p:attrNameLst>
                                          <p:attrName>ppt_y</p:attrName>
                                        </p:attrNameLst>
                                      </p:cBhvr>
                                      <p:tavLst>
                                        <p:tav tm="0">
                                          <p:val>
                                            <p:strVal val="#ppt_y+#ppt_h*1.125000"/>
                                          </p:val>
                                        </p:tav>
                                        <p:tav tm="100000">
                                          <p:val>
                                            <p:strVal val="#ppt_y"/>
                                          </p:val>
                                        </p:tav>
                                      </p:tavLst>
                                    </p:anim>
                                    <p:animEffect transition="in" filter="wipe(up)">
                                      <p:cBhvr>
                                        <p:cTn id="8" dur="1000"/>
                                        <p:tgtEl>
                                          <p:spTgt spid="3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p:tgtEl>
                                          <p:spTgt spid="31"/>
                                        </p:tgtEl>
                                        <p:attrNameLst>
                                          <p:attrName>ppt_y</p:attrName>
                                        </p:attrNameLst>
                                      </p:cBhvr>
                                      <p:tavLst>
                                        <p:tav tm="0">
                                          <p:val>
                                            <p:strVal val="#ppt_y+#ppt_h*1.125000"/>
                                          </p:val>
                                        </p:tav>
                                        <p:tav tm="100000">
                                          <p:val>
                                            <p:strVal val="#ppt_y"/>
                                          </p:val>
                                        </p:tav>
                                      </p:tavLst>
                                    </p:anim>
                                    <p:animEffect transition="in" filter="wipe(up)">
                                      <p:cBhvr>
                                        <p:cTn id="12" dur="1000"/>
                                        <p:tgtEl>
                                          <p:spTgt spid="31"/>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4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B098344-13C5-3BE9-F04B-3696F3CC893A}"/>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09B94CE8-14B8-CAED-27E8-074580B65067}"/>
              </a:ext>
            </a:extLst>
          </p:cNvPr>
          <p:cNvSpPr>
            <a:spLocks noGrp="1"/>
          </p:cNvSpPr>
          <p:nvPr>
            <p:ph type="sldNum" sz="quarter" idx="12"/>
          </p:nvPr>
        </p:nvSpPr>
        <p:spPr/>
        <p:txBody>
          <a:bodyPr/>
          <a:lstStyle/>
          <a:p>
            <a:fld id="{1AE92137-7C9E-4C4A-86B0-0BF68CCC1610}" type="slidenum">
              <a:rPr lang="x-none" smtClean="0"/>
              <a:pPr/>
              <a:t>26</a:t>
            </a:fld>
            <a:endParaRPr lang="x-none" dirty="0"/>
          </a:p>
        </p:txBody>
      </p:sp>
      <p:pic>
        <p:nvPicPr>
          <p:cNvPr id="6" name="Picture 5">
            <a:extLst>
              <a:ext uri="{FF2B5EF4-FFF2-40B4-BE49-F238E27FC236}">
                <a16:creationId xmlns:a16="http://schemas.microsoft.com/office/drawing/2014/main" id="{B4A97AB5-7B13-48EE-7029-F9489AEE9132}"/>
              </a:ext>
            </a:extLst>
          </p:cNvPr>
          <p:cNvPicPr>
            <a:picLocks noChangeAspect="1"/>
          </p:cNvPicPr>
          <p:nvPr/>
        </p:nvPicPr>
        <p:blipFill>
          <a:blip r:embed="rId2"/>
          <a:stretch>
            <a:fillRect/>
          </a:stretch>
        </p:blipFill>
        <p:spPr>
          <a:xfrm>
            <a:off x="288006" y="1036320"/>
            <a:ext cx="3765834" cy="5173980"/>
          </a:xfrm>
          <a:prstGeom prst="rect">
            <a:avLst/>
          </a:prstGeom>
        </p:spPr>
      </p:pic>
      <p:sp>
        <p:nvSpPr>
          <p:cNvPr id="5" name="Rectangle 4">
            <a:extLst>
              <a:ext uri="{FF2B5EF4-FFF2-40B4-BE49-F238E27FC236}">
                <a16:creationId xmlns:a16="http://schemas.microsoft.com/office/drawing/2014/main" id="{E45A289F-9B8B-F0F5-5030-7162E158F927}"/>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7" name="Oval 6">
            <a:extLst>
              <a:ext uri="{FF2B5EF4-FFF2-40B4-BE49-F238E27FC236}">
                <a16:creationId xmlns:a16="http://schemas.microsoft.com/office/drawing/2014/main" id="{E3E061F9-2036-5B4C-97DF-C544672F26C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8" name="TextBox 7">
            <a:extLst>
              <a:ext uri="{FF2B5EF4-FFF2-40B4-BE49-F238E27FC236}">
                <a16:creationId xmlns:a16="http://schemas.microsoft.com/office/drawing/2014/main" id="{7756D11B-37D7-BDB4-E0C1-7ADAAE890982}"/>
              </a:ext>
            </a:extLst>
          </p:cNvPr>
          <p:cNvSpPr txBox="1"/>
          <p:nvPr/>
        </p:nvSpPr>
        <p:spPr>
          <a:xfrm>
            <a:off x="2908300" y="209312"/>
            <a:ext cx="3607013"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First Stage Regression</a:t>
            </a:r>
            <a:endParaRPr lang="x-none" sz="2800" b="1" dirty="0">
              <a:solidFill>
                <a:srgbClr val="0F5093"/>
              </a:solidFill>
              <a:latin typeface="Times" pitchFamily="2" charset="0"/>
              <a:ea typeface="+mj-ea"/>
              <a:cs typeface="+mj-cs"/>
            </a:endParaRPr>
          </a:p>
        </p:txBody>
      </p:sp>
      <p:sp>
        <p:nvSpPr>
          <p:cNvPr id="9" name="Rectangle 8"/>
          <p:cNvSpPr/>
          <p:nvPr/>
        </p:nvSpPr>
        <p:spPr>
          <a:xfrm>
            <a:off x="451652" y="1686560"/>
            <a:ext cx="2779228" cy="128016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51652" y="4897120"/>
            <a:ext cx="2779228" cy="36576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15588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p:tgtEl>
                                          <p:spTgt spid="7"/>
                                        </p:tgtEl>
                                        <p:attrNameLst>
                                          <p:attrName>ppt_y</p:attrName>
                                        </p:attrNameLst>
                                      </p:cBhvr>
                                      <p:tavLst>
                                        <p:tav tm="0">
                                          <p:val>
                                            <p:strVal val="#ppt_y+#ppt_h*1.125000"/>
                                          </p:val>
                                        </p:tav>
                                        <p:tav tm="100000">
                                          <p:val>
                                            <p:strVal val="#ppt_y"/>
                                          </p:val>
                                        </p:tav>
                                      </p:tavLst>
                                    </p:anim>
                                    <p:animEffect transition="in" filter="wipe(up)">
                                      <p:cBhvr>
                                        <p:cTn id="8" dur="10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p:tgtEl>
                                          <p:spTgt spid="5"/>
                                        </p:tgtEl>
                                        <p:attrNameLst>
                                          <p:attrName>ppt_y</p:attrName>
                                        </p:attrNameLst>
                                      </p:cBhvr>
                                      <p:tavLst>
                                        <p:tav tm="0">
                                          <p:val>
                                            <p:strVal val="#ppt_y+#ppt_h*1.125000"/>
                                          </p:val>
                                        </p:tav>
                                        <p:tav tm="100000">
                                          <p:val>
                                            <p:strVal val="#ppt_y"/>
                                          </p:val>
                                        </p:tav>
                                      </p:tavLst>
                                    </p:anim>
                                    <p:animEffect transition="in" filter="wipe(up)">
                                      <p:cBhvr>
                                        <p:cTn id="12" dur="1000"/>
                                        <p:tgtEl>
                                          <p:spTgt spid="5"/>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ppt_y</p:attrName>
                                        </p:attrNameLst>
                                      </p:cBhvr>
                                      <p:tavLst>
                                        <p:tav tm="0">
                                          <p:val>
                                            <p:strVal val="#ppt_y+#ppt_h*1.125000"/>
                                          </p:val>
                                        </p:tav>
                                        <p:tav tm="100000">
                                          <p:val>
                                            <p:strVal val="#ppt_y"/>
                                          </p:val>
                                        </p:tav>
                                      </p:tavLst>
                                    </p:anim>
                                    <p:animEffect transition="in" filter="wipe(up)">
                                      <p:cBhvr>
                                        <p:cTn id="17" dur="500"/>
                                        <p:tgtEl>
                                          <p:spTgt spid="8"/>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044E670-EC1E-AC8C-FDFB-9525CDC18843}"/>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FB0A4F8E-7C19-323F-EBF1-731336DA6106}"/>
              </a:ext>
            </a:extLst>
          </p:cNvPr>
          <p:cNvSpPr>
            <a:spLocks noGrp="1"/>
          </p:cNvSpPr>
          <p:nvPr>
            <p:ph type="sldNum" sz="quarter" idx="12"/>
          </p:nvPr>
        </p:nvSpPr>
        <p:spPr/>
        <p:txBody>
          <a:bodyPr/>
          <a:lstStyle/>
          <a:p>
            <a:fld id="{1AE92137-7C9E-4C4A-86B0-0BF68CCC1610}" type="slidenum">
              <a:rPr lang="x-none" smtClean="0"/>
              <a:pPr/>
              <a:t>27</a:t>
            </a:fld>
            <a:endParaRPr lang="x-none" dirty="0"/>
          </a:p>
        </p:txBody>
      </p:sp>
      <p:pic>
        <p:nvPicPr>
          <p:cNvPr id="6" name="Picture 5">
            <a:extLst>
              <a:ext uri="{FF2B5EF4-FFF2-40B4-BE49-F238E27FC236}">
                <a16:creationId xmlns:a16="http://schemas.microsoft.com/office/drawing/2014/main" id="{BA35D4EE-016C-ECB0-EA0F-231D78B1E21C}"/>
              </a:ext>
            </a:extLst>
          </p:cNvPr>
          <p:cNvPicPr>
            <a:picLocks noChangeAspect="1"/>
          </p:cNvPicPr>
          <p:nvPr/>
        </p:nvPicPr>
        <p:blipFill>
          <a:blip r:embed="rId2"/>
          <a:stretch>
            <a:fillRect/>
          </a:stretch>
        </p:blipFill>
        <p:spPr>
          <a:xfrm>
            <a:off x="336549" y="2667000"/>
            <a:ext cx="4235450" cy="3346528"/>
          </a:xfrm>
          <a:prstGeom prst="rect">
            <a:avLst/>
          </a:prstGeom>
        </p:spPr>
      </p:pic>
      <p:pic>
        <p:nvPicPr>
          <p:cNvPr id="7" name="Picture 6">
            <a:extLst>
              <a:ext uri="{FF2B5EF4-FFF2-40B4-BE49-F238E27FC236}">
                <a16:creationId xmlns:a16="http://schemas.microsoft.com/office/drawing/2014/main" id="{9E84906B-A7AD-7D48-B209-9B5FAB4D98D1}"/>
              </a:ext>
            </a:extLst>
          </p:cNvPr>
          <p:cNvPicPr>
            <a:picLocks noChangeAspect="1"/>
          </p:cNvPicPr>
          <p:nvPr/>
        </p:nvPicPr>
        <p:blipFill>
          <a:blip r:embed="rId3"/>
          <a:stretch>
            <a:fillRect/>
          </a:stretch>
        </p:blipFill>
        <p:spPr>
          <a:xfrm>
            <a:off x="258115" y="200440"/>
            <a:ext cx="4392319" cy="2593560"/>
          </a:xfrm>
          <a:prstGeom prst="rect">
            <a:avLst/>
          </a:prstGeom>
        </p:spPr>
      </p:pic>
      <p:sp>
        <p:nvSpPr>
          <p:cNvPr id="8" name="Rectangle 7">
            <a:extLst>
              <a:ext uri="{FF2B5EF4-FFF2-40B4-BE49-F238E27FC236}">
                <a16:creationId xmlns:a16="http://schemas.microsoft.com/office/drawing/2014/main" id="{50581AED-3DE4-ADFD-092A-D6F422C541A0}"/>
              </a:ext>
            </a:extLst>
          </p:cNvPr>
          <p:cNvSpPr/>
          <p:nvPr/>
        </p:nvSpPr>
        <p:spPr>
          <a:xfrm>
            <a:off x="389429" y="136525"/>
            <a:ext cx="2793609"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9A952E9E-6274-0296-474D-9FDAC695042C}"/>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 name="Rectangle 1"/>
          <p:cNvSpPr/>
          <p:nvPr/>
        </p:nvSpPr>
        <p:spPr>
          <a:xfrm>
            <a:off x="3264061" y="136525"/>
            <a:ext cx="4097532" cy="523220"/>
          </a:xfrm>
          <a:prstGeom prst="rect">
            <a:avLst/>
          </a:prstGeom>
        </p:spPr>
        <p:txBody>
          <a:bodyPr wrap="none">
            <a:spAutoFit/>
          </a:bodyPr>
          <a:lstStyle/>
          <a:p>
            <a:r>
              <a:rPr lang="en-US" sz="2800" b="1" dirty="0">
                <a:solidFill>
                  <a:srgbClr val="0F5093"/>
                </a:solidFill>
                <a:latin typeface="Times" pitchFamily="2" charset="0"/>
              </a:rPr>
              <a:t>First Stage Least Squares</a:t>
            </a:r>
            <a:endParaRPr lang="x-none" sz="2800" b="1" dirty="0">
              <a:solidFill>
                <a:srgbClr val="0F5093"/>
              </a:solidFill>
              <a:latin typeface="Times" pitchFamily="2" charset="0"/>
            </a:endParaRPr>
          </a:p>
        </p:txBody>
      </p:sp>
    </p:spTree>
    <p:extLst>
      <p:ext uri="{BB962C8B-B14F-4D97-AF65-F5344CB8AC3E}">
        <p14:creationId xmlns:p14="http://schemas.microsoft.com/office/powerpoint/2010/main" val="314974741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p:tgtEl>
                                          <p:spTgt spid="8"/>
                                        </p:tgtEl>
                                        <p:attrNameLst>
                                          <p:attrName>ppt_y</p:attrName>
                                        </p:attrNameLst>
                                      </p:cBhvr>
                                      <p:tavLst>
                                        <p:tav tm="0">
                                          <p:val>
                                            <p:strVal val="#ppt_y+#ppt_h*1.125000"/>
                                          </p:val>
                                        </p:tav>
                                        <p:tav tm="100000">
                                          <p:val>
                                            <p:strVal val="#ppt_y"/>
                                          </p:val>
                                        </p:tav>
                                      </p:tavLst>
                                    </p:anim>
                                    <p:animEffect transition="in" filter="wipe(up)">
                                      <p:cBhvr>
                                        <p:cTn id="12" dur="1000"/>
                                        <p:tgtEl>
                                          <p:spTgt spid="8"/>
                                        </p:tgtEl>
                                      </p:cBhvr>
                                    </p:animEffect>
                                  </p:childTnLst>
                                </p:cTn>
                              </p:par>
                            </p:childTnLst>
                          </p:cTn>
                        </p:par>
                        <p:par>
                          <p:cTn id="13" fill="hold">
                            <p:stCondLst>
                              <p:cond delay="1000"/>
                            </p:stCondLst>
                            <p:childTnLst>
                              <p:par>
                                <p:cTn id="14" presetID="53"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19" presetID="53" presetClass="entr" presetSubtype="16"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D1B9A7-F3C2-550D-6D7D-6AF7FC7E6F46}"/>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A16C6227-C529-17DF-411B-EF6F9888378C}"/>
              </a:ext>
            </a:extLst>
          </p:cNvPr>
          <p:cNvSpPr>
            <a:spLocks noGrp="1"/>
          </p:cNvSpPr>
          <p:nvPr>
            <p:ph type="sldNum" sz="quarter" idx="12"/>
          </p:nvPr>
        </p:nvSpPr>
        <p:spPr/>
        <p:txBody>
          <a:bodyPr/>
          <a:lstStyle/>
          <a:p>
            <a:fld id="{1AE92137-7C9E-4C4A-86B0-0BF68CCC1610}" type="slidenum">
              <a:rPr lang="x-none" smtClean="0"/>
              <a:pPr/>
              <a:t>28</a:t>
            </a:fld>
            <a:endParaRPr lang="x-none" dirty="0"/>
          </a:p>
        </p:txBody>
      </p:sp>
      <p:pic>
        <p:nvPicPr>
          <p:cNvPr id="7" name="Picture 6">
            <a:extLst>
              <a:ext uri="{FF2B5EF4-FFF2-40B4-BE49-F238E27FC236}">
                <a16:creationId xmlns:a16="http://schemas.microsoft.com/office/drawing/2014/main" id="{B45B7AB9-151D-F8C3-EC50-2182C5E0DDD0}"/>
              </a:ext>
            </a:extLst>
          </p:cNvPr>
          <p:cNvPicPr>
            <a:picLocks noChangeAspect="1"/>
          </p:cNvPicPr>
          <p:nvPr/>
        </p:nvPicPr>
        <p:blipFill rotWithShape="1">
          <a:blip r:embed="rId2"/>
          <a:srcRect t="30509"/>
          <a:stretch/>
        </p:blipFill>
        <p:spPr>
          <a:xfrm>
            <a:off x="357312" y="1369889"/>
            <a:ext cx="3740126" cy="4765675"/>
          </a:xfrm>
          <a:prstGeom prst="rect">
            <a:avLst/>
          </a:prstGeom>
        </p:spPr>
      </p:pic>
      <p:pic>
        <p:nvPicPr>
          <p:cNvPr id="8" name="Picture 7">
            <a:extLst>
              <a:ext uri="{FF2B5EF4-FFF2-40B4-BE49-F238E27FC236}">
                <a16:creationId xmlns:a16="http://schemas.microsoft.com/office/drawing/2014/main" id="{CECB3ACA-7DC4-2F88-A638-3F2E0160E28E}"/>
              </a:ext>
            </a:extLst>
          </p:cNvPr>
          <p:cNvPicPr>
            <a:picLocks noChangeAspect="1"/>
          </p:cNvPicPr>
          <p:nvPr/>
        </p:nvPicPr>
        <p:blipFill rotWithShape="1">
          <a:blip r:embed="rId2"/>
          <a:srcRect b="85695"/>
          <a:stretch/>
        </p:blipFill>
        <p:spPr>
          <a:xfrm>
            <a:off x="357312" y="350837"/>
            <a:ext cx="3501775" cy="981075"/>
          </a:xfrm>
          <a:prstGeom prst="rect">
            <a:avLst/>
          </a:prstGeom>
        </p:spPr>
      </p:pic>
      <p:sp>
        <p:nvSpPr>
          <p:cNvPr id="6" name="Rectangle 5">
            <a:extLst>
              <a:ext uri="{FF2B5EF4-FFF2-40B4-BE49-F238E27FC236}">
                <a16:creationId xmlns:a16="http://schemas.microsoft.com/office/drawing/2014/main" id="{4ED318FB-AF88-8B78-FEB7-E15AC5CCF3C8}"/>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2A907EFC-0F15-EF6E-AC7C-7F97A16AA94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0" name="TextBox 9">
            <a:extLst>
              <a:ext uri="{FF2B5EF4-FFF2-40B4-BE49-F238E27FC236}">
                <a16:creationId xmlns:a16="http://schemas.microsoft.com/office/drawing/2014/main" id="{F4D60FDD-1004-59A0-7D56-A0098338DB1F}"/>
              </a:ext>
            </a:extLst>
          </p:cNvPr>
          <p:cNvSpPr txBox="1"/>
          <p:nvPr/>
        </p:nvSpPr>
        <p:spPr>
          <a:xfrm>
            <a:off x="2989323" y="147175"/>
            <a:ext cx="6568401"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First Stage Least Squares: Relevance Test</a:t>
            </a:r>
            <a:endParaRPr lang="x-none" sz="2800" b="1" dirty="0">
              <a:solidFill>
                <a:srgbClr val="0F5093"/>
              </a:solidFill>
              <a:latin typeface="Times" pitchFamily="2" charset="0"/>
              <a:ea typeface="+mj-ea"/>
              <a:cs typeface="+mj-cs"/>
            </a:endParaRPr>
          </a:p>
        </p:txBody>
      </p:sp>
      <p:sp>
        <p:nvSpPr>
          <p:cNvPr id="2" name="Rectangle 1"/>
          <p:cNvSpPr/>
          <p:nvPr/>
        </p:nvSpPr>
        <p:spPr>
          <a:xfrm>
            <a:off x="389429" y="3858211"/>
            <a:ext cx="2724161" cy="144051"/>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89429" y="4343392"/>
            <a:ext cx="2724161" cy="251758"/>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9429" y="4595150"/>
            <a:ext cx="2724161" cy="370388"/>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132569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up)">
                                      <p:cBhvr>
                                        <p:cTn id="12" dur="1000"/>
                                        <p:tgtEl>
                                          <p:spTgt spid="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p:tgtEl>
                                          <p:spTgt spid="10"/>
                                        </p:tgtEl>
                                        <p:attrNameLst>
                                          <p:attrName>ppt_y</p:attrName>
                                        </p:attrNameLst>
                                      </p:cBhvr>
                                      <p:tavLst>
                                        <p:tav tm="0">
                                          <p:val>
                                            <p:strVal val="#ppt_y+#ppt_h*1.125000"/>
                                          </p:val>
                                        </p:tav>
                                        <p:tav tm="100000">
                                          <p:val>
                                            <p:strVal val="#ppt_y"/>
                                          </p:val>
                                        </p:tav>
                                      </p:tavLst>
                                    </p:anim>
                                    <p:animEffect transition="in" filter="wipe(up)">
                                      <p:cBhvr>
                                        <p:cTn id="17" dur="500"/>
                                        <p:tgtEl>
                                          <p:spTgt spid="10"/>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4" presetID="53" presetClass="entr" presetSubtype="16"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D1B9A7-F3C2-550D-6D7D-6AF7FC7E6F46}"/>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A16C6227-C529-17DF-411B-EF6F9888378C}"/>
              </a:ext>
            </a:extLst>
          </p:cNvPr>
          <p:cNvSpPr>
            <a:spLocks noGrp="1"/>
          </p:cNvSpPr>
          <p:nvPr>
            <p:ph type="sldNum" sz="quarter" idx="12"/>
          </p:nvPr>
        </p:nvSpPr>
        <p:spPr/>
        <p:txBody>
          <a:bodyPr/>
          <a:lstStyle/>
          <a:p>
            <a:fld id="{1AE92137-7C9E-4C4A-86B0-0BF68CCC1610}" type="slidenum">
              <a:rPr lang="x-none" smtClean="0"/>
              <a:pPr/>
              <a:t>29</a:t>
            </a:fld>
            <a:endParaRPr lang="x-none" dirty="0"/>
          </a:p>
        </p:txBody>
      </p:sp>
      <p:sp>
        <p:nvSpPr>
          <p:cNvPr id="6" name="Rectangle 5">
            <a:extLst>
              <a:ext uri="{FF2B5EF4-FFF2-40B4-BE49-F238E27FC236}">
                <a16:creationId xmlns:a16="http://schemas.microsoft.com/office/drawing/2014/main" id="{4ED318FB-AF88-8B78-FEB7-E15AC5CCF3C8}"/>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2A907EFC-0F15-EF6E-AC7C-7F97A16AA94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0" name="TextBox 9">
            <a:extLst>
              <a:ext uri="{FF2B5EF4-FFF2-40B4-BE49-F238E27FC236}">
                <a16:creationId xmlns:a16="http://schemas.microsoft.com/office/drawing/2014/main" id="{F4D60FDD-1004-59A0-7D56-A0098338DB1F}"/>
              </a:ext>
            </a:extLst>
          </p:cNvPr>
          <p:cNvSpPr txBox="1"/>
          <p:nvPr/>
        </p:nvSpPr>
        <p:spPr>
          <a:xfrm>
            <a:off x="2989323" y="147175"/>
            <a:ext cx="3967689"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Second Stage Regression</a:t>
            </a:r>
            <a:endParaRPr lang="x-none" sz="2800" b="1" dirty="0">
              <a:solidFill>
                <a:srgbClr val="0F5093"/>
              </a:solidFill>
              <a:latin typeface="Times" pitchFamily="2" charset="0"/>
              <a:ea typeface="+mj-ea"/>
              <a:cs typeface="+mj-cs"/>
            </a:endParaRPr>
          </a:p>
        </p:txBody>
      </p:sp>
      <p:pic>
        <p:nvPicPr>
          <p:cNvPr id="13" name="Picture 12">
            <a:extLst>
              <a:ext uri="{FF2B5EF4-FFF2-40B4-BE49-F238E27FC236}">
                <a16:creationId xmlns:a16="http://schemas.microsoft.com/office/drawing/2014/main" id="{D61D1879-17CA-7722-F53E-D9EA39B281EA}"/>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47222"/>
          <a:stretch/>
        </p:blipFill>
        <p:spPr>
          <a:xfrm>
            <a:off x="213219" y="1155700"/>
            <a:ext cx="6268604" cy="4353849"/>
          </a:xfrm>
          <a:prstGeom prst="rect">
            <a:avLst/>
          </a:prstGeom>
        </p:spPr>
      </p:pic>
      <p:sp>
        <p:nvSpPr>
          <p:cNvPr id="14" name="Rectangle 13"/>
          <p:cNvSpPr/>
          <p:nvPr/>
        </p:nvSpPr>
        <p:spPr>
          <a:xfrm>
            <a:off x="213219" y="1574157"/>
            <a:ext cx="6164432" cy="96069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B6B4234-BB37-B6AD-8224-549D4962E23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t="52023"/>
          <a:stretch/>
        </p:blipFill>
        <p:spPr>
          <a:xfrm>
            <a:off x="6771190" y="1574157"/>
            <a:ext cx="5231757" cy="3915606"/>
          </a:xfrm>
          <a:prstGeom prst="rect">
            <a:avLst/>
          </a:prstGeom>
        </p:spPr>
      </p:pic>
    </p:spTree>
    <p:extLst>
      <p:ext uri="{BB962C8B-B14F-4D97-AF65-F5344CB8AC3E}">
        <p14:creationId xmlns:p14="http://schemas.microsoft.com/office/powerpoint/2010/main" val="375157133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up)">
                                      <p:cBhvr>
                                        <p:cTn id="12" dur="1000"/>
                                        <p:tgtEl>
                                          <p:spTgt spid="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p:tgtEl>
                                          <p:spTgt spid="10"/>
                                        </p:tgtEl>
                                        <p:attrNameLst>
                                          <p:attrName>ppt_y</p:attrName>
                                        </p:attrNameLst>
                                      </p:cBhvr>
                                      <p:tavLst>
                                        <p:tav tm="0">
                                          <p:val>
                                            <p:strVal val="#ppt_y+#ppt_h*1.125000"/>
                                          </p:val>
                                        </p:tav>
                                        <p:tav tm="100000">
                                          <p:val>
                                            <p:strVal val="#ppt_y"/>
                                          </p:val>
                                        </p:tav>
                                      </p:tavLst>
                                    </p:anim>
                                    <p:animEffect transition="in" filter="wipe(up)">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D1B9A7-F3C2-550D-6D7D-6AF7FC7E6F46}"/>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A16C6227-C529-17DF-411B-EF6F9888378C}"/>
              </a:ext>
            </a:extLst>
          </p:cNvPr>
          <p:cNvSpPr>
            <a:spLocks noGrp="1"/>
          </p:cNvSpPr>
          <p:nvPr>
            <p:ph type="sldNum" sz="quarter" idx="12"/>
          </p:nvPr>
        </p:nvSpPr>
        <p:spPr/>
        <p:txBody>
          <a:bodyPr/>
          <a:lstStyle/>
          <a:p>
            <a:fld id="{1AE92137-7C9E-4C4A-86B0-0BF68CCC1610}" type="slidenum">
              <a:rPr lang="x-none" smtClean="0"/>
              <a:pPr/>
              <a:t>30</a:t>
            </a:fld>
            <a:endParaRPr lang="x-none" dirty="0"/>
          </a:p>
        </p:txBody>
      </p:sp>
      <p:sp>
        <p:nvSpPr>
          <p:cNvPr id="6" name="Rectangle 5">
            <a:extLst>
              <a:ext uri="{FF2B5EF4-FFF2-40B4-BE49-F238E27FC236}">
                <a16:creationId xmlns:a16="http://schemas.microsoft.com/office/drawing/2014/main" id="{4ED318FB-AF88-8B78-FEB7-E15AC5CCF3C8}"/>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2A907EFC-0F15-EF6E-AC7C-7F97A16AA94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0" name="TextBox 9">
            <a:extLst>
              <a:ext uri="{FF2B5EF4-FFF2-40B4-BE49-F238E27FC236}">
                <a16:creationId xmlns:a16="http://schemas.microsoft.com/office/drawing/2014/main" id="{F4D60FDD-1004-59A0-7D56-A0098338DB1F}"/>
              </a:ext>
            </a:extLst>
          </p:cNvPr>
          <p:cNvSpPr txBox="1"/>
          <p:nvPr/>
        </p:nvSpPr>
        <p:spPr>
          <a:xfrm>
            <a:off x="2989323" y="147175"/>
            <a:ext cx="2372701"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Interpretation</a:t>
            </a:r>
            <a:endParaRPr lang="x-none" sz="2800" b="1" dirty="0">
              <a:solidFill>
                <a:srgbClr val="0F5093"/>
              </a:solidFill>
              <a:latin typeface="Times" pitchFamily="2" charset="0"/>
              <a:ea typeface="+mj-ea"/>
              <a:cs typeface="+mj-cs"/>
            </a:endParaRPr>
          </a:p>
        </p:txBody>
      </p:sp>
      <p:graphicFrame>
        <p:nvGraphicFramePr>
          <p:cNvPr id="15" name="Table 14"/>
          <p:cNvGraphicFramePr>
            <a:graphicFrameLocks noGrp="1"/>
          </p:cNvGraphicFramePr>
          <p:nvPr>
            <p:extLst>
              <p:ext uri="{D42A27DB-BD31-4B8C-83A1-F6EECF244321}">
                <p14:modId xmlns:p14="http://schemas.microsoft.com/office/powerpoint/2010/main" val="2226589322"/>
              </p:ext>
            </p:extLst>
          </p:nvPr>
        </p:nvGraphicFramePr>
        <p:xfrm>
          <a:off x="383113" y="1180617"/>
          <a:ext cx="10189258" cy="2230441"/>
        </p:xfrm>
        <a:graphic>
          <a:graphicData uri="http://schemas.openxmlformats.org/drawingml/2006/table">
            <a:tbl>
              <a:tblPr firstRow="1" bandRow="1">
                <a:tableStyleId>{5C22544A-7EE6-4342-B048-85BDC9FD1C3A}</a:tableStyleId>
              </a:tblPr>
              <a:tblGrid>
                <a:gridCol w="2923539">
                  <a:extLst>
                    <a:ext uri="{9D8B030D-6E8A-4147-A177-3AD203B41FA5}">
                      <a16:colId xmlns:a16="http://schemas.microsoft.com/office/drawing/2014/main" val="20000"/>
                    </a:ext>
                  </a:extLst>
                </a:gridCol>
                <a:gridCol w="2091008">
                  <a:extLst>
                    <a:ext uri="{9D8B030D-6E8A-4147-A177-3AD203B41FA5}">
                      <a16:colId xmlns:a16="http://schemas.microsoft.com/office/drawing/2014/main" val="20001"/>
                    </a:ext>
                  </a:extLst>
                </a:gridCol>
                <a:gridCol w="1854290">
                  <a:extLst>
                    <a:ext uri="{9D8B030D-6E8A-4147-A177-3AD203B41FA5}">
                      <a16:colId xmlns:a16="http://schemas.microsoft.com/office/drawing/2014/main" val="20002"/>
                    </a:ext>
                  </a:extLst>
                </a:gridCol>
                <a:gridCol w="1972648">
                  <a:extLst>
                    <a:ext uri="{9D8B030D-6E8A-4147-A177-3AD203B41FA5}">
                      <a16:colId xmlns:a16="http://schemas.microsoft.com/office/drawing/2014/main" val="20003"/>
                    </a:ext>
                  </a:extLst>
                </a:gridCol>
                <a:gridCol w="1347773">
                  <a:extLst>
                    <a:ext uri="{9D8B030D-6E8A-4147-A177-3AD203B41FA5}">
                      <a16:colId xmlns:a16="http://schemas.microsoft.com/office/drawing/2014/main" val="20004"/>
                    </a:ext>
                  </a:extLst>
                </a:gridCol>
              </a:tblGrid>
              <a:tr h="1041721">
                <a:tc>
                  <a:txBody>
                    <a:bodyPr/>
                    <a:lstStyle/>
                    <a:p>
                      <a:endParaRPr lang="en-US" dirty="0"/>
                    </a:p>
                  </a:txBody>
                  <a:tcPr/>
                </a:tc>
                <a:tc>
                  <a:txBody>
                    <a:bodyPr/>
                    <a:lstStyle/>
                    <a:p>
                      <a:r>
                        <a:rPr lang="en-US" dirty="0"/>
                        <a:t>Number of constr.</a:t>
                      </a:r>
                      <a:r>
                        <a:rPr lang="en-US" baseline="0" dirty="0"/>
                        <a:t> projects</a:t>
                      </a:r>
                      <a:endParaRPr lang="en-US" dirty="0"/>
                    </a:p>
                  </a:txBody>
                  <a:tcPr/>
                </a:tc>
                <a:tc>
                  <a:txBody>
                    <a:bodyPr/>
                    <a:lstStyle/>
                    <a:p>
                      <a:r>
                        <a:rPr lang="en-US" dirty="0"/>
                        <a:t>Square feet</a:t>
                      </a:r>
                      <a:r>
                        <a:rPr lang="en-US" baseline="0" dirty="0"/>
                        <a:t> of constr. projects</a:t>
                      </a:r>
                      <a:endParaRPr lang="en-US" dirty="0"/>
                    </a:p>
                  </a:txBody>
                  <a:tcPr/>
                </a:tc>
                <a:tc>
                  <a:txBody>
                    <a:bodyPr/>
                    <a:lstStyle/>
                    <a:p>
                      <a:r>
                        <a:rPr lang="en-US" dirty="0"/>
                        <a:t>Real value of constr.</a:t>
                      </a:r>
                      <a:r>
                        <a:rPr lang="en-US" baseline="0" dirty="0"/>
                        <a:t> projects</a:t>
                      </a:r>
                      <a:endParaRPr lang="en-US" dirty="0"/>
                    </a:p>
                  </a:txBody>
                  <a:tcPr/>
                </a:tc>
                <a:tc>
                  <a:txBody>
                    <a:bodyPr/>
                    <a:lstStyle/>
                    <a:p>
                      <a:r>
                        <a:rPr lang="en-US" dirty="0"/>
                        <a:t>State const.</a:t>
                      </a:r>
                      <a:r>
                        <a:rPr lang="en-US" baseline="0" dirty="0"/>
                        <a:t> </a:t>
                      </a:r>
                      <a:r>
                        <a:rPr lang="en-US" baseline="0" dirty="0" err="1"/>
                        <a:t>employmetgrowth</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Change</a:t>
                      </a:r>
                      <a:r>
                        <a:rPr lang="en-US" baseline="0" dirty="0"/>
                        <a:t> in commercial real estate loans by Japanese banks</a:t>
                      </a:r>
                      <a:endParaRPr lang="en-US" dirty="0"/>
                    </a:p>
                    <a:p>
                      <a:endParaRPr lang="en-US" dirty="0"/>
                    </a:p>
                  </a:txBody>
                  <a:tcPr/>
                </a:tc>
                <a:tc>
                  <a:txBody>
                    <a:bodyPr/>
                    <a:lstStyle/>
                    <a:p>
                      <a:r>
                        <a:rPr lang="en-US" dirty="0"/>
                        <a:t>0.005***</a:t>
                      </a:r>
                    </a:p>
                    <a:p>
                      <a:r>
                        <a:rPr lang="en-US" dirty="0"/>
                        <a:t>(0.002)</a:t>
                      </a:r>
                    </a:p>
                  </a:txBody>
                  <a:tcPr/>
                </a:tc>
                <a:tc>
                  <a:txBody>
                    <a:bodyPr/>
                    <a:lstStyle/>
                    <a:p>
                      <a:r>
                        <a:rPr lang="en-US" dirty="0"/>
                        <a:t>0.015**</a:t>
                      </a:r>
                    </a:p>
                    <a:p>
                      <a:r>
                        <a:rPr lang="en-US" dirty="0"/>
                        <a:t>(0.005)</a:t>
                      </a:r>
                    </a:p>
                  </a:txBody>
                  <a:tcPr/>
                </a:tc>
                <a:tc>
                  <a:txBody>
                    <a:bodyPr/>
                    <a:lstStyle/>
                    <a:p>
                      <a:r>
                        <a:rPr lang="en-US" dirty="0"/>
                        <a:t>1.113**</a:t>
                      </a:r>
                    </a:p>
                    <a:p>
                      <a:r>
                        <a:rPr lang="en-US" dirty="0"/>
                        <a:t>(0.365)</a:t>
                      </a:r>
                    </a:p>
                  </a:txBody>
                  <a:tcPr/>
                </a:tc>
                <a:tc>
                  <a:txBody>
                    <a:bodyPr/>
                    <a:lstStyle/>
                    <a:p>
                      <a:r>
                        <a:rPr lang="en-US" dirty="0"/>
                        <a:t>0.007**</a:t>
                      </a:r>
                    </a:p>
                    <a:p>
                      <a:r>
                        <a:rPr lang="en-US" dirty="0"/>
                        <a:t>(0.002)</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83113" y="3750198"/>
            <a:ext cx="10548647" cy="3000821"/>
          </a:xfrm>
          <a:prstGeom prst="rect">
            <a:avLst/>
          </a:prstGeom>
          <a:noFill/>
        </p:spPr>
        <p:txBody>
          <a:bodyPr wrap="square" rtlCol="0">
            <a:spAutoFit/>
          </a:bodyPr>
          <a:lstStyle/>
          <a:p>
            <a:pPr marL="285750" indent="-285750">
              <a:buFont typeface="Wingdings" pitchFamily="2" charset="2"/>
              <a:buChar char="§"/>
            </a:pPr>
            <a:r>
              <a:rPr lang="en-US" sz="2100" dirty="0">
                <a:latin typeface="Times New Roman" pitchFamily="18" charset="0"/>
                <a:cs typeface="Times New Roman" pitchFamily="18" charset="0"/>
              </a:rPr>
              <a:t>On average, one unit </a:t>
            </a:r>
            <a:r>
              <a:rPr lang="en-US" sz="2100" b="1" dirty="0">
                <a:solidFill>
                  <a:schemeClr val="accent1"/>
                </a:solidFill>
                <a:latin typeface="Times New Roman" pitchFamily="18" charset="0"/>
                <a:cs typeface="Times New Roman" pitchFamily="18" charset="0"/>
              </a:rPr>
              <a:t>decrease </a:t>
            </a:r>
            <a:r>
              <a:rPr lang="en-US" sz="2100" dirty="0">
                <a:latin typeface="Times New Roman" pitchFamily="18" charset="0"/>
                <a:cs typeface="Times New Roman" pitchFamily="18" charset="0"/>
              </a:rPr>
              <a:t>in the </a:t>
            </a:r>
            <a:r>
              <a:rPr lang="en-US" sz="2100" b="1" dirty="0">
                <a:solidFill>
                  <a:schemeClr val="accent1"/>
                </a:solidFill>
                <a:latin typeface="Times New Roman" pitchFamily="18" charset="0"/>
                <a:cs typeface="Times New Roman" pitchFamily="18" charset="0"/>
              </a:rPr>
              <a:t>commercial real estate loans </a:t>
            </a:r>
            <a:r>
              <a:rPr lang="en-US" sz="2100" dirty="0">
                <a:latin typeface="Times New Roman" pitchFamily="18" charset="0"/>
                <a:cs typeface="Times New Roman" pitchFamily="18" charset="0"/>
              </a:rPr>
              <a:t>by Japanese banks</a:t>
            </a:r>
            <a:r>
              <a:rPr lang="en-US" sz="2100" b="1" dirty="0">
                <a:solidFill>
                  <a:schemeClr val="accent1"/>
                </a:solidFill>
                <a:latin typeface="Times New Roman" pitchFamily="18" charset="0"/>
                <a:cs typeface="Times New Roman" pitchFamily="18" charset="0"/>
              </a:rPr>
              <a:t> </a:t>
            </a:r>
            <a:r>
              <a:rPr lang="en-US" sz="2100" dirty="0">
                <a:latin typeface="Times New Roman" pitchFamily="18" charset="0"/>
                <a:cs typeface="Times New Roman" pitchFamily="18" charset="0"/>
              </a:rPr>
              <a:t>(divided by  state population and the GDP investment structures price deflator) </a:t>
            </a:r>
            <a:r>
              <a:rPr lang="en-US" sz="2100" b="1" dirty="0">
                <a:solidFill>
                  <a:schemeClr val="accent1"/>
                </a:solidFill>
                <a:latin typeface="Times New Roman" pitchFamily="18" charset="0"/>
                <a:cs typeface="Times New Roman" pitchFamily="18" charset="0"/>
              </a:rPr>
              <a:t>decreases </a:t>
            </a:r>
            <a:r>
              <a:rPr lang="en-US" sz="2100" dirty="0">
                <a:latin typeface="Times New Roman" pitchFamily="18" charset="0"/>
                <a:cs typeface="Times New Roman" pitchFamily="18" charset="0"/>
              </a:rPr>
              <a:t>number of construction projects in the that state by 0.005.</a:t>
            </a:r>
          </a:p>
          <a:p>
            <a:endParaRPr lang="en-US" sz="2100" dirty="0">
              <a:latin typeface="Times New Roman" pitchFamily="18" charset="0"/>
              <a:cs typeface="Times New Roman" pitchFamily="18" charset="0"/>
            </a:endParaRPr>
          </a:p>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$100 decline </a:t>
            </a:r>
            <a:r>
              <a:rPr lang="en-US" sz="2100" dirty="0">
                <a:latin typeface="Times New Roman" pitchFamily="18" charset="0"/>
                <a:cs typeface="Times New Roman" pitchFamily="18" charset="0"/>
              </a:rPr>
              <a:t>in loans by Japanese banks operating in a given state corresponds with a </a:t>
            </a:r>
            <a:r>
              <a:rPr lang="en-US" sz="2100" b="1" dirty="0">
                <a:solidFill>
                  <a:schemeClr val="accent1"/>
                </a:solidFill>
                <a:latin typeface="Times New Roman" pitchFamily="18" charset="0"/>
                <a:cs typeface="Times New Roman" pitchFamily="18" charset="0"/>
              </a:rPr>
              <a:t>decline </a:t>
            </a:r>
            <a:r>
              <a:rPr lang="en-US" sz="2100" dirty="0">
                <a:latin typeface="Times New Roman" pitchFamily="18" charset="0"/>
                <a:cs typeface="Times New Roman" pitchFamily="18" charset="0"/>
              </a:rPr>
              <a:t>of </a:t>
            </a:r>
            <a:r>
              <a:rPr lang="en-US" sz="2100" b="1" dirty="0">
                <a:solidFill>
                  <a:schemeClr val="accent1"/>
                </a:solidFill>
                <a:latin typeface="Times New Roman" pitchFamily="18" charset="0"/>
                <a:cs typeface="Times New Roman" pitchFamily="18" charset="0"/>
              </a:rPr>
              <a:t>$111.30  </a:t>
            </a:r>
            <a:r>
              <a:rPr lang="en-US" sz="2100" dirty="0">
                <a:latin typeface="Times New Roman" pitchFamily="18" charset="0"/>
                <a:cs typeface="Times New Roman" pitchFamily="18" charset="0"/>
              </a:rPr>
              <a:t>in construction activity in that state.</a:t>
            </a:r>
            <a:endParaRPr lang="en-US" sz="2100" b="1" dirty="0">
              <a:solidFill>
                <a:schemeClr val="accent1"/>
              </a:solidFill>
              <a:latin typeface="Times New Roman" pitchFamily="18" charset="0"/>
              <a:cs typeface="Times New Roman" pitchFamily="18" charset="0"/>
            </a:endParaRPr>
          </a:p>
          <a:p>
            <a:pPr marL="285750" indent="-285750">
              <a:buFont typeface="Wingdings" pitchFamily="2" charset="2"/>
              <a:buChar char="§"/>
            </a:pPr>
            <a:endParaRPr lang="en-US" sz="2100" dirty="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p:txBody>
      </p:sp>
    </p:spTree>
    <p:extLst>
      <p:ext uri="{BB962C8B-B14F-4D97-AF65-F5344CB8AC3E}">
        <p14:creationId xmlns:p14="http://schemas.microsoft.com/office/powerpoint/2010/main" val="87059750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up)">
                                      <p:cBhvr>
                                        <p:cTn id="12" dur="1000"/>
                                        <p:tgtEl>
                                          <p:spTgt spid="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p:tgtEl>
                                          <p:spTgt spid="10"/>
                                        </p:tgtEl>
                                        <p:attrNameLst>
                                          <p:attrName>ppt_y</p:attrName>
                                        </p:attrNameLst>
                                      </p:cBhvr>
                                      <p:tavLst>
                                        <p:tav tm="0">
                                          <p:val>
                                            <p:strVal val="#ppt_y+#ppt_h*1.125000"/>
                                          </p:val>
                                        </p:tav>
                                        <p:tav tm="100000">
                                          <p:val>
                                            <p:strVal val="#ppt_y"/>
                                          </p:val>
                                        </p:tav>
                                      </p:tavLst>
                                    </p:anim>
                                    <p:animEffect transition="in" filter="wipe(up)">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D1B9A7-F3C2-550D-6D7D-6AF7FC7E6F46}"/>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A16C6227-C529-17DF-411B-EF6F9888378C}"/>
              </a:ext>
            </a:extLst>
          </p:cNvPr>
          <p:cNvSpPr>
            <a:spLocks noGrp="1"/>
          </p:cNvSpPr>
          <p:nvPr>
            <p:ph type="sldNum" sz="quarter" idx="12"/>
          </p:nvPr>
        </p:nvSpPr>
        <p:spPr/>
        <p:txBody>
          <a:bodyPr/>
          <a:lstStyle/>
          <a:p>
            <a:fld id="{1AE92137-7C9E-4C4A-86B0-0BF68CCC1610}" type="slidenum">
              <a:rPr lang="x-none" smtClean="0"/>
              <a:pPr/>
              <a:t>31</a:t>
            </a:fld>
            <a:endParaRPr lang="x-none" dirty="0"/>
          </a:p>
        </p:txBody>
      </p:sp>
      <p:sp>
        <p:nvSpPr>
          <p:cNvPr id="6" name="Rectangle 5">
            <a:extLst>
              <a:ext uri="{FF2B5EF4-FFF2-40B4-BE49-F238E27FC236}">
                <a16:creationId xmlns:a16="http://schemas.microsoft.com/office/drawing/2014/main" id="{4ED318FB-AF88-8B78-FEB7-E15AC5CCF3C8}"/>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2A907EFC-0F15-EF6E-AC7C-7F97A16AA94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0" name="TextBox 9">
            <a:extLst>
              <a:ext uri="{FF2B5EF4-FFF2-40B4-BE49-F238E27FC236}">
                <a16:creationId xmlns:a16="http://schemas.microsoft.com/office/drawing/2014/main" id="{F4D60FDD-1004-59A0-7D56-A0098338DB1F}"/>
              </a:ext>
            </a:extLst>
          </p:cNvPr>
          <p:cNvSpPr txBox="1"/>
          <p:nvPr/>
        </p:nvSpPr>
        <p:spPr>
          <a:xfrm>
            <a:off x="2989323" y="147175"/>
            <a:ext cx="2372701"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Interpretation</a:t>
            </a:r>
            <a:endParaRPr lang="x-none" sz="2800" b="1" dirty="0">
              <a:solidFill>
                <a:srgbClr val="0F5093"/>
              </a:solidFill>
              <a:latin typeface="Times" pitchFamily="2" charset="0"/>
              <a:ea typeface="+mj-ea"/>
              <a:cs typeface="+mj-cs"/>
            </a:endParaRPr>
          </a:p>
        </p:txBody>
      </p:sp>
      <p:graphicFrame>
        <p:nvGraphicFramePr>
          <p:cNvPr id="15" name="Table 14"/>
          <p:cNvGraphicFramePr>
            <a:graphicFrameLocks noGrp="1"/>
          </p:cNvGraphicFramePr>
          <p:nvPr>
            <p:extLst>
              <p:ext uri="{D42A27DB-BD31-4B8C-83A1-F6EECF244321}">
                <p14:modId xmlns:p14="http://schemas.microsoft.com/office/powerpoint/2010/main" val="2226589322"/>
              </p:ext>
            </p:extLst>
          </p:nvPr>
        </p:nvGraphicFramePr>
        <p:xfrm>
          <a:off x="383113" y="1180617"/>
          <a:ext cx="10189258" cy="2230441"/>
        </p:xfrm>
        <a:graphic>
          <a:graphicData uri="http://schemas.openxmlformats.org/drawingml/2006/table">
            <a:tbl>
              <a:tblPr firstRow="1" bandRow="1">
                <a:tableStyleId>{5C22544A-7EE6-4342-B048-85BDC9FD1C3A}</a:tableStyleId>
              </a:tblPr>
              <a:tblGrid>
                <a:gridCol w="2923539">
                  <a:extLst>
                    <a:ext uri="{9D8B030D-6E8A-4147-A177-3AD203B41FA5}">
                      <a16:colId xmlns:a16="http://schemas.microsoft.com/office/drawing/2014/main" val="20000"/>
                    </a:ext>
                  </a:extLst>
                </a:gridCol>
                <a:gridCol w="2091008">
                  <a:extLst>
                    <a:ext uri="{9D8B030D-6E8A-4147-A177-3AD203B41FA5}">
                      <a16:colId xmlns:a16="http://schemas.microsoft.com/office/drawing/2014/main" val="20001"/>
                    </a:ext>
                  </a:extLst>
                </a:gridCol>
                <a:gridCol w="1854290">
                  <a:extLst>
                    <a:ext uri="{9D8B030D-6E8A-4147-A177-3AD203B41FA5}">
                      <a16:colId xmlns:a16="http://schemas.microsoft.com/office/drawing/2014/main" val="20002"/>
                    </a:ext>
                  </a:extLst>
                </a:gridCol>
                <a:gridCol w="1972648">
                  <a:extLst>
                    <a:ext uri="{9D8B030D-6E8A-4147-A177-3AD203B41FA5}">
                      <a16:colId xmlns:a16="http://schemas.microsoft.com/office/drawing/2014/main" val="20003"/>
                    </a:ext>
                  </a:extLst>
                </a:gridCol>
                <a:gridCol w="1347773">
                  <a:extLst>
                    <a:ext uri="{9D8B030D-6E8A-4147-A177-3AD203B41FA5}">
                      <a16:colId xmlns:a16="http://schemas.microsoft.com/office/drawing/2014/main" val="20004"/>
                    </a:ext>
                  </a:extLst>
                </a:gridCol>
              </a:tblGrid>
              <a:tr h="1041721">
                <a:tc>
                  <a:txBody>
                    <a:bodyPr/>
                    <a:lstStyle/>
                    <a:p>
                      <a:endParaRPr lang="en-US" dirty="0"/>
                    </a:p>
                  </a:txBody>
                  <a:tcPr/>
                </a:tc>
                <a:tc>
                  <a:txBody>
                    <a:bodyPr/>
                    <a:lstStyle/>
                    <a:p>
                      <a:r>
                        <a:rPr lang="en-US" dirty="0"/>
                        <a:t>Number of constr.</a:t>
                      </a:r>
                      <a:r>
                        <a:rPr lang="en-US" baseline="0" dirty="0"/>
                        <a:t> projects</a:t>
                      </a:r>
                      <a:endParaRPr lang="en-US" dirty="0"/>
                    </a:p>
                  </a:txBody>
                  <a:tcPr/>
                </a:tc>
                <a:tc>
                  <a:txBody>
                    <a:bodyPr/>
                    <a:lstStyle/>
                    <a:p>
                      <a:r>
                        <a:rPr lang="en-US" dirty="0"/>
                        <a:t>Square feet</a:t>
                      </a:r>
                      <a:r>
                        <a:rPr lang="en-US" baseline="0" dirty="0"/>
                        <a:t> of constr. projects</a:t>
                      </a:r>
                      <a:endParaRPr lang="en-US" dirty="0"/>
                    </a:p>
                  </a:txBody>
                  <a:tcPr/>
                </a:tc>
                <a:tc>
                  <a:txBody>
                    <a:bodyPr/>
                    <a:lstStyle/>
                    <a:p>
                      <a:r>
                        <a:rPr lang="en-US" dirty="0"/>
                        <a:t>Real value of constr.</a:t>
                      </a:r>
                      <a:r>
                        <a:rPr lang="en-US" baseline="0" dirty="0"/>
                        <a:t> projects</a:t>
                      </a:r>
                      <a:endParaRPr lang="en-US" dirty="0"/>
                    </a:p>
                  </a:txBody>
                  <a:tcPr/>
                </a:tc>
                <a:tc>
                  <a:txBody>
                    <a:bodyPr/>
                    <a:lstStyle/>
                    <a:p>
                      <a:r>
                        <a:rPr lang="en-US" dirty="0"/>
                        <a:t>State const.</a:t>
                      </a:r>
                      <a:r>
                        <a:rPr lang="en-US" baseline="0" dirty="0"/>
                        <a:t> </a:t>
                      </a:r>
                      <a:r>
                        <a:rPr lang="en-US" baseline="0" dirty="0" err="1"/>
                        <a:t>employmetgrowth</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Change</a:t>
                      </a:r>
                      <a:r>
                        <a:rPr lang="en-US" baseline="0" dirty="0"/>
                        <a:t> in commercial real estate loans by Japanese banks</a:t>
                      </a:r>
                      <a:endParaRPr lang="en-US" dirty="0"/>
                    </a:p>
                    <a:p>
                      <a:endParaRPr lang="en-US" dirty="0"/>
                    </a:p>
                  </a:txBody>
                  <a:tcPr/>
                </a:tc>
                <a:tc>
                  <a:txBody>
                    <a:bodyPr/>
                    <a:lstStyle/>
                    <a:p>
                      <a:r>
                        <a:rPr lang="en-US" dirty="0"/>
                        <a:t>0.005***</a:t>
                      </a:r>
                    </a:p>
                    <a:p>
                      <a:r>
                        <a:rPr lang="en-US" dirty="0"/>
                        <a:t>(0.002)</a:t>
                      </a:r>
                    </a:p>
                  </a:txBody>
                  <a:tcPr/>
                </a:tc>
                <a:tc>
                  <a:txBody>
                    <a:bodyPr/>
                    <a:lstStyle/>
                    <a:p>
                      <a:r>
                        <a:rPr lang="en-US" dirty="0"/>
                        <a:t>0.015**</a:t>
                      </a:r>
                    </a:p>
                    <a:p>
                      <a:r>
                        <a:rPr lang="en-US" dirty="0"/>
                        <a:t>(0.005)</a:t>
                      </a:r>
                    </a:p>
                  </a:txBody>
                  <a:tcPr/>
                </a:tc>
                <a:tc>
                  <a:txBody>
                    <a:bodyPr/>
                    <a:lstStyle/>
                    <a:p>
                      <a:r>
                        <a:rPr lang="en-US" dirty="0"/>
                        <a:t>1.113**</a:t>
                      </a:r>
                    </a:p>
                    <a:p>
                      <a:r>
                        <a:rPr lang="en-US" dirty="0"/>
                        <a:t>(0.365)</a:t>
                      </a:r>
                    </a:p>
                  </a:txBody>
                  <a:tcPr/>
                </a:tc>
                <a:tc>
                  <a:txBody>
                    <a:bodyPr/>
                    <a:lstStyle/>
                    <a:p>
                      <a:r>
                        <a:rPr lang="en-US" dirty="0"/>
                        <a:t>0.007**</a:t>
                      </a:r>
                    </a:p>
                    <a:p>
                      <a:r>
                        <a:rPr lang="en-US" dirty="0"/>
                        <a:t>(0.002)</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83113" y="3993267"/>
            <a:ext cx="10548647" cy="1061829"/>
          </a:xfrm>
          <a:prstGeom prst="rect">
            <a:avLst/>
          </a:prstGeom>
          <a:noFill/>
        </p:spPr>
        <p:txBody>
          <a:bodyPr wrap="square" rtlCol="0">
            <a:spAutoFit/>
          </a:bodyPr>
          <a:lstStyle/>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$100 decline </a:t>
            </a:r>
            <a:r>
              <a:rPr lang="en-US" sz="2100" dirty="0">
                <a:latin typeface="Times New Roman" pitchFamily="18" charset="0"/>
                <a:cs typeface="Times New Roman" pitchFamily="18" charset="0"/>
              </a:rPr>
              <a:t>in loans by Japanese banks operating in a given state corresponds with a </a:t>
            </a:r>
            <a:r>
              <a:rPr lang="en-US" sz="2100" b="1" dirty="0">
                <a:solidFill>
                  <a:schemeClr val="accent1"/>
                </a:solidFill>
                <a:latin typeface="Times New Roman" pitchFamily="18" charset="0"/>
                <a:cs typeface="Times New Roman" pitchFamily="18" charset="0"/>
              </a:rPr>
              <a:t>decline </a:t>
            </a:r>
            <a:r>
              <a:rPr lang="en-US" sz="2100" dirty="0">
                <a:latin typeface="Times New Roman" pitchFamily="18" charset="0"/>
                <a:cs typeface="Times New Roman" pitchFamily="18" charset="0"/>
              </a:rPr>
              <a:t>of </a:t>
            </a:r>
            <a:r>
              <a:rPr lang="en-US" sz="2100" b="1" dirty="0">
                <a:solidFill>
                  <a:schemeClr val="accent1"/>
                </a:solidFill>
                <a:latin typeface="Times New Roman" pitchFamily="18" charset="0"/>
                <a:cs typeface="Times New Roman" pitchFamily="18" charset="0"/>
              </a:rPr>
              <a:t>$111.30  </a:t>
            </a:r>
            <a:r>
              <a:rPr lang="en-US" sz="2100" dirty="0">
                <a:latin typeface="Times New Roman" pitchFamily="18" charset="0"/>
                <a:cs typeface="Times New Roman" pitchFamily="18" charset="0"/>
              </a:rPr>
              <a:t>in construction activity in that state</a:t>
            </a:r>
            <a:endParaRPr lang="en-US" sz="2100" b="1" dirty="0">
              <a:solidFill>
                <a:schemeClr val="accent1"/>
              </a:solidFill>
              <a:latin typeface="Times New Roman" pitchFamily="18" charset="0"/>
              <a:cs typeface="Times New Roman" pitchFamily="18" charset="0"/>
            </a:endParaRPr>
          </a:p>
          <a:p>
            <a:endParaRPr lang="en-US" sz="2100" dirty="0">
              <a:latin typeface="Times New Roman" pitchFamily="18" charset="0"/>
              <a:cs typeface="Times New Roman" pitchFamily="18" charset="0"/>
            </a:endParaRPr>
          </a:p>
        </p:txBody>
      </p:sp>
    </p:spTree>
    <p:extLst>
      <p:ext uri="{BB962C8B-B14F-4D97-AF65-F5344CB8AC3E}">
        <p14:creationId xmlns:p14="http://schemas.microsoft.com/office/powerpoint/2010/main" val="87059750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up)">
                                      <p:cBhvr>
                                        <p:cTn id="12" dur="1000"/>
                                        <p:tgtEl>
                                          <p:spTgt spid="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p:tgtEl>
                                          <p:spTgt spid="10"/>
                                        </p:tgtEl>
                                        <p:attrNameLst>
                                          <p:attrName>ppt_y</p:attrName>
                                        </p:attrNameLst>
                                      </p:cBhvr>
                                      <p:tavLst>
                                        <p:tav tm="0">
                                          <p:val>
                                            <p:strVal val="#ppt_y+#ppt_h*1.125000"/>
                                          </p:val>
                                        </p:tav>
                                        <p:tav tm="100000">
                                          <p:val>
                                            <p:strVal val="#ppt_y"/>
                                          </p:val>
                                        </p:tav>
                                      </p:tavLst>
                                    </p:anim>
                                    <p:animEffect transition="in" filter="wipe(up)">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32</a:t>
            </a:fld>
            <a:endParaRPr lang="x-none" dirty="0"/>
          </a:p>
        </p:txBody>
      </p:sp>
      <p:sp>
        <p:nvSpPr>
          <p:cNvPr id="9" name="Rectangle 8">
            <a:extLst>
              <a:ext uri="{FF2B5EF4-FFF2-40B4-BE49-F238E27FC236}">
                <a16:creationId xmlns:a16="http://schemas.microsoft.com/office/drawing/2014/main" id="{D26427B2-4265-B25F-2330-7AE7EE01DCE8}"/>
              </a:ext>
            </a:extLst>
          </p:cNvPr>
          <p:cNvSpPr/>
          <p:nvPr/>
        </p:nvSpPr>
        <p:spPr>
          <a:xfrm>
            <a:off x="9520352" y="3375004"/>
            <a:ext cx="2427035" cy="1066099"/>
          </a:xfrm>
          <a:prstGeom prst="rect">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x-none" sz="2800" dirty="0">
                <a:latin typeface="Times" pitchFamily="2" charset="0"/>
              </a:rPr>
              <a:t>Dependent Variable</a:t>
            </a:r>
          </a:p>
        </p:txBody>
      </p:sp>
      <p:sp>
        <p:nvSpPr>
          <p:cNvPr id="10" name="Rectangle 9">
            <a:extLst>
              <a:ext uri="{FF2B5EF4-FFF2-40B4-BE49-F238E27FC236}">
                <a16:creationId xmlns:a16="http://schemas.microsoft.com/office/drawing/2014/main" id="{30266D2E-27A2-24C2-8746-F9C33D54BB1B}"/>
              </a:ext>
            </a:extLst>
          </p:cNvPr>
          <p:cNvSpPr/>
          <p:nvPr/>
        </p:nvSpPr>
        <p:spPr>
          <a:xfrm>
            <a:off x="5082606" y="3552231"/>
            <a:ext cx="2427035" cy="863600"/>
          </a:xfrm>
          <a:prstGeom prst="rect">
            <a:avLst/>
          </a:prstGeom>
          <a:solidFill>
            <a:srgbClr val="F4B2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2800" dirty="0">
                <a:latin typeface="Times" pitchFamily="2" charset="0"/>
              </a:rPr>
              <a:t>Instrument</a:t>
            </a:r>
          </a:p>
        </p:txBody>
      </p:sp>
      <p:sp>
        <p:nvSpPr>
          <p:cNvPr id="4" name="U-Turn Arrow 3">
            <a:extLst>
              <a:ext uri="{FF2B5EF4-FFF2-40B4-BE49-F238E27FC236}">
                <a16:creationId xmlns:a16="http://schemas.microsoft.com/office/drawing/2014/main" id="{5C01B0D3-13BB-0327-B80F-E841A07A5945}"/>
              </a:ext>
            </a:extLst>
          </p:cNvPr>
          <p:cNvSpPr/>
          <p:nvPr/>
        </p:nvSpPr>
        <p:spPr>
          <a:xfrm>
            <a:off x="1570284" y="2646692"/>
            <a:ext cx="9467850" cy="1066099"/>
          </a:xfrm>
          <a:prstGeom prst="uturnArrow">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2800">
              <a:latin typeface="Times" pitchFamily="2" charset="0"/>
            </a:endParaRPr>
          </a:p>
        </p:txBody>
      </p:sp>
      <p:sp>
        <p:nvSpPr>
          <p:cNvPr id="2" name="Rectangle 1">
            <a:extLst>
              <a:ext uri="{FF2B5EF4-FFF2-40B4-BE49-F238E27FC236}">
                <a16:creationId xmlns:a16="http://schemas.microsoft.com/office/drawing/2014/main" id="{CDE60B38-183E-4728-CE0D-D07E7F8EFC65}"/>
              </a:ext>
            </a:extLst>
          </p:cNvPr>
          <p:cNvSpPr/>
          <p:nvPr/>
        </p:nvSpPr>
        <p:spPr>
          <a:xfrm>
            <a:off x="467670" y="3450983"/>
            <a:ext cx="2427035" cy="1066099"/>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2800" dirty="0">
                <a:latin typeface="Times" pitchFamily="2" charset="0"/>
              </a:rPr>
              <a:t>Explanatory Variable</a:t>
            </a:r>
          </a:p>
        </p:txBody>
      </p:sp>
      <p:sp>
        <p:nvSpPr>
          <p:cNvPr id="5" name="Right Arrow 4">
            <a:extLst>
              <a:ext uri="{FF2B5EF4-FFF2-40B4-BE49-F238E27FC236}">
                <a16:creationId xmlns:a16="http://schemas.microsoft.com/office/drawing/2014/main" id="{F1B96861-F739-F7B2-C90F-9DE02C893B1B}"/>
              </a:ext>
            </a:extLst>
          </p:cNvPr>
          <p:cNvSpPr/>
          <p:nvPr/>
        </p:nvSpPr>
        <p:spPr>
          <a:xfrm>
            <a:off x="3056766" y="3730142"/>
            <a:ext cx="1923115" cy="507779"/>
          </a:xfrm>
          <a:prstGeom prst="rightArrow">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2800">
              <a:latin typeface="Times" pitchFamily="2" charset="0"/>
            </a:endParaRPr>
          </a:p>
        </p:txBody>
      </p:sp>
      <p:sp>
        <p:nvSpPr>
          <p:cNvPr id="13" name="Right Arrow 12">
            <a:extLst>
              <a:ext uri="{FF2B5EF4-FFF2-40B4-BE49-F238E27FC236}">
                <a16:creationId xmlns:a16="http://schemas.microsoft.com/office/drawing/2014/main" id="{B2197043-D56D-6FB3-24E8-A57E80E078EE}"/>
              </a:ext>
            </a:extLst>
          </p:cNvPr>
          <p:cNvSpPr/>
          <p:nvPr/>
        </p:nvSpPr>
        <p:spPr>
          <a:xfrm>
            <a:off x="7612367" y="3738973"/>
            <a:ext cx="1923115" cy="507779"/>
          </a:xfrm>
          <a:prstGeom prst="rightArrow">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2800">
              <a:latin typeface="Times" pitchFamily="2" charset="0"/>
            </a:endParaRPr>
          </a:p>
        </p:txBody>
      </p:sp>
      <p:sp>
        <p:nvSpPr>
          <p:cNvPr id="14" name="Rectangle 13">
            <a:extLst>
              <a:ext uri="{FF2B5EF4-FFF2-40B4-BE49-F238E27FC236}">
                <a16:creationId xmlns:a16="http://schemas.microsoft.com/office/drawing/2014/main" id="{F1127950-6F99-49F8-9C2D-8C3467A0E9B8}"/>
              </a:ext>
            </a:extLst>
          </p:cNvPr>
          <p:cNvSpPr/>
          <p:nvPr/>
        </p:nvSpPr>
        <p:spPr>
          <a:xfrm>
            <a:off x="4148184" y="2057079"/>
            <a:ext cx="3906185" cy="6019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2800" dirty="0">
                <a:solidFill>
                  <a:srgbClr val="0F5093"/>
                </a:solidFill>
                <a:latin typeface="Times" pitchFamily="2" charset="0"/>
              </a:rPr>
              <a:t>If endogeneity exits</a:t>
            </a:r>
          </a:p>
        </p:txBody>
      </p:sp>
      <p:sp>
        <p:nvSpPr>
          <p:cNvPr id="17" name="TextBox 16">
            <a:extLst>
              <a:ext uri="{FF2B5EF4-FFF2-40B4-BE49-F238E27FC236}">
                <a16:creationId xmlns:a16="http://schemas.microsoft.com/office/drawing/2014/main" id="{D1CE99D0-D5A6-9713-C34E-6A424F0B006A}"/>
              </a:ext>
            </a:extLst>
          </p:cNvPr>
          <p:cNvSpPr txBox="1"/>
          <p:nvPr/>
        </p:nvSpPr>
        <p:spPr>
          <a:xfrm>
            <a:off x="7712740" y="3397986"/>
            <a:ext cx="1594531" cy="461665"/>
          </a:xfrm>
          <a:prstGeom prst="rect">
            <a:avLst/>
          </a:prstGeom>
          <a:noFill/>
        </p:spPr>
        <p:txBody>
          <a:bodyPr wrap="square">
            <a:spAutoFit/>
          </a:bodyPr>
          <a:lstStyle/>
          <a:p>
            <a:pPr algn="ctr"/>
            <a:r>
              <a:rPr lang="x-none" sz="2400" dirty="0">
                <a:solidFill>
                  <a:srgbClr val="0F5093"/>
                </a:solidFill>
                <a:latin typeface="Times" pitchFamily="2" charset="0"/>
              </a:rPr>
              <a:t>Exogeneity</a:t>
            </a:r>
            <a:endParaRPr lang="x-none" sz="2400" dirty="0"/>
          </a:p>
        </p:txBody>
      </p:sp>
      <p:sp>
        <p:nvSpPr>
          <p:cNvPr id="19" name="TextBox 18">
            <a:extLst>
              <a:ext uri="{FF2B5EF4-FFF2-40B4-BE49-F238E27FC236}">
                <a16:creationId xmlns:a16="http://schemas.microsoft.com/office/drawing/2014/main" id="{D8C0957A-7459-31FD-11B4-78D7F3421175}"/>
              </a:ext>
            </a:extLst>
          </p:cNvPr>
          <p:cNvSpPr txBox="1"/>
          <p:nvPr/>
        </p:nvSpPr>
        <p:spPr>
          <a:xfrm>
            <a:off x="3107678" y="3397986"/>
            <a:ext cx="1590179" cy="461665"/>
          </a:xfrm>
          <a:prstGeom prst="rect">
            <a:avLst/>
          </a:prstGeom>
          <a:noFill/>
        </p:spPr>
        <p:txBody>
          <a:bodyPr wrap="square">
            <a:spAutoFit/>
          </a:bodyPr>
          <a:lstStyle/>
          <a:p>
            <a:r>
              <a:rPr lang="x-none" sz="2400" dirty="0">
                <a:solidFill>
                  <a:srgbClr val="0F5093"/>
                </a:solidFill>
                <a:latin typeface="Times" pitchFamily="2" charset="0"/>
              </a:rPr>
              <a:t>Relevenace</a:t>
            </a:r>
            <a:endParaRPr lang="x-none" sz="2400" dirty="0"/>
          </a:p>
        </p:txBody>
      </p:sp>
      <p:sp>
        <p:nvSpPr>
          <p:cNvPr id="21" name="Rectangle 20">
            <a:extLst>
              <a:ext uri="{FF2B5EF4-FFF2-40B4-BE49-F238E27FC236}">
                <a16:creationId xmlns:a16="http://schemas.microsoft.com/office/drawing/2014/main" id="{A904D5E1-83B0-8A5A-8AAF-B04B6F5FC79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3" name="Oval 22">
            <a:extLst>
              <a:ext uri="{FF2B5EF4-FFF2-40B4-BE49-F238E27FC236}">
                <a16:creationId xmlns:a16="http://schemas.microsoft.com/office/drawing/2014/main" id="{1B906EDE-FF78-40DF-8628-75809965DA8E}"/>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4" name="TextBox 23">
            <a:extLst>
              <a:ext uri="{FF2B5EF4-FFF2-40B4-BE49-F238E27FC236}">
                <a16:creationId xmlns:a16="http://schemas.microsoft.com/office/drawing/2014/main" id="{22740309-48BF-EF76-6494-51FAB297FA92}"/>
              </a:ext>
            </a:extLst>
          </p:cNvPr>
          <p:cNvSpPr txBox="1"/>
          <p:nvPr/>
        </p:nvSpPr>
        <p:spPr>
          <a:xfrm>
            <a:off x="2927611" y="1368427"/>
            <a:ext cx="6753195"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2SLS: Two-Stage-Least-Square Estimation</a:t>
            </a:r>
          </a:p>
        </p:txBody>
      </p:sp>
      <p:sp>
        <p:nvSpPr>
          <p:cNvPr id="16" name="TextBox 15">
            <a:extLst>
              <a:ext uri="{FF2B5EF4-FFF2-40B4-BE49-F238E27FC236}">
                <a16:creationId xmlns:a16="http://schemas.microsoft.com/office/drawing/2014/main" id="{33BB79B7-5C56-AB27-F495-6286CE364635}"/>
              </a:ext>
            </a:extLst>
          </p:cNvPr>
          <p:cNvSpPr txBox="1"/>
          <p:nvPr/>
        </p:nvSpPr>
        <p:spPr>
          <a:xfrm>
            <a:off x="3367343" y="359899"/>
            <a:ext cx="1301959"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Results</a:t>
            </a:r>
          </a:p>
        </p:txBody>
      </p:sp>
      <p:sp>
        <p:nvSpPr>
          <p:cNvPr id="18" name="TextBox 17">
            <a:extLst>
              <a:ext uri="{FF2B5EF4-FFF2-40B4-BE49-F238E27FC236}">
                <a16:creationId xmlns:a16="http://schemas.microsoft.com/office/drawing/2014/main" id="{F3BCE1D5-3DF3-7A18-1D3E-88462DCF1F1F}"/>
              </a:ext>
            </a:extLst>
          </p:cNvPr>
          <p:cNvSpPr txBox="1"/>
          <p:nvPr/>
        </p:nvSpPr>
        <p:spPr>
          <a:xfrm>
            <a:off x="435115" y="4630891"/>
            <a:ext cx="5632169" cy="1200329"/>
          </a:xfrm>
          <a:prstGeom prst="rect">
            <a:avLst/>
          </a:prstGeom>
          <a:noFill/>
        </p:spPr>
        <p:txBody>
          <a:bodyPr wrap="square">
            <a:spAutoFit/>
          </a:bodyPr>
          <a:lstStyle/>
          <a:p>
            <a:r>
              <a:rPr lang="x-none" dirty="0">
                <a:latin typeface="Times" pitchFamily="2" charset="0"/>
              </a:rPr>
              <a:t>Relevance: </a:t>
            </a:r>
          </a:p>
          <a:p>
            <a:pPr marL="285750" indent="-285750">
              <a:buFont typeface="Arial" panose="020B0604020202020204" pitchFamily="34" charset="0"/>
              <a:buChar char="•"/>
            </a:pPr>
            <a:r>
              <a:rPr lang="x-none" dirty="0">
                <a:latin typeface="Times" pitchFamily="2" charset="0"/>
              </a:rPr>
              <a:t>F-Statistic = 41.725 &gt; 10 → indicates that hypothesis, that the loan supply effects are zero can be rejected </a:t>
            </a:r>
          </a:p>
          <a:p>
            <a:pPr marL="285750" indent="-285750">
              <a:buFont typeface="Arial" panose="020B0604020202020204" pitchFamily="34" charset="0"/>
              <a:buChar char="•"/>
            </a:pPr>
            <a:r>
              <a:rPr lang="x-none" dirty="0">
                <a:latin typeface="Times" pitchFamily="2" charset="0"/>
              </a:rPr>
              <a:t>Instruments seems to be relevant</a:t>
            </a:r>
          </a:p>
        </p:txBody>
      </p:sp>
      <p:sp>
        <p:nvSpPr>
          <p:cNvPr id="20" name="TextBox 19">
            <a:extLst>
              <a:ext uri="{FF2B5EF4-FFF2-40B4-BE49-F238E27FC236}">
                <a16:creationId xmlns:a16="http://schemas.microsoft.com/office/drawing/2014/main" id="{040543E8-18FB-CF17-25F2-E5341550802C}"/>
              </a:ext>
            </a:extLst>
          </p:cNvPr>
          <p:cNvSpPr txBox="1"/>
          <p:nvPr/>
        </p:nvSpPr>
        <p:spPr>
          <a:xfrm>
            <a:off x="5968774" y="4636260"/>
            <a:ext cx="6403156" cy="1477328"/>
          </a:xfrm>
          <a:prstGeom prst="rect">
            <a:avLst/>
          </a:prstGeom>
          <a:noFill/>
        </p:spPr>
        <p:txBody>
          <a:bodyPr wrap="square">
            <a:spAutoFit/>
          </a:bodyPr>
          <a:lstStyle>
            <a:defPPr>
              <a:defRPr lang="x-none"/>
            </a:defPPr>
            <a:lvl1pPr>
              <a:defRPr>
                <a:latin typeface="Times" pitchFamily="2" charset="0"/>
              </a:defRPr>
            </a:lvl1pPr>
          </a:lstStyle>
          <a:p>
            <a:r>
              <a:rPr lang="en-US" dirty="0"/>
              <a:t>Exogeneity: </a:t>
            </a:r>
          </a:p>
          <a:p>
            <a:pPr marL="285750" indent="-285750">
              <a:buFont typeface="Arial" panose="020B0604020202020204" pitchFamily="34" charset="0"/>
              <a:buChar char="•"/>
            </a:pPr>
            <a:r>
              <a:rPr lang="en-US" dirty="0"/>
              <a:t>Estimation shows that Japanese-related instruments are not correlated with CRE lending by non-Japanese banks. </a:t>
            </a:r>
          </a:p>
          <a:p>
            <a:pPr marL="285750" indent="-285750">
              <a:buFont typeface="Arial" panose="020B0604020202020204" pitchFamily="34" charset="0"/>
              <a:buChar char="•"/>
            </a:pPr>
            <a:r>
              <a:rPr lang="en-US" dirty="0"/>
              <a:t>F-statistic of change in CRE loans held by non-Japanese banks are not significant on Japanese-related instruments (F =1.09)</a:t>
            </a:r>
          </a:p>
        </p:txBody>
      </p:sp>
    </p:spTree>
    <p:extLst>
      <p:ext uri="{BB962C8B-B14F-4D97-AF65-F5344CB8AC3E}">
        <p14:creationId xmlns:p14="http://schemas.microsoft.com/office/powerpoint/2010/main" val="27236001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p:cTn id="14" dur="500" fill="hold"/>
                                        <p:tgtEl>
                                          <p:spTgt spid="20"/>
                                        </p:tgtEl>
                                        <p:attrNameLst>
                                          <p:attrName>ppt_w</p:attrName>
                                        </p:attrNameLst>
                                      </p:cBhvr>
                                      <p:tavLst>
                                        <p:tav tm="0">
                                          <p:val>
                                            <p:fltVal val="0"/>
                                          </p:val>
                                        </p:tav>
                                        <p:tav tm="100000">
                                          <p:val>
                                            <p:strVal val="#ppt_w"/>
                                          </p:val>
                                        </p:tav>
                                      </p:tavLst>
                                    </p:anim>
                                    <p:anim calcmode="lin" valueType="num">
                                      <p:cBhvr>
                                        <p:cTn id="15" dur="500" fill="hold"/>
                                        <p:tgtEl>
                                          <p:spTgt spid="20"/>
                                        </p:tgtEl>
                                        <p:attrNameLst>
                                          <p:attrName>ppt_h</p:attrName>
                                        </p:attrNameLst>
                                      </p:cBhvr>
                                      <p:tavLst>
                                        <p:tav tm="0">
                                          <p:val>
                                            <p:fltVal val="0"/>
                                          </p:val>
                                        </p:tav>
                                        <p:tav tm="100000">
                                          <p:val>
                                            <p:strVal val="#ppt_h"/>
                                          </p:val>
                                        </p:tav>
                                      </p:tavLst>
                                    </p:anim>
                                    <p:animEffect transition="in" filter="fade">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838200" y="365125"/>
            <a:ext cx="10515600" cy="993225"/>
          </a:xfrm>
        </p:spPr>
        <p:txBody>
          <a:bodyPr/>
          <a:lstStyle/>
          <a:p>
            <a:r>
              <a:rPr lang="x-none" dirty="0">
                <a:latin typeface="Times" pitchFamily="2" charset="0"/>
              </a:rPr>
              <a:t>Structure</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33</a:t>
            </a:fld>
            <a:endParaRPr lang="x-none" dirty="0"/>
          </a:p>
        </p:txBody>
      </p:sp>
      <p:sp>
        <p:nvSpPr>
          <p:cNvPr id="14" name="Rectangle 13">
            <a:extLst>
              <a:ext uri="{FF2B5EF4-FFF2-40B4-BE49-F238E27FC236}">
                <a16:creationId xmlns:a16="http://schemas.microsoft.com/office/drawing/2014/main" id="{AAC5588F-5F9B-D65D-5FA6-949F45BE95C3}"/>
              </a:ext>
            </a:extLst>
          </p:cNvPr>
          <p:cNvSpPr/>
          <p:nvPr/>
        </p:nvSpPr>
        <p:spPr>
          <a:xfrm>
            <a:off x="1361873" y="1507788"/>
            <a:ext cx="9883302"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Introduction and Overview</a:t>
            </a:r>
            <a:endParaRPr lang="en-US" sz="2800" dirty="0">
              <a:solidFill>
                <a:schemeClr val="tx1"/>
              </a:solidFill>
              <a:latin typeface="Times" pitchFamily="2" charset="0"/>
            </a:endParaRPr>
          </a:p>
        </p:txBody>
      </p:sp>
      <p:sp>
        <p:nvSpPr>
          <p:cNvPr id="17" name="Rectangle 16">
            <a:extLst>
              <a:ext uri="{FF2B5EF4-FFF2-40B4-BE49-F238E27FC236}">
                <a16:creationId xmlns:a16="http://schemas.microsoft.com/office/drawing/2014/main" id="{1DC30FD7-5FF1-0CD6-BB2B-1220A8EF2BCA}"/>
              </a:ext>
            </a:extLst>
          </p:cNvPr>
          <p:cNvSpPr/>
          <p:nvPr/>
        </p:nvSpPr>
        <p:spPr>
          <a:xfrm>
            <a:off x="1750979" y="2453971"/>
            <a:ext cx="9494196"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4500"/>
            <a:r>
              <a:rPr lang="x-none" sz="2800" dirty="0">
                <a:solidFill>
                  <a:schemeClr val="tx1"/>
                </a:solidFill>
                <a:latin typeface="Times" pitchFamily="2" charset="0"/>
              </a:rPr>
              <a:t>Sample, Data, and Limitation</a:t>
            </a:r>
            <a:endParaRPr lang="en-US" sz="2800" dirty="0">
              <a:solidFill>
                <a:schemeClr val="tx1"/>
              </a:solidFill>
              <a:latin typeface="Times" pitchFamily="2" charset="0"/>
            </a:endParaRPr>
          </a:p>
        </p:txBody>
      </p:sp>
      <p:sp>
        <p:nvSpPr>
          <p:cNvPr id="19" name="Rectangle 18">
            <a:extLst>
              <a:ext uri="{FF2B5EF4-FFF2-40B4-BE49-F238E27FC236}">
                <a16:creationId xmlns:a16="http://schemas.microsoft.com/office/drawing/2014/main" id="{195B547B-7200-A753-DD5B-1DEB7F1C9001}"/>
              </a:ext>
            </a:extLst>
          </p:cNvPr>
          <p:cNvSpPr/>
          <p:nvPr/>
        </p:nvSpPr>
        <p:spPr>
          <a:xfrm>
            <a:off x="2140085" y="3409880"/>
            <a:ext cx="9105090"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Transmission: Methodology and Results</a:t>
            </a:r>
            <a:endParaRPr lang="x-none" sz="2800" dirty="0"/>
          </a:p>
        </p:txBody>
      </p:sp>
      <p:sp>
        <p:nvSpPr>
          <p:cNvPr id="21" name="Rectangle 20">
            <a:extLst>
              <a:ext uri="{FF2B5EF4-FFF2-40B4-BE49-F238E27FC236}">
                <a16:creationId xmlns:a16="http://schemas.microsoft.com/office/drawing/2014/main" id="{D76F4944-442A-EB3A-98F5-FF54DE0D25CD}"/>
              </a:ext>
            </a:extLst>
          </p:cNvPr>
          <p:cNvSpPr/>
          <p:nvPr/>
        </p:nvSpPr>
        <p:spPr>
          <a:xfrm>
            <a:off x="2529191" y="4375515"/>
            <a:ext cx="8715984"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Real Effects: Methodology and Results</a:t>
            </a:r>
            <a:endParaRPr lang="x-none" sz="2800" dirty="0"/>
          </a:p>
        </p:txBody>
      </p:sp>
      <p:sp>
        <p:nvSpPr>
          <p:cNvPr id="23" name="Rectangle 22">
            <a:extLst>
              <a:ext uri="{FF2B5EF4-FFF2-40B4-BE49-F238E27FC236}">
                <a16:creationId xmlns:a16="http://schemas.microsoft.com/office/drawing/2014/main" id="{6858A3C6-4F49-AEC5-B95E-1D4F6E4DB932}"/>
              </a:ext>
            </a:extLst>
          </p:cNvPr>
          <p:cNvSpPr/>
          <p:nvPr/>
        </p:nvSpPr>
        <p:spPr>
          <a:xfrm>
            <a:off x="2908570" y="5312893"/>
            <a:ext cx="8336605"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a:r>
              <a:rPr lang="x-none" sz="2800" dirty="0">
                <a:solidFill>
                  <a:schemeClr val="tx1"/>
                </a:solidFill>
                <a:latin typeface="Times" pitchFamily="2" charset="0"/>
              </a:rPr>
              <a:t>Conclusion</a:t>
            </a:r>
          </a:p>
        </p:txBody>
      </p:sp>
      <p:sp>
        <p:nvSpPr>
          <p:cNvPr id="25" name="Rectangle 24">
            <a:extLst>
              <a:ext uri="{FF2B5EF4-FFF2-40B4-BE49-F238E27FC236}">
                <a16:creationId xmlns:a16="http://schemas.microsoft.com/office/drawing/2014/main" id="{30C79B97-7D6C-23D8-602B-1AAA0934A4B5}"/>
              </a:ext>
            </a:extLst>
          </p:cNvPr>
          <p:cNvSpPr/>
          <p:nvPr/>
        </p:nvSpPr>
        <p:spPr>
          <a:xfrm>
            <a:off x="2908570" y="5312892"/>
            <a:ext cx="8346332" cy="778213"/>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bg1"/>
                </a:solidFill>
                <a:latin typeface="Times" pitchFamily="2" charset="0"/>
              </a:rPr>
              <a:t>Conclusion</a:t>
            </a:r>
            <a:endParaRPr lang="x-none" sz="2800" dirty="0">
              <a:solidFill>
                <a:schemeClr val="bg1"/>
              </a:solidFill>
            </a:endParaRPr>
          </a:p>
        </p:txBody>
      </p:sp>
      <p:sp>
        <p:nvSpPr>
          <p:cNvPr id="13" name="Oval 12">
            <a:extLst>
              <a:ext uri="{FF2B5EF4-FFF2-40B4-BE49-F238E27FC236}">
                <a16:creationId xmlns:a16="http://schemas.microsoft.com/office/drawing/2014/main" id="{C3711E62-76FC-9067-B3AA-F3ADE8F3C6E3}"/>
              </a:ext>
            </a:extLst>
          </p:cNvPr>
          <p:cNvSpPr/>
          <p:nvPr/>
        </p:nvSpPr>
        <p:spPr>
          <a:xfrm>
            <a:off x="982494" y="1517515"/>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18" name="Oval 17">
            <a:extLst>
              <a:ext uri="{FF2B5EF4-FFF2-40B4-BE49-F238E27FC236}">
                <a16:creationId xmlns:a16="http://schemas.microsoft.com/office/drawing/2014/main" id="{F3F7DFAA-95BC-D826-F520-E36FF12541A6}"/>
              </a:ext>
            </a:extLst>
          </p:cNvPr>
          <p:cNvSpPr/>
          <p:nvPr/>
        </p:nvSpPr>
        <p:spPr>
          <a:xfrm>
            <a:off x="1371600" y="246369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20" name="Oval 19">
            <a:extLst>
              <a:ext uri="{FF2B5EF4-FFF2-40B4-BE49-F238E27FC236}">
                <a16:creationId xmlns:a16="http://schemas.microsoft.com/office/drawing/2014/main" id="{CABB0FD8-FA2A-9187-2269-7E6158061805}"/>
              </a:ext>
            </a:extLst>
          </p:cNvPr>
          <p:cNvSpPr/>
          <p:nvPr/>
        </p:nvSpPr>
        <p:spPr>
          <a:xfrm>
            <a:off x="1760706" y="3419607"/>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3</a:t>
            </a:r>
          </a:p>
        </p:txBody>
      </p:sp>
      <p:sp>
        <p:nvSpPr>
          <p:cNvPr id="22" name="Oval 21">
            <a:extLst>
              <a:ext uri="{FF2B5EF4-FFF2-40B4-BE49-F238E27FC236}">
                <a16:creationId xmlns:a16="http://schemas.microsoft.com/office/drawing/2014/main" id="{C38B0F32-5D73-1CCF-7CE2-0AC692AFCFDA}"/>
              </a:ext>
            </a:extLst>
          </p:cNvPr>
          <p:cNvSpPr/>
          <p:nvPr/>
        </p:nvSpPr>
        <p:spPr>
          <a:xfrm>
            <a:off x="2149812" y="4385242"/>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4</a:t>
            </a:r>
          </a:p>
        </p:txBody>
      </p:sp>
      <p:sp>
        <p:nvSpPr>
          <p:cNvPr id="24" name="Oval 23">
            <a:extLst>
              <a:ext uri="{FF2B5EF4-FFF2-40B4-BE49-F238E27FC236}">
                <a16:creationId xmlns:a16="http://schemas.microsoft.com/office/drawing/2014/main" id="{91FAE129-E0AF-63A9-A729-4F9A5BED7718}"/>
              </a:ext>
            </a:extLst>
          </p:cNvPr>
          <p:cNvSpPr/>
          <p:nvPr/>
        </p:nvSpPr>
        <p:spPr>
          <a:xfrm>
            <a:off x="2529191" y="5322620"/>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5</a:t>
            </a:r>
          </a:p>
        </p:txBody>
      </p:sp>
    </p:spTree>
    <p:extLst>
      <p:ext uri="{BB962C8B-B14F-4D97-AF65-F5344CB8AC3E}">
        <p14:creationId xmlns:p14="http://schemas.microsoft.com/office/powerpoint/2010/main" val="253839839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p:tgtEl>
                                          <p:spTgt spid="25"/>
                                        </p:tgtEl>
                                        <p:attrNameLst>
                                          <p:attrName>ppt_y</p:attrName>
                                        </p:attrNameLst>
                                      </p:cBhvr>
                                      <p:tavLst>
                                        <p:tav tm="0">
                                          <p:val>
                                            <p:strVal val="#ppt_y+#ppt_h*1.125000"/>
                                          </p:val>
                                        </p:tav>
                                        <p:tav tm="100000">
                                          <p:val>
                                            <p:strVal val="#ppt_y"/>
                                          </p:val>
                                        </p:tav>
                                      </p:tavLst>
                                    </p:anim>
                                    <p:animEffect transition="in" filter="wipe(up)">
                                      <p:cBhvr>
                                        <p:cTn id="8"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4734964" y="1268467"/>
            <a:ext cx="2722071" cy="594584"/>
          </a:xfrm>
        </p:spPr>
        <p:txBody>
          <a:bodyPr>
            <a:normAutofit/>
          </a:bodyPr>
          <a:lstStyle/>
          <a:p>
            <a:r>
              <a:rPr lang="x-none" sz="2800" b="1" dirty="0">
                <a:solidFill>
                  <a:srgbClr val="0F5093"/>
                </a:solidFill>
                <a:latin typeface="Times" pitchFamily="2" charset="0"/>
              </a:rPr>
              <a:t>Study Questions</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34</a:t>
            </a:fld>
            <a:endParaRPr lang="x-none" dirty="0"/>
          </a:p>
        </p:txBody>
      </p:sp>
      <p:sp>
        <p:nvSpPr>
          <p:cNvPr id="18" name="Rectangle 17">
            <a:extLst>
              <a:ext uri="{FF2B5EF4-FFF2-40B4-BE49-F238E27FC236}">
                <a16:creationId xmlns:a16="http://schemas.microsoft.com/office/drawing/2014/main" id="{C476AD29-3A33-384C-6A01-C4168DDED19E}"/>
              </a:ext>
            </a:extLst>
          </p:cNvPr>
          <p:cNvSpPr/>
          <p:nvPr/>
        </p:nvSpPr>
        <p:spPr>
          <a:xfrm>
            <a:off x="1989667" y="2611883"/>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Transmission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613521"/>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Real Effects</a:t>
            </a:r>
          </a:p>
        </p:txBody>
      </p:sp>
      <p:sp>
        <p:nvSpPr>
          <p:cNvPr id="23" name="Rectangle 22">
            <a:extLst>
              <a:ext uri="{FF2B5EF4-FFF2-40B4-BE49-F238E27FC236}">
                <a16:creationId xmlns:a16="http://schemas.microsoft.com/office/drawing/2014/main" id="{FC794CE7-FD0A-03CF-4EDC-E5E4C0919379}"/>
              </a:ext>
            </a:extLst>
          </p:cNvPr>
          <p:cNvSpPr/>
          <p:nvPr/>
        </p:nvSpPr>
        <p:spPr>
          <a:xfrm>
            <a:off x="908946" y="3561780"/>
            <a:ext cx="4733974" cy="211602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4938" algn="justLow"/>
            <a:endParaRPr lang="en-US" sz="2400" dirty="0">
              <a:solidFill>
                <a:schemeClr val="tx1"/>
              </a:solidFill>
              <a:latin typeface="Times" pitchFamily="2" charset="0"/>
            </a:endParaRPr>
          </a:p>
          <a:p>
            <a:pPr marL="134938" algn="justLow"/>
            <a:r>
              <a:rPr lang="en-US" sz="2400" dirty="0">
                <a:solidFill>
                  <a:schemeClr val="tx1"/>
                </a:solidFill>
                <a:latin typeface="Times" pitchFamily="2" charset="0"/>
              </a:rPr>
              <a:t>Are stock market and real estate problems in Japan transmitted to the U.S. commercial real estate (CRE) markets in the form of reduced lending? </a:t>
            </a:r>
          </a:p>
          <a:p>
            <a:pPr marL="134938"/>
            <a:endParaRPr lang="en-US" sz="2000" dirty="0">
              <a:solidFill>
                <a:schemeClr val="tx1"/>
              </a:solidFill>
              <a:latin typeface="Times" pitchFamily="2" charset="0"/>
            </a:endParaRPr>
          </a:p>
        </p:txBody>
      </p:sp>
      <p:cxnSp>
        <p:nvCxnSpPr>
          <p:cNvPr id="9" name="Straight Connector 8">
            <a:extLst>
              <a:ext uri="{FF2B5EF4-FFF2-40B4-BE49-F238E27FC236}">
                <a16:creationId xmlns:a16="http://schemas.microsoft.com/office/drawing/2014/main" id="{704862D5-0F06-EDDB-F980-B791CE782BF8}"/>
              </a:ext>
            </a:extLst>
          </p:cNvPr>
          <p:cNvCxnSpPr>
            <a:cxnSpLocks/>
          </p:cNvCxnSpPr>
          <p:nvPr/>
        </p:nvCxnSpPr>
        <p:spPr>
          <a:xfrm>
            <a:off x="5993027" y="182837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195349"/>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099BFB7-9D9C-508E-3C3D-B05382206F97}"/>
              </a:ext>
            </a:extLst>
          </p:cNvPr>
          <p:cNvSpPr/>
          <p:nvPr/>
        </p:nvSpPr>
        <p:spPr>
          <a:xfrm>
            <a:off x="1427129"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21" name="Oval 20">
            <a:extLst>
              <a:ext uri="{FF2B5EF4-FFF2-40B4-BE49-F238E27FC236}">
                <a16:creationId xmlns:a16="http://schemas.microsoft.com/office/drawing/2014/main" id="{DA88E56C-7DFC-286B-7F02-6B746C24D12E}"/>
              </a:ext>
            </a:extLst>
          </p:cNvPr>
          <p:cNvSpPr/>
          <p:nvPr/>
        </p:nvSpPr>
        <p:spPr>
          <a:xfrm>
            <a:off x="6548127"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31" name="Rectangle 30">
            <a:extLst>
              <a:ext uri="{FF2B5EF4-FFF2-40B4-BE49-F238E27FC236}">
                <a16:creationId xmlns:a16="http://schemas.microsoft.com/office/drawing/2014/main" id="{304F8A17-10E4-D39C-6CF6-9A57C4CA786B}"/>
              </a:ext>
            </a:extLst>
          </p:cNvPr>
          <p:cNvSpPr/>
          <p:nvPr/>
        </p:nvSpPr>
        <p:spPr>
          <a:xfrm>
            <a:off x="6166248" y="3565021"/>
            <a:ext cx="4888703" cy="1527231"/>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41338"/>
            <a:r>
              <a:rPr lang="en-US" sz="2400" dirty="0">
                <a:solidFill>
                  <a:schemeClr val="tx1"/>
                </a:solidFill>
                <a:latin typeface="Times" pitchFamily="2" charset="0"/>
              </a:rPr>
              <a:t>Did the reduction in Japanese lending have an effect on real activity in U.S. CRE markets?</a:t>
            </a:r>
          </a:p>
        </p:txBody>
      </p:sp>
      <p:sp>
        <p:nvSpPr>
          <p:cNvPr id="20" name="Rectangle 19">
            <a:extLst>
              <a:ext uri="{FF2B5EF4-FFF2-40B4-BE49-F238E27FC236}">
                <a16:creationId xmlns:a16="http://schemas.microsoft.com/office/drawing/2014/main" id="{4E2471B7-ABD0-7D13-666A-A8B1E2B4FD3E}"/>
              </a:ext>
            </a:extLst>
          </p:cNvPr>
          <p:cNvSpPr/>
          <p:nvPr/>
        </p:nvSpPr>
        <p:spPr>
          <a:xfrm>
            <a:off x="732329" y="308277"/>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22" name="Oval 21">
            <a:extLst>
              <a:ext uri="{FF2B5EF4-FFF2-40B4-BE49-F238E27FC236}">
                <a16:creationId xmlns:a16="http://schemas.microsoft.com/office/drawing/2014/main" id="{47D90C0A-D988-F0AE-85EC-B2935FA946A5}"/>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
        <p:nvSpPr>
          <p:cNvPr id="17" name="Rectangle 16">
            <a:extLst>
              <a:ext uri="{FF2B5EF4-FFF2-40B4-BE49-F238E27FC236}">
                <a16:creationId xmlns:a16="http://schemas.microsoft.com/office/drawing/2014/main" id="{CED9AD8A-E2CF-04F8-4AEC-D61488362BB9}"/>
              </a:ext>
            </a:extLst>
          </p:cNvPr>
          <p:cNvSpPr/>
          <p:nvPr/>
        </p:nvSpPr>
        <p:spPr>
          <a:xfrm>
            <a:off x="732329" y="314675"/>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Conclusion</a:t>
            </a:r>
            <a:endParaRPr lang="en-US" sz="2400" dirty="0">
              <a:solidFill>
                <a:schemeClr val="bg1"/>
              </a:solidFill>
              <a:latin typeface="Times" pitchFamily="2" charset="0"/>
            </a:endParaRPr>
          </a:p>
        </p:txBody>
      </p:sp>
      <p:sp>
        <p:nvSpPr>
          <p:cNvPr id="24" name="Oval 23">
            <a:extLst>
              <a:ext uri="{FF2B5EF4-FFF2-40B4-BE49-F238E27FC236}">
                <a16:creationId xmlns:a16="http://schemas.microsoft.com/office/drawing/2014/main" id="{BC2BE34A-83B2-B97B-57F6-869DA811BB1C}"/>
              </a:ext>
            </a:extLst>
          </p:cNvPr>
          <p:cNvSpPr/>
          <p:nvPr/>
        </p:nvSpPr>
        <p:spPr>
          <a:xfrm>
            <a:off x="467670" y="32532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5</a:t>
            </a:r>
          </a:p>
        </p:txBody>
      </p:sp>
      <p:sp>
        <p:nvSpPr>
          <p:cNvPr id="25" name="Rectangle 24">
            <a:extLst>
              <a:ext uri="{FF2B5EF4-FFF2-40B4-BE49-F238E27FC236}">
                <a16:creationId xmlns:a16="http://schemas.microsoft.com/office/drawing/2014/main" id="{E6F216E6-D096-2981-175F-5FC430041CED}"/>
              </a:ext>
            </a:extLst>
          </p:cNvPr>
          <p:cNvSpPr/>
          <p:nvPr/>
        </p:nvSpPr>
        <p:spPr>
          <a:xfrm>
            <a:off x="723024" y="3459448"/>
            <a:ext cx="5270002" cy="2362575"/>
          </a:xfrm>
          <a:prstGeom prst="rect">
            <a:avLst/>
          </a:prstGeom>
          <a:solidFill>
            <a:schemeClr val="bg1"/>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4938" algn="justLow"/>
            <a:endParaRPr lang="en-US" sz="2400" dirty="0">
              <a:solidFill>
                <a:schemeClr val="tx1"/>
              </a:solidFill>
              <a:latin typeface="Times" pitchFamily="2" charset="0"/>
            </a:endParaRPr>
          </a:p>
          <a:p>
            <a:pPr marL="177800" algn="justLow">
              <a:spcAft>
                <a:spcPts val="1200"/>
              </a:spcAft>
            </a:pPr>
            <a:r>
              <a:rPr lang="en-US" sz="2400" dirty="0">
                <a:solidFill>
                  <a:schemeClr val="tx1"/>
                </a:solidFill>
                <a:latin typeface="Times" pitchFamily="2" charset="0"/>
              </a:rPr>
              <a:t>Sharp decrease in the equity and real estate prices in the early 1990s in Japan resulted in a</a:t>
            </a:r>
            <a:r>
              <a:rPr lang="en-US" sz="2400" dirty="0">
                <a:solidFill>
                  <a:srgbClr val="C00000"/>
                </a:solidFill>
                <a:latin typeface="Times" pitchFamily="2" charset="0"/>
              </a:rPr>
              <a:t> </a:t>
            </a:r>
            <a:r>
              <a:rPr lang="en-US" sz="2400" b="1" dirty="0">
                <a:solidFill>
                  <a:schemeClr val="accent1"/>
                </a:solidFill>
                <a:latin typeface="Times" pitchFamily="2" charset="0"/>
              </a:rPr>
              <a:t>decline</a:t>
            </a:r>
            <a:r>
              <a:rPr lang="en-US" sz="2400" dirty="0">
                <a:solidFill>
                  <a:srgbClr val="C00000"/>
                </a:solidFill>
                <a:latin typeface="Times" pitchFamily="2" charset="0"/>
              </a:rPr>
              <a:t> </a:t>
            </a:r>
            <a:r>
              <a:rPr lang="en-US" sz="2400" dirty="0">
                <a:solidFill>
                  <a:schemeClr val="tx1"/>
                </a:solidFill>
                <a:latin typeface="Times" pitchFamily="2" charset="0"/>
              </a:rPr>
              <a:t>in</a:t>
            </a:r>
            <a:r>
              <a:rPr lang="en-US" sz="2400" dirty="0">
                <a:solidFill>
                  <a:srgbClr val="C00000"/>
                </a:solidFill>
                <a:latin typeface="Times" pitchFamily="2" charset="0"/>
              </a:rPr>
              <a:t> </a:t>
            </a:r>
            <a:r>
              <a:rPr lang="en-US" sz="2400" b="1" dirty="0">
                <a:solidFill>
                  <a:schemeClr val="accent1"/>
                </a:solidFill>
                <a:latin typeface="Times" pitchFamily="2" charset="0"/>
              </a:rPr>
              <a:t>commercial lending</a:t>
            </a:r>
            <a:r>
              <a:rPr lang="en-US" sz="2400" dirty="0">
                <a:solidFill>
                  <a:srgbClr val="C00000"/>
                </a:solidFill>
                <a:latin typeface="Times" pitchFamily="2" charset="0"/>
              </a:rPr>
              <a:t> </a:t>
            </a:r>
            <a:r>
              <a:rPr lang="en-US" sz="2400" dirty="0">
                <a:solidFill>
                  <a:schemeClr val="tx1"/>
                </a:solidFill>
                <a:latin typeface="Times" pitchFamily="2" charset="0"/>
              </a:rPr>
              <a:t>by Japanese banks </a:t>
            </a:r>
            <a:r>
              <a:rPr lang="en-US" sz="2400" b="1" dirty="0">
                <a:solidFill>
                  <a:schemeClr val="accent1"/>
                </a:solidFill>
                <a:latin typeface="Times" pitchFamily="2" charset="0"/>
              </a:rPr>
              <a:t>in the U.S. </a:t>
            </a:r>
          </a:p>
          <a:p>
            <a:pPr marL="134938"/>
            <a:endParaRPr lang="en-US" sz="2000" dirty="0">
              <a:solidFill>
                <a:schemeClr val="tx1"/>
              </a:solidFill>
              <a:latin typeface="Times" pitchFamily="2" charset="0"/>
            </a:endParaRPr>
          </a:p>
        </p:txBody>
      </p:sp>
      <p:sp>
        <p:nvSpPr>
          <p:cNvPr id="26" name="Rectangle 25">
            <a:extLst>
              <a:ext uri="{FF2B5EF4-FFF2-40B4-BE49-F238E27FC236}">
                <a16:creationId xmlns:a16="http://schemas.microsoft.com/office/drawing/2014/main" id="{47D8C8E7-9397-8CEF-7BE2-F7B70B0B01EC}"/>
              </a:ext>
            </a:extLst>
          </p:cNvPr>
          <p:cNvSpPr/>
          <p:nvPr/>
        </p:nvSpPr>
        <p:spPr>
          <a:xfrm>
            <a:off x="6166246" y="3574644"/>
            <a:ext cx="4888703" cy="1527231"/>
          </a:xfrm>
          <a:prstGeom prst="rect">
            <a:avLst/>
          </a:prstGeom>
          <a:solidFill>
            <a:schemeClr val="bg1"/>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200"/>
              </a:spcAft>
            </a:pPr>
            <a:r>
              <a:rPr lang="en-US" sz="2400" dirty="0">
                <a:solidFill>
                  <a:schemeClr val="tx1"/>
                </a:solidFill>
                <a:latin typeface="Times" pitchFamily="2" charset="0"/>
              </a:rPr>
              <a:t>This had significant </a:t>
            </a:r>
            <a:r>
              <a:rPr lang="en-US" sz="2400" b="1" dirty="0">
                <a:solidFill>
                  <a:schemeClr val="accent5">
                    <a:lumMod val="75000"/>
                  </a:schemeClr>
                </a:solidFill>
                <a:latin typeface="Times" pitchFamily="2" charset="0"/>
              </a:rPr>
              <a:t>effects</a:t>
            </a:r>
            <a:r>
              <a:rPr lang="en-US" sz="2400" dirty="0">
                <a:solidFill>
                  <a:schemeClr val="accent5">
                    <a:lumMod val="75000"/>
                  </a:schemeClr>
                </a:solidFill>
                <a:latin typeface="Times" pitchFamily="2" charset="0"/>
              </a:rPr>
              <a:t> </a:t>
            </a:r>
            <a:r>
              <a:rPr lang="en-US" sz="2400" dirty="0">
                <a:solidFill>
                  <a:schemeClr val="tx1"/>
                </a:solidFill>
                <a:latin typeface="Times" pitchFamily="2" charset="0"/>
              </a:rPr>
              <a:t>on real </a:t>
            </a:r>
            <a:r>
              <a:rPr lang="en-US" sz="2400" b="1" dirty="0">
                <a:solidFill>
                  <a:schemeClr val="accent5">
                    <a:lumMod val="75000"/>
                  </a:schemeClr>
                </a:solidFill>
                <a:latin typeface="Times" pitchFamily="2" charset="0"/>
              </a:rPr>
              <a:t>economic activity </a:t>
            </a:r>
            <a:r>
              <a:rPr lang="en-US" sz="2400" dirty="0">
                <a:solidFill>
                  <a:schemeClr val="tx1"/>
                </a:solidFill>
                <a:latin typeface="Times" pitchFamily="2" charset="0"/>
              </a:rPr>
              <a:t>in </a:t>
            </a:r>
            <a:r>
              <a:rPr lang="en-US" sz="2400" b="1" dirty="0">
                <a:solidFill>
                  <a:schemeClr val="accent5">
                    <a:lumMod val="75000"/>
                  </a:schemeClr>
                </a:solidFill>
                <a:latin typeface="Times" pitchFamily="2" charset="0"/>
              </a:rPr>
              <a:t>the U.S</a:t>
            </a:r>
            <a:r>
              <a:rPr lang="en-US" sz="2400" dirty="0">
                <a:solidFill>
                  <a:schemeClr val="accent1"/>
                </a:solidFill>
                <a:latin typeface="Times" pitchFamily="2" charset="0"/>
              </a:rPr>
              <a:t>. </a:t>
            </a:r>
          </a:p>
        </p:txBody>
      </p:sp>
    </p:spTree>
    <p:extLst>
      <p:ext uri="{BB962C8B-B14F-4D97-AF65-F5344CB8AC3E}">
        <p14:creationId xmlns:p14="http://schemas.microsoft.com/office/powerpoint/2010/main" val="33309974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ppt_y</p:attrName>
                                        </p:attrNameLst>
                                      </p:cBhvr>
                                      <p:tavLst>
                                        <p:tav tm="0">
                                          <p:val>
                                            <p:strVal val="#ppt_y+#ppt_h*1.125000"/>
                                          </p:val>
                                        </p:tav>
                                        <p:tav tm="100000">
                                          <p:val>
                                            <p:strVal val="#ppt_y"/>
                                          </p:val>
                                        </p:tav>
                                      </p:tavLst>
                                    </p:anim>
                                    <p:animEffect transition="in" filter="wipe(up)">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3000" fill="hold"/>
                                        <p:tgtEl>
                                          <p:spTgt spid="25"/>
                                        </p:tgtEl>
                                        <p:attrNameLst>
                                          <p:attrName>ppt_w</p:attrName>
                                        </p:attrNameLst>
                                      </p:cBhvr>
                                      <p:tavLst>
                                        <p:tav tm="0">
                                          <p:val>
                                            <p:fltVal val="0"/>
                                          </p:val>
                                        </p:tav>
                                        <p:tav tm="100000">
                                          <p:val>
                                            <p:strVal val="#ppt_w"/>
                                          </p:val>
                                        </p:tav>
                                      </p:tavLst>
                                    </p:anim>
                                    <p:anim calcmode="lin" valueType="num">
                                      <p:cBhvr>
                                        <p:cTn id="18" dur="3000" fill="hold"/>
                                        <p:tgtEl>
                                          <p:spTgt spid="25"/>
                                        </p:tgtEl>
                                        <p:attrNameLst>
                                          <p:attrName>ppt_h</p:attrName>
                                        </p:attrNameLst>
                                      </p:cBhvr>
                                      <p:tavLst>
                                        <p:tav tm="0">
                                          <p:val>
                                            <p:fltVal val="0"/>
                                          </p:val>
                                        </p:tav>
                                        <p:tav tm="100000">
                                          <p:val>
                                            <p:strVal val="#ppt_h"/>
                                          </p:val>
                                        </p:tav>
                                      </p:tavLst>
                                    </p:anim>
                                    <p:animEffect transition="in" filter="fade">
                                      <p:cBhvr>
                                        <p:cTn id="19" dur="30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3000" fill="hold"/>
                                        <p:tgtEl>
                                          <p:spTgt spid="26"/>
                                        </p:tgtEl>
                                        <p:attrNameLst>
                                          <p:attrName>ppt_w</p:attrName>
                                        </p:attrNameLst>
                                      </p:cBhvr>
                                      <p:tavLst>
                                        <p:tav tm="0">
                                          <p:val>
                                            <p:fltVal val="0"/>
                                          </p:val>
                                        </p:tav>
                                        <p:tav tm="100000">
                                          <p:val>
                                            <p:strVal val="#ppt_w"/>
                                          </p:val>
                                        </p:tav>
                                      </p:tavLst>
                                    </p:anim>
                                    <p:anim calcmode="lin" valueType="num">
                                      <p:cBhvr>
                                        <p:cTn id="25" dur="3000" fill="hold"/>
                                        <p:tgtEl>
                                          <p:spTgt spid="26"/>
                                        </p:tgtEl>
                                        <p:attrNameLst>
                                          <p:attrName>ppt_h</p:attrName>
                                        </p:attrNameLst>
                                      </p:cBhvr>
                                      <p:tavLst>
                                        <p:tav tm="0">
                                          <p:val>
                                            <p:fltVal val="0"/>
                                          </p:val>
                                        </p:tav>
                                        <p:tav tm="100000">
                                          <p:val>
                                            <p:strVal val="#ppt_h"/>
                                          </p:val>
                                        </p:tav>
                                      </p:tavLst>
                                    </p:anim>
                                    <p:animEffect transition="in" filter="fade">
                                      <p:cBhvr>
                                        <p:cTn id="26" dur="3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4" grpId="0" animBg="1"/>
      <p:bldP spid="25" grpId="0" animBg="1"/>
      <p:bldP spid="2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5721177" y="354971"/>
            <a:ext cx="2743201" cy="604360"/>
          </a:xfrm>
        </p:spPr>
        <p:txBody>
          <a:bodyPr>
            <a:normAutofit/>
          </a:bodyPr>
          <a:lstStyle/>
          <a:p>
            <a:r>
              <a:rPr lang="x-none" sz="2800" b="1" dirty="0">
                <a:solidFill>
                  <a:srgbClr val="0F5093"/>
                </a:solidFill>
                <a:latin typeface="Times" pitchFamily="2" charset="0"/>
              </a:rPr>
              <a:t>Limitations</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35</a:t>
            </a:fld>
            <a:endParaRPr lang="x-none" dirty="0"/>
          </a:p>
        </p:txBody>
      </p:sp>
      <p:sp>
        <p:nvSpPr>
          <p:cNvPr id="17" name="TextBox 16">
            <a:extLst>
              <a:ext uri="{FF2B5EF4-FFF2-40B4-BE49-F238E27FC236}">
                <a16:creationId xmlns:a16="http://schemas.microsoft.com/office/drawing/2014/main" id="{97D782F5-5073-616D-B063-F914520ABB79}"/>
              </a:ext>
            </a:extLst>
          </p:cNvPr>
          <p:cNvSpPr txBox="1"/>
          <p:nvPr/>
        </p:nvSpPr>
        <p:spPr>
          <a:xfrm>
            <a:off x="4621426" y="1358705"/>
            <a:ext cx="2743201" cy="523220"/>
          </a:xfrm>
          <a:prstGeom prst="rect">
            <a:avLst/>
          </a:prstGeom>
          <a:noFill/>
        </p:spPr>
        <p:txBody>
          <a:bodyPr wrap="square">
            <a:spAutoFit/>
          </a:bodyPr>
          <a:lstStyle/>
          <a:p>
            <a:pPr algn="ctr"/>
            <a:r>
              <a:rPr lang="x-none" sz="2800" b="1" dirty="0">
                <a:solidFill>
                  <a:srgbClr val="0F5093"/>
                </a:solidFill>
                <a:latin typeface="Times" pitchFamily="2" charset="0"/>
              </a:rPr>
              <a:t>Panel date set</a:t>
            </a:r>
          </a:p>
        </p:txBody>
      </p:sp>
      <p:sp>
        <p:nvSpPr>
          <p:cNvPr id="18" name="Rectangle 17">
            <a:extLst>
              <a:ext uri="{FF2B5EF4-FFF2-40B4-BE49-F238E27FC236}">
                <a16:creationId xmlns:a16="http://schemas.microsoft.com/office/drawing/2014/main" id="{C476AD29-3A33-384C-6A01-C4168DDED19E}"/>
              </a:ext>
            </a:extLst>
          </p:cNvPr>
          <p:cNvSpPr/>
          <p:nvPr/>
        </p:nvSpPr>
        <p:spPr>
          <a:xfrm>
            <a:off x="1989667" y="2665436"/>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Cross-Section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667074"/>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Time-Series</a:t>
            </a:r>
          </a:p>
        </p:txBody>
      </p:sp>
      <p:sp>
        <p:nvSpPr>
          <p:cNvPr id="20" name="Rectangle 19">
            <a:extLst>
              <a:ext uri="{FF2B5EF4-FFF2-40B4-BE49-F238E27FC236}">
                <a16:creationId xmlns:a16="http://schemas.microsoft.com/office/drawing/2014/main" id="{1F87F748-314A-EDFF-07C2-8ECC181AED6E}"/>
              </a:ext>
            </a:extLst>
          </p:cNvPr>
          <p:cNvSpPr/>
          <p:nvPr/>
        </p:nvSpPr>
        <p:spPr>
          <a:xfrm>
            <a:off x="838200" y="3541031"/>
            <a:ext cx="5710880" cy="106321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 Sample: 3 real-estate markets in the US; California, New York, and Illinois </a:t>
            </a:r>
          </a:p>
        </p:txBody>
      </p:sp>
      <p:sp>
        <p:nvSpPr>
          <p:cNvPr id="23" name="Rectangle 22">
            <a:extLst>
              <a:ext uri="{FF2B5EF4-FFF2-40B4-BE49-F238E27FC236}">
                <a16:creationId xmlns:a16="http://schemas.microsoft.com/office/drawing/2014/main" id="{FC794CE7-FD0A-03CF-4EDC-E5E4C0919379}"/>
              </a:ext>
            </a:extLst>
          </p:cNvPr>
          <p:cNvSpPr/>
          <p:nvPr/>
        </p:nvSpPr>
        <p:spPr>
          <a:xfrm>
            <a:off x="838199" y="4692229"/>
            <a:ext cx="5710881" cy="1316826"/>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all large domestic banks with commercial real-estate loans in the portfolios and Japanese branches</a:t>
            </a:r>
          </a:p>
        </p:txBody>
      </p:sp>
      <p:sp>
        <p:nvSpPr>
          <p:cNvPr id="24" name="Rectangle 23">
            <a:extLst>
              <a:ext uri="{FF2B5EF4-FFF2-40B4-BE49-F238E27FC236}">
                <a16:creationId xmlns:a16="http://schemas.microsoft.com/office/drawing/2014/main" id="{FA104407-A540-2262-CB19-E8B0F8A0C128}"/>
              </a:ext>
            </a:extLst>
          </p:cNvPr>
          <p:cNvSpPr/>
          <p:nvPr/>
        </p:nvSpPr>
        <p:spPr>
          <a:xfrm>
            <a:off x="7364626" y="3501788"/>
            <a:ext cx="4378411" cy="778212"/>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Semi-annual</a:t>
            </a: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40BE731-EB78-0FB4-A1E2-D197E41EE126}"/>
                  </a:ext>
                </a:extLst>
              </p:cNvPr>
              <p:cNvSpPr/>
              <p:nvPr/>
            </p:nvSpPr>
            <p:spPr>
              <a:xfrm>
                <a:off x="7364626" y="4360346"/>
                <a:ext cx="4378412" cy="778212"/>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Period from 1989 </a:t>
                </a:r>
                <a14:m>
                  <m:oMath xmlns:m="http://schemas.openxmlformats.org/officeDocument/2006/math">
                    <m:r>
                      <a:rPr lang="en-US" sz="2400" i="1" dirty="0" smtClean="0">
                        <a:solidFill>
                          <a:schemeClr val="tx1"/>
                        </a:solidFill>
                        <a:latin typeface="Cambria Math" panose="02040503050406030204" pitchFamily="18" charset="0"/>
                      </a:rPr>
                      <m:t>−</m:t>
                    </m:r>
                  </m:oMath>
                </a14:m>
                <a:r>
                  <a:rPr lang="en-US" sz="2400" dirty="0">
                    <a:solidFill>
                      <a:schemeClr val="tx1"/>
                    </a:solidFill>
                    <a:latin typeface="Times" pitchFamily="2" charset="0"/>
                  </a:rPr>
                  <a:t> 1996</a:t>
                </a:r>
              </a:p>
            </p:txBody>
          </p:sp>
        </mc:Choice>
        <mc:Fallback xmlns="">
          <p:sp>
            <p:nvSpPr>
              <p:cNvPr id="27" name="Rectangle 26">
                <a:extLst>
                  <a:ext uri="{FF2B5EF4-FFF2-40B4-BE49-F238E27FC236}">
                    <a16:creationId xmlns:a16="http://schemas.microsoft.com/office/drawing/2014/main" id="{C40BE731-EB78-0FB4-A1E2-D197E41EE126}"/>
                  </a:ext>
                </a:extLst>
              </p:cNvPr>
              <p:cNvSpPr>
                <a:spLocks noRot="1" noChangeAspect="1" noMove="1" noResize="1" noEditPoints="1" noAdjustHandles="1" noChangeArrowheads="1" noChangeShapeType="1" noTextEdit="1"/>
              </p:cNvSpPr>
              <p:nvPr/>
            </p:nvSpPr>
            <p:spPr>
              <a:xfrm>
                <a:off x="7364626" y="4360346"/>
                <a:ext cx="4378412" cy="778212"/>
              </a:xfrm>
              <a:prstGeom prst="rect">
                <a:avLst/>
              </a:prstGeom>
              <a:blipFill>
                <a:blip r:embed="rId3"/>
                <a:stretch>
                  <a:fillRect/>
                </a:stretch>
              </a:blipFill>
              <a:ln w="28575">
                <a:solidFill>
                  <a:srgbClr val="0F5093"/>
                </a:solidFill>
              </a:ln>
            </p:spPr>
            <p:txBody>
              <a:bodyPr/>
              <a:lstStyle/>
              <a:p>
                <a:r>
                  <a:rPr lang="en-EG">
                    <a:noFill/>
                  </a:rPr>
                  <a:t> </a:t>
                </a:r>
              </a:p>
            </p:txBody>
          </p:sp>
        </mc:Fallback>
      </mc:AlternateContent>
      <p:cxnSp>
        <p:nvCxnSpPr>
          <p:cNvPr id="9" name="Straight Connector 8">
            <a:extLst>
              <a:ext uri="{FF2B5EF4-FFF2-40B4-BE49-F238E27FC236}">
                <a16:creationId xmlns:a16="http://schemas.microsoft.com/office/drawing/2014/main" id="{704862D5-0F06-EDDB-F980-B791CE782BF8}"/>
              </a:ext>
            </a:extLst>
          </p:cNvPr>
          <p:cNvCxnSpPr>
            <a:cxnSpLocks/>
            <a:stCxn id="17" idx="2"/>
          </p:cNvCxnSpPr>
          <p:nvPr/>
        </p:nvCxnSpPr>
        <p:spPr>
          <a:xfrm>
            <a:off x="5993027" y="1881925"/>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248902"/>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24890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24890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A68B6A0-B2A8-58AE-8658-B1BDEF86925A}"/>
              </a:ext>
            </a:extLst>
          </p:cNvPr>
          <p:cNvSpPr/>
          <p:nvPr/>
        </p:nvSpPr>
        <p:spPr>
          <a:xfrm>
            <a:off x="838200" y="3551724"/>
            <a:ext cx="2829698" cy="1063219"/>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1. Not random</a:t>
            </a:r>
          </a:p>
        </p:txBody>
      </p:sp>
      <p:sp>
        <p:nvSpPr>
          <p:cNvPr id="21" name="Rectangle 20">
            <a:extLst>
              <a:ext uri="{FF2B5EF4-FFF2-40B4-BE49-F238E27FC236}">
                <a16:creationId xmlns:a16="http://schemas.microsoft.com/office/drawing/2014/main" id="{248B06F7-80C1-6995-6ECD-1F6C288C4B68}"/>
              </a:ext>
            </a:extLst>
          </p:cNvPr>
          <p:cNvSpPr/>
          <p:nvPr/>
        </p:nvSpPr>
        <p:spPr>
          <a:xfrm>
            <a:off x="831637" y="4696791"/>
            <a:ext cx="2836260" cy="1312264"/>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3. Aggregation</a:t>
            </a:r>
          </a:p>
        </p:txBody>
      </p:sp>
      <p:sp>
        <p:nvSpPr>
          <p:cNvPr id="22" name="Rectangle 21">
            <a:extLst>
              <a:ext uri="{FF2B5EF4-FFF2-40B4-BE49-F238E27FC236}">
                <a16:creationId xmlns:a16="http://schemas.microsoft.com/office/drawing/2014/main" id="{297F9B06-5390-CB3D-49E8-EDD0AE2ED87F}"/>
              </a:ext>
            </a:extLst>
          </p:cNvPr>
          <p:cNvSpPr/>
          <p:nvPr/>
        </p:nvSpPr>
        <p:spPr>
          <a:xfrm>
            <a:off x="3756454" y="3551724"/>
            <a:ext cx="2780269" cy="1063219"/>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2. Sample Size</a:t>
            </a:r>
          </a:p>
        </p:txBody>
      </p:sp>
      <p:sp>
        <p:nvSpPr>
          <p:cNvPr id="25" name="Rectangle 24">
            <a:extLst>
              <a:ext uri="{FF2B5EF4-FFF2-40B4-BE49-F238E27FC236}">
                <a16:creationId xmlns:a16="http://schemas.microsoft.com/office/drawing/2014/main" id="{BE5638DA-A19B-80C0-C9E7-2737D1D65198}"/>
              </a:ext>
            </a:extLst>
          </p:cNvPr>
          <p:cNvSpPr/>
          <p:nvPr/>
        </p:nvSpPr>
        <p:spPr>
          <a:xfrm>
            <a:off x="3756453" y="4681536"/>
            <a:ext cx="2780269" cy="1312264"/>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4. Non-performing loan rate</a:t>
            </a:r>
          </a:p>
        </p:txBody>
      </p:sp>
      <p:sp>
        <p:nvSpPr>
          <p:cNvPr id="26" name="Rectangle 25">
            <a:extLst>
              <a:ext uri="{FF2B5EF4-FFF2-40B4-BE49-F238E27FC236}">
                <a16:creationId xmlns:a16="http://schemas.microsoft.com/office/drawing/2014/main" id="{6A636B64-59FB-0EEC-C9FE-06E15D8B66BE}"/>
              </a:ext>
            </a:extLst>
          </p:cNvPr>
          <p:cNvSpPr/>
          <p:nvPr/>
        </p:nvSpPr>
        <p:spPr>
          <a:xfrm>
            <a:off x="7376984" y="3501789"/>
            <a:ext cx="4366053" cy="778212"/>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5. Frequency</a:t>
            </a:r>
          </a:p>
        </p:txBody>
      </p:sp>
      <p:sp>
        <p:nvSpPr>
          <p:cNvPr id="31" name="Rectangle 30">
            <a:extLst>
              <a:ext uri="{FF2B5EF4-FFF2-40B4-BE49-F238E27FC236}">
                <a16:creationId xmlns:a16="http://schemas.microsoft.com/office/drawing/2014/main" id="{9030A469-1BFC-D36E-79C5-165ED8608EE2}"/>
              </a:ext>
            </a:extLst>
          </p:cNvPr>
          <p:cNvSpPr/>
          <p:nvPr/>
        </p:nvSpPr>
        <p:spPr>
          <a:xfrm>
            <a:off x="7376984" y="4370211"/>
            <a:ext cx="4366053" cy="778212"/>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6. Time-period</a:t>
            </a:r>
          </a:p>
        </p:txBody>
      </p:sp>
      <p:sp>
        <p:nvSpPr>
          <p:cNvPr id="32" name="Rectangle 31">
            <a:extLst>
              <a:ext uri="{FF2B5EF4-FFF2-40B4-BE49-F238E27FC236}">
                <a16:creationId xmlns:a16="http://schemas.microsoft.com/office/drawing/2014/main" id="{C0817F43-B3E7-E815-FBC0-52DFD67919EB}"/>
              </a:ext>
            </a:extLst>
          </p:cNvPr>
          <p:cNvSpPr/>
          <p:nvPr/>
        </p:nvSpPr>
        <p:spPr>
          <a:xfrm>
            <a:off x="732329" y="308277"/>
            <a:ext cx="48175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Sample, data, and Limitation</a:t>
            </a:r>
            <a:endParaRPr lang="en-US" sz="2400" dirty="0">
              <a:solidFill>
                <a:schemeClr val="bg1"/>
              </a:solidFill>
              <a:latin typeface="Times" pitchFamily="2" charset="0"/>
            </a:endParaRPr>
          </a:p>
        </p:txBody>
      </p:sp>
      <p:sp>
        <p:nvSpPr>
          <p:cNvPr id="33" name="Oval 32">
            <a:extLst>
              <a:ext uri="{FF2B5EF4-FFF2-40B4-BE49-F238E27FC236}">
                <a16:creationId xmlns:a16="http://schemas.microsoft.com/office/drawing/2014/main" id="{3B6D41B6-F31C-2D3F-B7A0-09C2BDACBDAE}"/>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2</a:t>
            </a:r>
          </a:p>
        </p:txBody>
      </p:sp>
      <p:sp>
        <p:nvSpPr>
          <p:cNvPr id="34" name="Rectangle 33">
            <a:extLst>
              <a:ext uri="{FF2B5EF4-FFF2-40B4-BE49-F238E27FC236}">
                <a16:creationId xmlns:a16="http://schemas.microsoft.com/office/drawing/2014/main" id="{7918B9BA-93A7-4580-EFFF-23D50CAF5206}"/>
              </a:ext>
            </a:extLst>
          </p:cNvPr>
          <p:cNvSpPr/>
          <p:nvPr/>
        </p:nvSpPr>
        <p:spPr>
          <a:xfrm>
            <a:off x="732329" y="314675"/>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Conclusion</a:t>
            </a:r>
            <a:endParaRPr lang="en-US" sz="2400" dirty="0">
              <a:solidFill>
                <a:schemeClr val="bg1"/>
              </a:solidFill>
              <a:latin typeface="Times" pitchFamily="2" charset="0"/>
            </a:endParaRPr>
          </a:p>
        </p:txBody>
      </p:sp>
      <p:sp>
        <p:nvSpPr>
          <p:cNvPr id="35" name="Oval 34">
            <a:extLst>
              <a:ext uri="{FF2B5EF4-FFF2-40B4-BE49-F238E27FC236}">
                <a16:creationId xmlns:a16="http://schemas.microsoft.com/office/drawing/2014/main" id="{508089A4-9B19-FB39-0447-CE1258036364}"/>
              </a:ext>
            </a:extLst>
          </p:cNvPr>
          <p:cNvSpPr/>
          <p:nvPr/>
        </p:nvSpPr>
        <p:spPr>
          <a:xfrm>
            <a:off x="467670" y="32532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5</a:t>
            </a:r>
          </a:p>
        </p:txBody>
      </p:sp>
    </p:spTree>
    <p:extLst>
      <p:ext uri="{BB962C8B-B14F-4D97-AF65-F5344CB8AC3E}">
        <p14:creationId xmlns:p14="http://schemas.microsoft.com/office/powerpoint/2010/main" val="361563364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p:tgtEl>
                                          <p:spTgt spid="34"/>
                                        </p:tgtEl>
                                        <p:attrNameLst>
                                          <p:attrName>ppt_y</p:attrName>
                                        </p:attrNameLst>
                                      </p:cBhvr>
                                      <p:tavLst>
                                        <p:tav tm="0">
                                          <p:val>
                                            <p:strVal val="#ppt_y+#ppt_h*1.125000"/>
                                          </p:val>
                                        </p:tav>
                                        <p:tav tm="100000">
                                          <p:val>
                                            <p:strVal val="#ppt_y"/>
                                          </p:val>
                                        </p:tav>
                                      </p:tavLst>
                                    </p:anim>
                                    <p:animEffect transition="in" filter="wipe(up)">
                                      <p:cBhvr>
                                        <p:cTn id="8" dur="500"/>
                                        <p:tgtEl>
                                          <p:spTgt spid="3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up)">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36</a:t>
            </a:fld>
            <a:endParaRPr lang="x-none" dirty="0"/>
          </a:p>
        </p:txBody>
      </p:sp>
      <p:sp>
        <p:nvSpPr>
          <p:cNvPr id="10" name="Rectangle 9">
            <a:extLst>
              <a:ext uri="{FF2B5EF4-FFF2-40B4-BE49-F238E27FC236}">
                <a16:creationId xmlns:a16="http://schemas.microsoft.com/office/drawing/2014/main" id="{30266D2E-27A2-24C2-8746-F9C33D54BB1B}"/>
              </a:ext>
            </a:extLst>
          </p:cNvPr>
          <p:cNvSpPr/>
          <p:nvPr/>
        </p:nvSpPr>
        <p:spPr>
          <a:xfrm>
            <a:off x="5078034" y="1357513"/>
            <a:ext cx="2427035" cy="615815"/>
          </a:xfrm>
          <a:prstGeom prst="rect">
            <a:avLst/>
          </a:prstGeom>
          <a:solidFill>
            <a:srgbClr val="F4B2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2800" dirty="0">
                <a:latin typeface="Times" pitchFamily="2" charset="0"/>
              </a:rPr>
              <a:t>Instrument</a:t>
            </a:r>
          </a:p>
        </p:txBody>
      </p:sp>
      <p:sp>
        <p:nvSpPr>
          <p:cNvPr id="21" name="Rectangle 20">
            <a:extLst>
              <a:ext uri="{FF2B5EF4-FFF2-40B4-BE49-F238E27FC236}">
                <a16:creationId xmlns:a16="http://schemas.microsoft.com/office/drawing/2014/main" id="{A904D5E1-83B0-8A5A-8AAF-B04B6F5FC79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3" name="Oval 22">
            <a:extLst>
              <a:ext uri="{FF2B5EF4-FFF2-40B4-BE49-F238E27FC236}">
                <a16:creationId xmlns:a16="http://schemas.microsoft.com/office/drawing/2014/main" id="{1B906EDE-FF78-40DF-8628-75809965DA8E}"/>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5" name="TextBox 24">
            <a:extLst>
              <a:ext uri="{FF2B5EF4-FFF2-40B4-BE49-F238E27FC236}">
                <a16:creationId xmlns:a16="http://schemas.microsoft.com/office/drawing/2014/main" id="{33CD5BC9-76F7-F1B6-D64C-D788792D3D1D}"/>
              </a:ext>
            </a:extLst>
          </p:cNvPr>
          <p:cNvSpPr txBox="1"/>
          <p:nvPr/>
        </p:nvSpPr>
        <p:spPr>
          <a:xfrm>
            <a:off x="901421" y="2295255"/>
            <a:ext cx="10780259" cy="830997"/>
          </a:xfrm>
          <a:prstGeom prst="rect">
            <a:avLst/>
          </a:prstGeom>
          <a:noFill/>
        </p:spPr>
        <p:txBody>
          <a:bodyPr wrap="square">
            <a:spAutoFit/>
          </a:bodyPr>
          <a:lstStyle/>
          <a:p>
            <a:pPr marL="342900" lvl="0" indent="-342900">
              <a:buFont typeface="Wingdings" pitchFamily="2" charset="2"/>
              <a:buChar char="Ø"/>
              <a:defRPr/>
            </a:pPr>
            <a:r>
              <a:rPr lang="en-US" sz="2400" dirty="0">
                <a:latin typeface="Times" pitchFamily="2" charset="0"/>
              </a:rPr>
              <a:t>Peek and Rosengren included </a:t>
            </a:r>
            <a:r>
              <a:rPr lang="en-US" sz="2400" b="1" dirty="0">
                <a:solidFill>
                  <a:srgbClr val="C00000"/>
                </a:solidFill>
                <a:latin typeface="Times" pitchFamily="2" charset="0"/>
              </a:rPr>
              <a:t>two lagged values each of a set of variables </a:t>
            </a:r>
            <a:r>
              <a:rPr lang="en-US" sz="2400" dirty="0">
                <a:latin typeface="Times" pitchFamily="2" charset="0"/>
              </a:rPr>
              <a:t>reflecting loan supply effects emanating from Japan. </a:t>
            </a:r>
            <a:endParaRPr lang="x-none" sz="2400" b="1" dirty="0">
              <a:solidFill>
                <a:srgbClr val="C00000"/>
              </a:solidFill>
              <a:latin typeface="Times" pitchFamily="2" charset="0"/>
            </a:endParaRPr>
          </a:p>
        </p:txBody>
      </p:sp>
      <p:sp>
        <p:nvSpPr>
          <p:cNvPr id="18" name="TextBox 17">
            <a:extLst>
              <a:ext uri="{FF2B5EF4-FFF2-40B4-BE49-F238E27FC236}">
                <a16:creationId xmlns:a16="http://schemas.microsoft.com/office/drawing/2014/main" id="{2B751EF7-791C-0535-B888-E0CC173A0702}"/>
              </a:ext>
            </a:extLst>
          </p:cNvPr>
          <p:cNvSpPr txBox="1"/>
          <p:nvPr/>
        </p:nvSpPr>
        <p:spPr>
          <a:xfrm>
            <a:off x="1495056" y="3850959"/>
            <a:ext cx="1887415" cy="584775"/>
          </a:xfrm>
          <a:prstGeom prst="rect">
            <a:avLst/>
          </a:prstGeom>
          <a:noFill/>
        </p:spPr>
        <p:txBody>
          <a:bodyPr wrap="square">
            <a:spAutoFit/>
          </a:bodyPr>
          <a:lstStyle/>
          <a:p>
            <a:pPr algn="ctr"/>
            <a:r>
              <a:rPr lang="en-US" sz="3200" b="1" dirty="0">
                <a:solidFill>
                  <a:srgbClr val="0F5093"/>
                </a:solidFill>
                <a:latin typeface="Times" pitchFamily="2" charset="0"/>
              </a:rPr>
              <a:t>Intuition:</a:t>
            </a:r>
            <a:endParaRPr lang="x-none" sz="3200" dirty="0">
              <a:solidFill>
                <a:srgbClr val="0F5093"/>
              </a:solidFill>
            </a:endParaRPr>
          </a:p>
        </p:txBody>
      </p:sp>
      <p:sp>
        <p:nvSpPr>
          <p:cNvPr id="20" name="TextBox 19">
            <a:extLst>
              <a:ext uri="{FF2B5EF4-FFF2-40B4-BE49-F238E27FC236}">
                <a16:creationId xmlns:a16="http://schemas.microsoft.com/office/drawing/2014/main" id="{98ECFC7F-999A-40CA-27E2-599C2A5C553C}"/>
              </a:ext>
            </a:extLst>
          </p:cNvPr>
          <p:cNvSpPr txBox="1"/>
          <p:nvPr/>
        </p:nvSpPr>
        <p:spPr>
          <a:xfrm>
            <a:off x="1121435" y="4706534"/>
            <a:ext cx="3073472" cy="584775"/>
          </a:xfrm>
          <a:prstGeom prst="rect">
            <a:avLst/>
          </a:prstGeom>
          <a:noFill/>
        </p:spPr>
        <p:txBody>
          <a:bodyPr wrap="square">
            <a:spAutoFit/>
          </a:bodyPr>
          <a:lstStyle/>
          <a:p>
            <a:pPr algn="ctr"/>
            <a:r>
              <a:rPr lang="en-US" sz="3200" b="1" dirty="0">
                <a:solidFill>
                  <a:srgbClr val="0F5093"/>
                </a:solidFill>
                <a:latin typeface="Times" pitchFamily="2" charset="0"/>
              </a:rPr>
              <a:t>Alternatives:</a:t>
            </a:r>
            <a:endParaRPr lang="x-none" sz="3200" dirty="0">
              <a:solidFill>
                <a:srgbClr val="0F5093"/>
              </a:solidFill>
            </a:endParaRPr>
          </a:p>
        </p:txBody>
      </p:sp>
    </p:spTree>
    <p:extLst>
      <p:ext uri="{BB962C8B-B14F-4D97-AF65-F5344CB8AC3E}">
        <p14:creationId xmlns:p14="http://schemas.microsoft.com/office/powerpoint/2010/main" val="14551352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p:tgtEl>
                                          <p:spTgt spid="23"/>
                                        </p:tgtEl>
                                        <p:attrNameLst>
                                          <p:attrName>ppt_y</p:attrName>
                                        </p:attrNameLst>
                                      </p:cBhvr>
                                      <p:tavLst>
                                        <p:tav tm="0">
                                          <p:val>
                                            <p:strVal val="#ppt_y+#ppt_h*1.125000"/>
                                          </p:val>
                                        </p:tav>
                                        <p:tav tm="100000">
                                          <p:val>
                                            <p:strVal val="#ppt_y"/>
                                          </p:val>
                                        </p:tav>
                                      </p:tavLst>
                                    </p:anim>
                                    <p:animEffect transition="in" filter="wipe(up)">
                                      <p:cBhvr>
                                        <p:cTn id="8" dur="1000"/>
                                        <p:tgtEl>
                                          <p:spTgt spid="23"/>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1000"/>
                                        <p:tgtEl>
                                          <p:spTgt spid="21"/>
                                        </p:tgtEl>
                                        <p:attrNameLst>
                                          <p:attrName>ppt_y</p:attrName>
                                        </p:attrNameLst>
                                      </p:cBhvr>
                                      <p:tavLst>
                                        <p:tav tm="0">
                                          <p:val>
                                            <p:strVal val="#ppt_y+#ppt_h*1.125000"/>
                                          </p:val>
                                        </p:tav>
                                        <p:tav tm="100000">
                                          <p:val>
                                            <p:strVal val="#ppt_y"/>
                                          </p:val>
                                        </p:tav>
                                      </p:tavLst>
                                    </p:anim>
                                    <p:animEffect transition="in" filter="wipe(up)">
                                      <p:cBhvr>
                                        <p:cTn id="12" dur="1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p:cTn id="24" dur="500" fill="hold"/>
                                        <p:tgtEl>
                                          <p:spTgt spid="25"/>
                                        </p:tgtEl>
                                        <p:attrNameLst>
                                          <p:attrName>ppt_w</p:attrName>
                                        </p:attrNameLst>
                                      </p:cBhvr>
                                      <p:tavLst>
                                        <p:tav tm="0">
                                          <p:val>
                                            <p:fltVal val="0"/>
                                          </p:val>
                                        </p:tav>
                                        <p:tav tm="100000">
                                          <p:val>
                                            <p:strVal val="#ppt_w"/>
                                          </p:val>
                                        </p:tav>
                                      </p:tavLst>
                                    </p:anim>
                                    <p:anim calcmode="lin" valueType="num">
                                      <p:cBhvr>
                                        <p:cTn id="25" dur="500" fill="hold"/>
                                        <p:tgtEl>
                                          <p:spTgt spid="25"/>
                                        </p:tgtEl>
                                        <p:attrNameLst>
                                          <p:attrName>ppt_h</p:attrName>
                                        </p:attrNameLst>
                                      </p:cBhvr>
                                      <p:tavLst>
                                        <p:tav tm="0">
                                          <p:val>
                                            <p:fltVal val="0"/>
                                          </p:val>
                                        </p:tav>
                                        <p:tav tm="100000">
                                          <p:val>
                                            <p:strVal val="#ppt_h"/>
                                          </p:val>
                                        </p:tav>
                                      </p:tavLst>
                                    </p:anim>
                                    <p:animEffect transition="in" filter="fade">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p:cTn id="36" dur="500" fill="hold"/>
                                        <p:tgtEl>
                                          <p:spTgt spid="20"/>
                                        </p:tgtEl>
                                        <p:attrNameLst>
                                          <p:attrName>ppt_w</p:attrName>
                                        </p:attrNameLst>
                                      </p:cBhvr>
                                      <p:tavLst>
                                        <p:tav tm="0">
                                          <p:val>
                                            <p:fltVal val="0"/>
                                          </p:val>
                                        </p:tav>
                                        <p:tav tm="100000">
                                          <p:val>
                                            <p:strVal val="#ppt_w"/>
                                          </p:val>
                                        </p:tav>
                                      </p:tavLst>
                                    </p:anim>
                                    <p:anim calcmode="lin" valueType="num">
                                      <p:cBhvr>
                                        <p:cTn id="37" dur="500" fill="hold"/>
                                        <p:tgtEl>
                                          <p:spTgt spid="20"/>
                                        </p:tgtEl>
                                        <p:attrNameLst>
                                          <p:attrName>ppt_h</p:attrName>
                                        </p:attrNameLst>
                                      </p:cBhvr>
                                      <p:tavLst>
                                        <p:tav tm="0">
                                          <p:val>
                                            <p:fltVal val="0"/>
                                          </p:val>
                                        </p:tav>
                                        <p:tav tm="100000">
                                          <p:val>
                                            <p:strVal val="#ppt_h"/>
                                          </p:val>
                                        </p:tav>
                                      </p:tavLst>
                                    </p:anim>
                                    <p:animEffect transition="in" filter="fade">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1" grpId="0" animBg="1"/>
      <p:bldP spid="23" grpId="0" animBg="1"/>
      <p:bldP spid="25" grpId="0"/>
      <p:bldP spid="18" grpId="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7666" name="Rectangle 34" hidden="1"/>
          <p:cNvGraphicFramePr>
            <a:graphicFrameLocks/>
          </p:cNvGraphicFramePr>
          <p:nvPr>
            <p:custDataLst>
              <p:tags r:id="rId1"/>
            </p:custDataLst>
          </p:nvPr>
        </p:nvGraphicFramePr>
        <p:xfrm>
          <a:off x="1524000" y="0"/>
          <a:ext cx="161984" cy="161974"/>
        </p:xfrm>
        <a:graphic>
          <a:graphicData uri="http://schemas.openxmlformats.org/presentationml/2006/ole">
            <mc:AlternateContent xmlns:mc="http://schemas.openxmlformats.org/markup-compatibility/2006">
              <mc:Choice xmlns:v="urn:schemas-microsoft-com:vml" Requires="v">
                <p:oleObj r:id="rId4" imgW="0" imgH="0" progId="">
                  <p:embed/>
                </p:oleObj>
              </mc:Choice>
              <mc:Fallback>
                <p:oleObj r:id="rId4" imgW="0" imgH="0" progId="">
                  <p:embed/>
                  <p:pic>
                    <p:nvPicPr>
                      <p:cNvPr id="837666" name="Rectangle 34" hidden="1"/>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61984" cy="16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1379" name="Picture 3"/>
          <p:cNvPicPr>
            <a:picLocks noChangeAspect="1" noChangeArrowheads="1"/>
          </p:cNvPicPr>
          <p:nvPr/>
        </p:nvPicPr>
        <p:blipFill>
          <a:blip r:embed="rId5" cstate="print"/>
          <a:srcRect b="3777"/>
          <a:stretch>
            <a:fillRect/>
          </a:stretch>
        </p:blipFill>
        <p:spPr bwMode="auto">
          <a:xfrm>
            <a:off x="1524000" y="838202"/>
            <a:ext cx="8915400" cy="5410199"/>
          </a:xfrm>
          <a:prstGeom prst="rect">
            <a:avLst/>
          </a:prstGeom>
          <a:noFill/>
          <a:ln w="9525">
            <a:noFill/>
            <a:miter lim="800000"/>
            <a:headEnd/>
            <a:tailEnd/>
          </a:ln>
        </p:spPr>
      </p:pic>
      <p:sp>
        <p:nvSpPr>
          <p:cNvPr id="7" name="Rectangle 6"/>
          <p:cNvSpPr/>
          <p:nvPr/>
        </p:nvSpPr>
        <p:spPr bwMode="auto">
          <a:xfrm>
            <a:off x="1524000" y="6248400"/>
            <a:ext cx="9144000" cy="609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fontAlgn="base">
              <a:spcBef>
                <a:spcPct val="0"/>
              </a:spcBef>
              <a:spcAft>
                <a:spcPct val="0"/>
              </a:spcAft>
            </a:pPr>
            <a:r>
              <a:rPr lang="en-US" sz="1200" b="1" dirty="0">
                <a:solidFill>
                  <a:srgbClr val="C00000"/>
                </a:solidFill>
                <a:latin typeface="+mj-lt"/>
                <a:ea typeface="Arial" pitchFamily="34" charset="0"/>
                <a:cs typeface="Times New Roman" pitchFamily="18" charset="0"/>
              </a:rPr>
              <a:t>*   This chart is designed by the researcher depending on several references</a:t>
            </a:r>
            <a:r>
              <a:rPr lang="en-US" sz="1200" b="1" dirty="0">
                <a:solidFill>
                  <a:srgbClr val="000066"/>
                </a:solidFill>
                <a:latin typeface="+mj-lt"/>
                <a:ea typeface="Arial" pitchFamily="34" charset="0"/>
                <a:cs typeface="Times New Roman" pitchFamily="18" charset="0"/>
              </a:rPr>
              <a:t>: </a:t>
            </a:r>
          </a:p>
          <a:p>
            <a:pPr lvl="0" fontAlgn="base">
              <a:spcBef>
                <a:spcPct val="0"/>
              </a:spcBef>
              <a:spcAft>
                <a:spcPct val="0"/>
              </a:spcAft>
            </a:pPr>
            <a:r>
              <a:rPr lang="en-US" sz="1200" b="1" i="1" dirty="0">
                <a:solidFill>
                  <a:srgbClr val="000066"/>
                </a:solidFill>
                <a:latin typeface="+mj-lt"/>
                <a:ea typeface="Arial" pitchFamily="34" charset="0"/>
                <a:cs typeface="Times New Roman" pitchFamily="18" charset="0"/>
              </a:rPr>
              <a:t>Masson</a:t>
            </a:r>
            <a:r>
              <a:rPr lang="en-US" sz="1200" b="1" dirty="0">
                <a:solidFill>
                  <a:srgbClr val="000066"/>
                </a:solidFill>
                <a:latin typeface="+mj-lt"/>
                <a:ea typeface="Arial" pitchFamily="34" charset="0"/>
                <a:cs typeface="Times New Roman" pitchFamily="18" charset="0"/>
              </a:rPr>
              <a:t> (1999), </a:t>
            </a:r>
            <a:r>
              <a:rPr lang="en-US" sz="1200" b="1" i="1" dirty="0" err="1">
                <a:solidFill>
                  <a:srgbClr val="000066"/>
                </a:solidFill>
                <a:latin typeface="+mj-lt"/>
                <a:ea typeface="Arial" pitchFamily="34" charset="0"/>
                <a:cs typeface="Times New Roman" pitchFamily="18" charset="0"/>
              </a:rPr>
              <a:t>Calvo</a:t>
            </a:r>
            <a:r>
              <a:rPr lang="en-US" sz="1200" b="1" i="1" dirty="0">
                <a:solidFill>
                  <a:srgbClr val="000066"/>
                </a:solidFill>
                <a:latin typeface="+mj-lt"/>
                <a:ea typeface="Arial" pitchFamily="34" charset="0"/>
                <a:cs typeface="Times New Roman" pitchFamily="18" charset="0"/>
              </a:rPr>
              <a:t> and Reinhart </a:t>
            </a:r>
            <a:r>
              <a:rPr lang="en-US" sz="1200" b="1" dirty="0">
                <a:solidFill>
                  <a:srgbClr val="000066"/>
                </a:solidFill>
                <a:latin typeface="+mj-lt"/>
                <a:ea typeface="Arial" pitchFamily="34" charset="0"/>
                <a:cs typeface="Times New Roman" pitchFamily="18" charset="0"/>
              </a:rPr>
              <a:t>(1998), </a:t>
            </a:r>
            <a:r>
              <a:rPr lang="en-US" sz="1200" b="1" i="1" dirty="0" err="1">
                <a:solidFill>
                  <a:srgbClr val="000066"/>
                </a:solidFill>
                <a:latin typeface="+mj-lt"/>
                <a:ea typeface="Arial" pitchFamily="34" charset="0"/>
                <a:cs typeface="Times New Roman" pitchFamily="18" charset="0"/>
              </a:rPr>
              <a:t>Kaminsky</a:t>
            </a:r>
            <a:r>
              <a:rPr lang="en-US" sz="1200" b="1" i="1" dirty="0">
                <a:solidFill>
                  <a:srgbClr val="000066"/>
                </a:solidFill>
                <a:latin typeface="+mj-lt"/>
                <a:ea typeface="Arial" pitchFamily="34" charset="0"/>
                <a:cs typeface="Times New Roman" pitchFamily="18" charset="0"/>
              </a:rPr>
              <a:t> and Reinhart</a:t>
            </a:r>
            <a:r>
              <a:rPr lang="en-US" sz="1200" b="1" dirty="0">
                <a:solidFill>
                  <a:srgbClr val="000066"/>
                </a:solidFill>
                <a:latin typeface="+mj-lt"/>
                <a:ea typeface="Arial" pitchFamily="34" charset="0"/>
                <a:cs typeface="Times New Roman" pitchFamily="18" charset="0"/>
              </a:rPr>
              <a:t> (1999), </a:t>
            </a:r>
            <a:r>
              <a:rPr lang="en-US" sz="1200" b="1" i="1" dirty="0">
                <a:solidFill>
                  <a:srgbClr val="000066"/>
                </a:solidFill>
                <a:latin typeface="+mj-lt"/>
                <a:ea typeface="Arial" pitchFamily="34" charset="0"/>
                <a:cs typeface="Times New Roman" pitchFamily="18" charset="0"/>
              </a:rPr>
              <a:t>Forbes and </a:t>
            </a:r>
            <a:r>
              <a:rPr lang="en-US" sz="1200" b="1" i="1" dirty="0" err="1">
                <a:solidFill>
                  <a:srgbClr val="000066"/>
                </a:solidFill>
                <a:latin typeface="+mj-lt"/>
                <a:ea typeface="Arial" pitchFamily="34" charset="0"/>
                <a:cs typeface="Times New Roman" pitchFamily="18" charset="0"/>
              </a:rPr>
              <a:t>Rigobon</a:t>
            </a:r>
            <a:r>
              <a:rPr lang="en-US" sz="1200" b="1" dirty="0">
                <a:solidFill>
                  <a:srgbClr val="000066"/>
                </a:solidFill>
                <a:latin typeface="+mj-lt"/>
                <a:ea typeface="Arial" pitchFamily="34" charset="0"/>
                <a:cs typeface="Times New Roman" pitchFamily="18" charset="0"/>
              </a:rPr>
              <a:t> (2002), </a:t>
            </a:r>
            <a:r>
              <a:rPr lang="en-US" sz="1200" b="1" i="1" dirty="0" err="1">
                <a:solidFill>
                  <a:srgbClr val="000066"/>
                </a:solidFill>
                <a:latin typeface="+mj-lt"/>
                <a:ea typeface="Arial" pitchFamily="34" charset="0"/>
                <a:cs typeface="Times New Roman" pitchFamily="18" charset="0"/>
              </a:rPr>
              <a:t>Dornbush</a:t>
            </a:r>
            <a:r>
              <a:rPr lang="en-US" sz="1200" b="1" i="1" dirty="0">
                <a:solidFill>
                  <a:srgbClr val="000066"/>
                </a:solidFill>
                <a:latin typeface="+mj-lt"/>
                <a:ea typeface="Arial" pitchFamily="34" charset="0"/>
                <a:cs typeface="Times New Roman" pitchFamily="18" charset="0"/>
              </a:rPr>
              <a:t>, Park and </a:t>
            </a:r>
            <a:r>
              <a:rPr lang="en-US" sz="1200" b="1" i="1" dirty="0" err="1">
                <a:solidFill>
                  <a:srgbClr val="000066"/>
                </a:solidFill>
                <a:latin typeface="+mj-lt"/>
                <a:ea typeface="Arial" pitchFamily="34" charset="0"/>
                <a:cs typeface="Times New Roman" pitchFamily="18" charset="0"/>
              </a:rPr>
              <a:t>Claessens</a:t>
            </a:r>
            <a:r>
              <a:rPr lang="en-US" sz="1200" b="1" dirty="0">
                <a:solidFill>
                  <a:srgbClr val="000066"/>
                </a:solidFill>
                <a:latin typeface="+mj-lt"/>
                <a:ea typeface="Arial" pitchFamily="34" charset="0"/>
                <a:cs typeface="Times New Roman" pitchFamily="18" charset="0"/>
              </a:rPr>
              <a:t> (2000), </a:t>
            </a:r>
            <a:r>
              <a:rPr lang="en-US" sz="1200" b="1" i="1" dirty="0" err="1">
                <a:solidFill>
                  <a:srgbClr val="000066"/>
                </a:solidFill>
                <a:latin typeface="+mj-lt"/>
                <a:ea typeface="Arial" pitchFamily="34" charset="0"/>
                <a:cs typeface="Times New Roman" pitchFamily="18" charset="0"/>
              </a:rPr>
              <a:t>Pritsker</a:t>
            </a:r>
            <a:r>
              <a:rPr lang="en-US" sz="1200" b="1" dirty="0">
                <a:solidFill>
                  <a:srgbClr val="000066"/>
                </a:solidFill>
                <a:latin typeface="+mj-lt"/>
                <a:ea typeface="Arial" pitchFamily="34" charset="0"/>
                <a:cs typeface="Times New Roman" pitchFamily="18" charset="0"/>
              </a:rPr>
              <a:t> (2001), </a:t>
            </a:r>
            <a:r>
              <a:rPr lang="en-US" sz="1200" b="1" i="1" dirty="0">
                <a:solidFill>
                  <a:srgbClr val="000066"/>
                </a:solidFill>
                <a:latin typeface="+mj-lt"/>
                <a:ea typeface="Arial" pitchFamily="34" charset="0"/>
                <a:cs typeface="Times New Roman" pitchFamily="18" charset="0"/>
              </a:rPr>
              <a:t>Moser</a:t>
            </a:r>
            <a:r>
              <a:rPr lang="en-US" sz="1200" b="1" dirty="0">
                <a:solidFill>
                  <a:srgbClr val="000066"/>
                </a:solidFill>
                <a:latin typeface="+mj-lt"/>
                <a:ea typeface="Arial" pitchFamily="34" charset="0"/>
                <a:cs typeface="Times New Roman" pitchFamily="18" charset="0"/>
              </a:rPr>
              <a:t> (2003), </a:t>
            </a:r>
            <a:r>
              <a:rPr lang="en-US" sz="1200" b="1" i="1" dirty="0" err="1">
                <a:solidFill>
                  <a:srgbClr val="000066"/>
                </a:solidFill>
                <a:latin typeface="+mj-lt"/>
                <a:ea typeface="Arial" pitchFamily="34" charset="0"/>
                <a:cs typeface="Times New Roman" pitchFamily="18" charset="0"/>
              </a:rPr>
              <a:t>Claessens</a:t>
            </a:r>
            <a:r>
              <a:rPr lang="en-US" sz="1200" b="1" i="1" dirty="0">
                <a:solidFill>
                  <a:srgbClr val="000066"/>
                </a:solidFill>
                <a:latin typeface="+mj-lt"/>
                <a:ea typeface="Arial" pitchFamily="34" charset="0"/>
                <a:cs typeface="Times New Roman" pitchFamily="18" charset="0"/>
              </a:rPr>
              <a:t> and Forbes</a:t>
            </a:r>
            <a:r>
              <a:rPr lang="en-US" sz="1200" b="1" dirty="0">
                <a:solidFill>
                  <a:srgbClr val="000066"/>
                </a:solidFill>
                <a:latin typeface="+mj-lt"/>
                <a:ea typeface="Arial" pitchFamily="34" charset="0"/>
                <a:cs typeface="Times New Roman" pitchFamily="18" charset="0"/>
              </a:rPr>
              <a:t> (2004), </a:t>
            </a:r>
            <a:r>
              <a:rPr lang="en-US" sz="1200" b="1" i="1" dirty="0">
                <a:solidFill>
                  <a:srgbClr val="000066"/>
                </a:solidFill>
                <a:latin typeface="+mj-lt"/>
                <a:ea typeface="Arial" pitchFamily="34" charset="0"/>
                <a:cs typeface="Times New Roman" pitchFamily="18" charset="0"/>
              </a:rPr>
              <a:t>Cheung,  Chi-sang , and  </a:t>
            </a:r>
            <a:r>
              <a:rPr lang="en-US" sz="1200" b="1" i="1" dirty="0" err="1">
                <a:solidFill>
                  <a:srgbClr val="000066"/>
                </a:solidFill>
                <a:latin typeface="+mj-lt"/>
                <a:ea typeface="Arial" pitchFamily="34" charset="0"/>
                <a:cs typeface="Times New Roman" pitchFamily="18" charset="0"/>
              </a:rPr>
              <a:t>Szeto</a:t>
            </a:r>
            <a:r>
              <a:rPr lang="en-US" sz="1200" b="1" i="1" dirty="0">
                <a:solidFill>
                  <a:srgbClr val="000066"/>
                </a:solidFill>
                <a:latin typeface="+mj-lt"/>
                <a:ea typeface="Arial" pitchFamily="34" charset="0"/>
                <a:cs typeface="Times New Roman" pitchFamily="18" charset="0"/>
              </a:rPr>
              <a:t> </a:t>
            </a:r>
            <a:r>
              <a:rPr lang="en-US" sz="1200" b="1" dirty="0">
                <a:solidFill>
                  <a:srgbClr val="000066"/>
                </a:solidFill>
                <a:latin typeface="+mj-lt"/>
                <a:ea typeface="Arial" pitchFamily="34" charset="0"/>
                <a:cs typeface="Times New Roman" pitchFamily="18" charset="0"/>
              </a:rPr>
              <a:t>(2009), and </a:t>
            </a:r>
            <a:r>
              <a:rPr lang="en-US" sz="1200" b="1" i="1" dirty="0">
                <a:solidFill>
                  <a:srgbClr val="000066"/>
                </a:solidFill>
                <a:latin typeface="+mj-lt"/>
                <a:ea typeface="Arial" pitchFamily="34" charset="0"/>
                <a:cs typeface="Times New Roman" pitchFamily="18" charset="0"/>
              </a:rPr>
              <a:t>Hwang, Kim and In</a:t>
            </a:r>
            <a:r>
              <a:rPr lang="en-US" sz="1200" b="1" noProof="1">
                <a:solidFill>
                  <a:srgbClr val="000066"/>
                </a:solidFill>
                <a:latin typeface="+mj-lt"/>
                <a:ea typeface="Arial" pitchFamily="34" charset="0"/>
                <a:cs typeface="Times New Roman" pitchFamily="18" charset="0"/>
              </a:rPr>
              <a:t> </a:t>
            </a:r>
            <a:r>
              <a:rPr lang="en-US" sz="1200" b="1" dirty="0">
                <a:solidFill>
                  <a:srgbClr val="000066"/>
                </a:solidFill>
                <a:latin typeface="+mj-lt"/>
                <a:ea typeface="Arial" pitchFamily="34" charset="0"/>
                <a:cs typeface="Times New Roman" pitchFamily="18" charset="0"/>
              </a:rPr>
              <a:t>(2010)</a:t>
            </a:r>
            <a:endParaRPr lang="en-US" sz="1200" b="1" noProof="1">
              <a:solidFill>
                <a:srgbClr val="000066"/>
              </a:solidFill>
              <a:latin typeface="+mj-lt"/>
              <a:ea typeface="Arial" pitchFamily="34" charset="0"/>
              <a:cs typeface="Times New Roman" pitchFamily="18" charset="0"/>
            </a:endParaRPr>
          </a:p>
        </p:txBody>
      </p:sp>
      <p:sp>
        <p:nvSpPr>
          <p:cNvPr id="6" name="Rectangle 5">
            <a:extLst>
              <a:ext uri="{FF2B5EF4-FFF2-40B4-BE49-F238E27FC236}">
                <a16:creationId xmlns:a16="http://schemas.microsoft.com/office/drawing/2014/main" id="{BA60A521-7852-993D-DD09-1D2D6D47EF70}"/>
              </a:ext>
            </a:extLst>
          </p:cNvPr>
          <p:cNvSpPr/>
          <p:nvPr/>
        </p:nvSpPr>
        <p:spPr>
          <a:xfrm>
            <a:off x="732329" y="314675"/>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Alternative Methodologies</a:t>
            </a:r>
            <a:endParaRPr lang="en-US" sz="2400" dirty="0">
              <a:solidFill>
                <a:schemeClr val="bg1"/>
              </a:solidFill>
              <a:latin typeface="Times" pitchFamily="2" charset="0"/>
            </a:endParaRPr>
          </a:p>
        </p:txBody>
      </p:sp>
      <p:sp>
        <p:nvSpPr>
          <p:cNvPr id="8" name="Oval 7">
            <a:extLst>
              <a:ext uri="{FF2B5EF4-FFF2-40B4-BE49-F238E27FC236}">
                <a16:creationId xmlns:a16="http://schemas.microsoft.com/office/drawing/2014/main" id="{96204EF7-15A9-D699-DDB7-0B8AD6895293}"/>
              </a:ext>
            </a:extLst>
          </p:cNvPr>
          <p:cNvSpPr/>
          <p:nvPr/>
        </p:nvSpPr>
        <p:spPr>
          <a:xfrm>
            <a:off x="467670" y="32532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5</a:t>
            </a:r>
          </a:p>
        </p:txBody>
      </p:sp>
    </p:spTree>
    <p:extLst>
      <p:ext uri="{BB962C8B-B14F-4D97-AF65-F5344CB8AC3E}">
        <p14:creationId xmlns:p14="http://schemas.microsoft.com/office/powerpoint/2010/main" val="311572374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up)">
                                      <p:cBhvr>
                                        <p:cTn id="12" dur="500"/>
                                        <p:tgtEl>
                                          <p:spTgt spid="8"/>
                                        </p:tgtEl>
                                      </p:cBhvr>
                                    </p:animEffect>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101379"/>
                                        </p:tgtEl>
                                        <p:attrNameLst>
                                          <p:attrName>style.visibility</p:attrName>
                                        </p:attrNameLst>
                                      </p:cBhvr>
                                      <p:to>
                                        <p:strVal val="visible"/>
                                      </p:to>
                                    </p:set>
                                    <p:anim calcmode="lin" valueType="num">
                                      <p:cBhvr>
                                        <p:cTn id="16" dur="500" fill="hold"/>
                                        <p:tgtEl>
                                          <p:spTgt spid="101379"/>
                                        </p:tgtEl>
                                        <p:attrNameLst>
                                          <p:attrName>ppt_w</p:attrName>
                                        </p:attrNameLst>
                                      </p:cBhvr>
                                      <p:tavLst>
                                        <p:tav tm="0">
                                          <p:val>
                                            <p:fltVal val="0"/>
                                          </p:val>
                                        </p:tav>
                                        <p:tav tm="100000">
                                          <p:val>
                                            <p:strVal val="#ppt_w"/>
                                          </p:val>
                                        </p:tav>
                                      </p:tavLst>
                                    </p:anim>
                                    <p:anim calcmode="lin" valueType="num">
                                      <p:cBhvr>
                                        <p:cTn id="17" dur="500" fill="hold"/>
                                        <p:tgtEl>
                                          <p:spTgt spid="101379"/>
                                        </p:tgtEl>
                                        <p:attrNameLst>
                                          <p:attrName>ppt_h</p:attrName>
                                        </p:attrNameLst>
                                      </p:cBhvr>
                                      <p:tavLst>
                                        <p:tav tm="0">
                                          <p:val>
                                            <p:fltVal val="0"/>
                                          </p:val>
                                        </p:tav>
                                        <p:tav tm="100000">
                                          <p:val>
                                            <p:strVal val="#ppt_h"/>
                                          </p:val>
                                        </p:tav>
                                      </p:tavLst>
                                    </p:anim>
                                  </p:childTnLst>
                                </p:cTn>
                              </p:par>
                              <p:par>
                                <p:cTn id="18" presetID="23" presetClass="entr" presetSubtype="1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1000" fill="hold"/>
                                        <p:tgtEl>
                                          <p:spTgt spid="7"/>
                                        </p:tgtEl>
                                        <p:attrNameLst>
                                          <p:attrName>ppt_w</p:attrName>
                                        </p:attrNameLst>
                                      </p:cBhvr>
                                      <p:tavLst>
                                        <p:tav tm="0">
                                          <p:val>
                                            <p:fltVal val="0"/>
                                          </p:val>
                                        </p:tav>
                                        <p:tav tm="100000">
                                          <p:val>
                                            <p:strVal val="#ppt_w"/>
                                          </p:val>
                                        </p:tav>
                                      </p:tavLst>
                                    </p:anim>
                                    <p:anim calcmode="lin" valueType="num">
                                      <p:cBhvr>
                                        <p:cTn id="21" dur="10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1524000" y="6400800"/>
            <a:ext cx="9144000" cy="304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latin typeface="Arial" charset="0"/>
            </a:endParaRPr>
          </a:p>
        </p:txBody>
      </p:sp>
      <p:sp>
        <p:nvSpPr>
          <p:cNvPr id="13" name="Rectangle 12"/>
          <p:cNvSpPr/>
          <p:nvPr/>
        </p:nvSpPr>
        <p:spPr bwMode="auto">
          <a:xfrm>
            <a:off x="10363200" y="1143000"/>
            <a:ext cx="304800" cy="5715000"/>
          </a:xfrm>
          <a:prstGeom prst="rect">
            <a:avLst/>
          </a:prstGeom>
          <a:solidFill>
            <a:schemeClr val="bg1"/>
          </a:solidFill>
          <a:ln>
            <a:noFill/>
            <a:headEnd type="none" w="med" len="med"/>
            <a:tailEnd type="none" w="med" len="me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15" name="Rectangle 14"/>
          <p:cNvSpPr/>
          <p:nvPr/>
        </p:nvSpPr>
        <p:spPr>
          <a:xfrm>
            <a:off x="3223846" y="1386632"/>
            <a:ext cx="5867400" cy="626806"/>
          </a:xfrm>
          <a:prstGeom prst="rect">
            <a:avLst/>
          </a:prstGeom>
          <a:solidFill>
            <a:srgbClr val="00006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rtl="1"/>
            <a:r>
              <a:rPr lang="en-US" sz="2800" b="1" dirty="0">
                <a:cs typeface="Bader" pitchFamily="2" charset="-78"/>
              </a:rPr>
              <a:t>Event Study Methodology</a:t>
            </a:r>
          </a:p>
        </p:txBody>
      </p:sp>
      <p:sp>
        <p:nvSpPr>
          <p:cNvPr id="44" name="Rectangle 43"/>
          <p:cNvSpPr/>
          <p:nvPr/>
        </p:nvSpPr>
        <p:spPr bwMode="auto">
          <a:xfrm>
            <a:off x="2895600" y="2883877"/>
            <a:ext cx="6400800" cy="1524000"/>
          </a:xfrm>
          <a:prstGeom prst="rect">
            <a:avLst/>
          </a:prstGeom>
          <a:solidFill>
            <a:srgbClr val="002060">
              <a:alpha val="17000"/>
            </a:srgbClr>
          </a:solid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cxnSp>
        <p:nvCxnSpPr>
          <p:cNvPr id="45" name="Straight Connector 44"/>
          <p:cNvCxnSpPr/>
          <p:nvPr/>
        </p:nvCxnSpPr>
        <p:spPr bwMode="auto">
          <a:xfrm>
            <a:off x="2514600" y="3645877"/>
            <a:ext cx="7086600" cy="0"/>
          </a:xfrm>
          <a:prstGeom prst="line">
            <a:avLst/>
          </a:prstGeom>
          <a:noFill/>
          <a:ln w="38100" cap="flat" cmpd="sng" algn="ctr">
            <a:solidFill>
              <a:srgbClr val="000066"/>
            </a:solidFill>
            <a:prstDash val="solid"/>
            <a:round/>
            <a:headEnd type="none" w="med" len="med"/>
            <a:tailEnd type="none" w="med" len="med"/>
          </a:ln>
          <a:effectLst/>
        </p:spPr>
      </p:cxnSp>
      <p:sp>
        <p:nvSpPr>
          <p:cNvPr id="46" name="Oval 45"/>
          <p:cNvSpPr/>
          <p:nvPr/>
        </p:nvSpPr>
        <p:spPr bwMode="auto">
          <a:xfrm>
            <a:off x="3200400" y="3493477"/>
            <a:ext cx="304800" cy="304800"/>
          </a:xfrm>
          <a:prstGeom prst="ellipse">
            <a:avLst/>
          </a:prstGeom>
          <a:solidFill>
            <a:srgbClr val="000066"/>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47" name="Oval 46"/>
          <p:cNvSpPr/>
          <p:nvPr/>
        </p:nvSpPr>
        <p:spPr bwMode="auto">
          <a:xfrm>
            <a:off x="5029200" y="3493477"/>
            <a:ext cx="304800" cy="304800"/>
          </a:xfrm>
          <a:prstGeom prst="ellipse">
            <a:avLst/>
          </a:prstGeom>
          <a:solidFill>
            <a:schemeClr val="accent2"/>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48" name="Oval 47"/>
          <p:cNvSpPr/>
          <p:nvPr/>
        </p:nvSpPr>
        <p:spPr bwMode="auto">
          <a:xfrm>
            <a:off x="8686800" y="3493477"/>
            <a:ext cx="304800" cy="304800"/>
          </a:xfrm>
          <a:prstGeom prst="ellipse">
            <a:avLst/>
          </a:prstGeom>
          <a:solidFill>
            <a:srgbClr val="000066"/>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49" name="Oval 48"/>
          <p:cNvSpPr/>
          <p:nvPr/>
        </p:nvSpPr>
        <p:spPr bwMode="auto">
          <a:xfrm>
            <a:off x="6858000" y="3493477"/>
            <a:ext cx="304800" cy="304800"/>
          </a:xfrm>
          <a:prstGeom prst="ellipse">
            <a:avLst/>
          </a:prstGeom>
          <a:solidFill>
            <a:schemeClr val="accent2"/>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50" name="Rectangle 49"/>
          <p:cNvSpPr/>
          <p:nvPr/>
        </p:nvSpPr>
        <p:spPr bwMode="auto">
          <a:xfrm>
            <a:off x="31242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800" b="1" dirty="0">
                <a:solidFill>
                  <a:srgbClr val="000066"/>
                </a:solidFill>
              </a:rPr>
              <a:t>T</a:t>
            </a:r>
            <a:r>
              <a:rPr lang="en-US" sz="2800" b="1" baseline="-25000" dirty="0">
                <a:solidFill>
                  <a:srgbClr val="000066"/>
                </a:solidFill>
              </a:rPr>
              <a:t>0</a:t>
            </a:r>
            <a:endParaRPr lang="en-US" sz="2800" b="1" dirty="0">
              <a:solidFill>
                <a:srgbClr val="000066"/>
              </a:solidFill>
            </a:endParaRPr>
          </a:p>
        </p:txBody>
      </p:sp>
      <p:sp>
        <p:nvSpPr>
          <p:cNvPr id="51" name="Rectangle 50"/>
          <p:cNvSpPr/>
          <p:nvPr/>
        </p:nvSpPr>
        <p:spPr bwMode="auto">
          <a:xfrm>
            <a:off x="49530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800" b="1" dirty="0">
                <a:solidFill>
                  <a:srgbClr val="000066"/>
                </a:solidFill>
              </a:rPr>
              <a:t>T</a:t>
            </a:r>
            <a:r>
              <a:rPr lang="en-US" sz="2800" b="1" baseline="-25000" dirty="0">
                <a:solidFill>
                  <a:srgbClr val="000066"/>
                </a:solidFill>
              </a:rPr>
              <a:t>1</a:t>
            </a:r>
            <a:endParaRPr lang="en-US" sz="2800" b="1" dirty="0">
              <a:solidFill>
                <a:srgbClr val="000066"/>
              </a:solidFill>
            </a:endParaRPr>
          </a:p>
        </p:txBody>
      </p:sp>
      <p:sp>
        <p:nvSpPr>
          <p:cNvPr id="52" name="Rectangle 51"/>
          <p:cNvSpPr/>
          <p:nvPr/>
        </p:nvSpPr>
        <p:spPr bwMode="auto">
          <a:xfrm>
            <a:off x="67818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800" b="1" dirty="0">
                <a:solidFill>
                  <a:srgbClr val="000066"/>
                </a:solidFill>
              </a:rPr>
              <a:t>T</a:t>
            </a:r>
            <a:r>
              <a:rPr lang="en-US" sz="2800" b="1" baseline="-25000" dirty="0">
                <a:solidFill>
                  <a:srgbClr val="000066"/>
                </a:solidFill>
              </a:rPr>
              <a:t>2</a:t>
            </a:r>
            <a:endParaRPr lang="en-US" sz="2800" b="1" dirty="0">
              <a:solidFill>
                <a:srgbClr val="000066"/>
              </a:solidFill>
            </a:endParaRPr>
          </a:p>
        </p:txBody>
      </p:sp>
      <p:sp>
        <p:nvSpPr>
          <p:cNvPr id="53" name="Rectangle 52"/>
          <p:cNvSpPr/>
          <p:nvPr/>
        </p:nvSpPr>
        <p:spPr bwMode="auto">
          <a:xfrm>
            <a:off x="86106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800" b="1" dirty="0">
                <a:solidFill>
                  <a:srgbClr val="000066"/>
                </a:solidFill>
              </a:rPr>
              <a:t>T</a:t>
            </a:r>
            <a:r>
              <a:rPr lang="en-US" sz="2800" b="1" baseline="-25000" dirty="0">
                <a:solidFill>
                  <a:srgbClr val="000066"/>
                </a:solidFill>
              </a:rPr>
              <a:t>3</a:t>
            </a:r>
            <a:endParaRPr lang="en-US" sz="2800" b="1" dirty="0">
              <a:solidFill>
                <a:srgbClr val="000066"/>
              </a:solidFill>
            </a:endParaRPr>
          </a:p>
        </p:txBody>
      </p:sp>
      <p:sp>
        <p:nvSpPr>
          <p:cNvPr id="54" name="Rectangle 53"/>
          <p:cNvSpPr/>
          <p:nvPr/>
        </p:nvSpPr>
        <p:spPr bwMode="auto">
          <a:xfrm>
            <a:off x="3352800" y="2960077"/>
            <a:ext cx="1752600" cy="6096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b="1" dirty="0">
                <a:solidFill>
                  <a:srgbClr val="000066"/>
                </a:solidFill>
                <a:latin typeface="Arial" charset="0"/>
              </a:rPr>
              <a:t>Estimation Window</a:t>
            </a:r>
          </a:p>
        </p:txBody>
      </p:sp>
      <p:sp>
        <p:nvSpPr>
          <p:cNvPr id="55" name="Rectangle 54"/>
          <p:cNvSpPr/>
          <p:nvPr/>
        </p:nvSpPr>
        <p:spPr bwMode="auto">
          <a:xfrm>
            <a:off x="5257800" y="3036277"/>
            <a:ext cx="1752600" cy="3810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b="1" dirty="0">
                <a:solidFill>
                  <a:srgbClr val="000066"/>
                </a:solidFill>
                <a:latin typeface="Arial" charset="0"/>
              </a:rPr>
              <a:t>Event Window</a:t>
            </a:r>
          </a:p>
        </p:txBody>
      </p:sp>
      <p:sp>
        <p:nvSpPr>
          <p:cNvPr id="56" name="Oval 55"/>
          <p:cNvSpPr/>
          <p:nvPr/>
        </p:nvSpPr>
        <p:spPr bwMode="auto">
          <a:xfrm>
            <a:off x="5943600" y="3493477"/>
            <a:ext cx="304800" cy="304800"/>
          </a:xfrm>
          <a:prstGeom prst="ellipse">
            <a:avLst/>
          </a:prstGeom>
          <a:solidFill>
            <a:srgbClr val="000066"/>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57" name="Rectangle 56"/>
          <p:cNvSpPr/>
          <p:nvPr/>
        </p:nvSpPr>
        <p:spPr bwMode="auto">
          <a:xfrm>
            <a:off x="59436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400" b="1" dirty="0">
                <a:solidFill>
                  <a:srgbClr val="000066"/>
                </a:solidFill>
                <a:latin typeface="Arial" pitchFamily="34" charset="0"/>
                <a:cs typeface="Arial" pitchFamily="34" charset="0"/>
              </a:rPr>
              <a:t>0</a:t>
            </a:r>
          </a:p>
        </p:txBody>
      </p:sp>
      <p:sp>
        <p:nvSpPr>
          <p:cNvPr id="58" name="Rectangle 57"/>
          <p:cNvSpPr/>
          <p:nvPr/>
        </p:nvSpPr>
        <p:spPr bwMode="auto">
          <a:xfrm>
            <a:off x="7086600" y="2960077"/>
            <a:ext cx="1752600" cy="6096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b="1" dirty="0">
                <a:solidFill>
                  <a:srgbClr val="000066"/>
                </a:solidFill>
                <a:latin typeface="Arial" charset="0"/>
              </a:rPr>
              <a:t>Post-Event Window</a:t>
            </a:r>
          </a:p>
        </p:txBody>
      </p:sp>
    </p:spTree>
    <p:extLst>
      <p:ext uri="{BB962C8B-B14F-4D97-AF65-F5344CB8AC3E}">
        <p14:creationId xmlns:p14="http://schemas.microsoft.com/office/powerpoint/2010/main" val="211422051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23" presetClass="entr" presetSubtype="16"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p:cTn id="55" dur="500" fill="hold"/>
                                        <p:tgtEl>
                                          <p:spTgt spid="44"/>
                                        </p:tgtEl>
                                        <p:attrNameLst>
                                          <p:attrName>ppt_w</p:attrName>
                                        </p:attrNameLst>
                                      </p:cBhvr>
                                      <p:tavLst>
                                        <p:tav tm="0">
                                          <p:val>
                                            <p:fltVal val="0"/>
                                          </p:val>
                                        </p:tav>
                                        <p:tav tm="100000">
                                          <p:val>
                                            <p:strVal val="#ppt_w"/>
                                          </p:val>
                                        </p:tav>
                                      </p:tavLst>
                                    </p:anim>
                                    <p:anim calcmode="lin" valueType="num">
                                      <p:cBhvr>
                                        <p:cTn id="56" dur="500" fill="hold"/>
                                        <p:tgtEl>
                                          <p:spTgt spid="4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4" grpId="0" animBg="1"/>
      <p:bldP spid="46" grpId="0" animBg="1"/>
      <p:bldP spid="47" grpId="0" animBg="1"/>
      <p:bldP spid="48" grpId="0" animBg="1"/>
      <p:bldP spid="49" grpId="0" animBg="1"/>
      <p:bldP spid="50" grpId="0"/>
      <p:bldP spid="51" grpId="0"/>
      <p:bldP spid="52" grpId="0"/>
      <p:bldP spid="53" grpId="0"/>
      <p:bldP spid="54" grpId="0"/>
      <p:bldP spid="55" grpId="0"/>
      <p:bldP spid="56" grpId="0" animBg="1"/>
      <p:bldP spid="57" grpId="0"/>
      <p:bldP spid="5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7F0D-78A3-5ACD-F537-E53DD35D8921}"/>
              </a:ext>
            </a:extLst>
          </p:cNvPr>
          <p:cNvSpPr>
            <a:spLocks noGrp="1"/>
          </p:cNvSpPr>
          <p:nvPr>
            <p:ph type="ctrTitle"/>
          </p:nvPr>
        </p:nvSpPr>
        <p:spPr>
          <a:xfrm>
            <a:off x="1524000" y="1122363"/>
            <a:ext cx="9144000" cy="1922394"/>
          </a:xfrm>
        </p:spPr>
        <p:txBody>
          <a:bodyPr>
            <a:normAutofit/>
          </a:bodyPr>
          <a:lstStyle/>
          <a:p>
            <a:r>
              <a:rPr lang="en-US" sz="3200" b="1" dirty="0">
                <a:latin typeface="Times" pitchFamily="2" charset="0"/>
              </a:rPr>
              <a:t>Collateral Damage: Effects of the Japanese  Bank Crisis on Real Activity in the United States </a:t>
            </a:r>
            <a:endParaRPr lang="x-none" sz="3200" b="1" dirty="0">
              <a:latin typeface="Times" pitchFamily="2" charset="0"/>
            </a:endParaRPr>
          </a:p>
        </p:txBody>
      </p:sp>
      <p:sp>
        <p:nvSpPr>
          <p:cNvPr id="3" name="Subtitle 2">
            <a:extLst>
              <a:ext uri="{FF2B5EF4-FFF2-40B4-BE49-F238E27FC236}">
                <a16:creationId xmlns:a16="http://schemas.microsoft.com/office/drawing/2014/main" id="{3C5897B5-DCAB-86E9-59CF-9E2AA3F1D90A}"/>
              </a:ext>
            </a:extLst>
          </p:cNvPr>
          <p:cNvSpPr>
            <a:spLocks noGrp="1"/>
          </p:cNvSpPr>
          <p:nvPr>
            <p:ph type="subTitle" idx="1"/>
          </p:nvPr>
        </p:nvSpPr>
        <p:spPr>
          <a:xfrm>
            <a:off x="1524000" y="3179763"/>
            <a:ext cx="9144000" cy="516748"/>
          </a:xfrm>
        </p:spPr>
        <p:txBody>
          <a:bodyPr/>
          <a:lstStyle/>
          <a:p>
            <a:r>
              <a:rPr lang="en-US" dirty="0"/>
              <a:t>By JOE PEEK AND ERIC S. ROSENGREN</a:t>
            </a:r>
            <a:endParaRPr lang="x-none" dirty="0"/>
          </a:p>
        </p:txBody>
      </p:sp>
      <p:sp>
        <p:nvSpPr>
          <p:cNvPr id="8" name="Subtitle 2">
            <a:extLst>
              <a:ext uri="{FF2B5EF4-FFF2-40B4-BE49-F238E27FC236}">
                <a16:creationId xmlns:a16="http://schemas.microsoft.com/office/drawing/2014/main" id="{6DECC691-B3A1-4B17-3644-F6DE226C5DE3}"/>
              </a:ext>
            </a:extLst>
          </p:cNvPr>
          <p:cNvSpPr txBox="1">
            <a:spLocks/>
          </p:cNvSpPr>
          <p:nvPr/>
        </p:nvSpPr>
        <p:spPr>
          <a:xfrm>
            <a:off x="1524000" y="4095346"/>
            <a:ext cx="9144000" cy="164029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600" dirty="0">
                <a:solidFill>
                  <a:srgbClr val="0F5093"/>
                </a:solidFill>
              </a:rPr>
              <a:t>Presented by</a:t>
            </a:r>
          </a:p>
          <a:p>
            <a:r>
              <a:rPr lang="en-US" sz="2600" dirty="0">
                <a:solidFill>
                  <a:srgbClr val="0F5093"/>
                </a:solidFill>
              </a:rPr>
              <a:t>Mohamed Elshiekh        Nargis </a:t>
            </a:r>
            <a:r>
              <a:rPr lang="en-US" sz="2600" dirty="0" err="1">
                <a:solidFill>
                  <a:srgbClr val="0F5093"/>
                </a:solidFill>
              </a:rPr>
              <a:t>Ahmadova</a:t>
            </a:r>
            <a:endParaRPr lang="en-US" sz="2600" dirty="0">
              <a:solidFill>
                <a:srgbClr val="0F5093"/>
              </a:solidFill>
            </a:endParaRPr>
          </a:p>
          <a:p>
            <a:r>
              <a:rPr lang="en-US" sz="2600" dirty="0">
                <a:solidFill>
                  <a:srgbClr val="0F5093"/>
                </a:solidFill>
              </a:rPr>
              <a:t>Empirical Banking and Finance</a:t>
            </a:r>
          </a:p>
          <a:p>
            <a:r>
              <a:rPr lang="en-US" sz="2600" dirty="0">
                <a:solidFill>
                  <a:srgbClr val="0F5093"/>
                </a:solidFill>
              </a:rPr>
              <a:t>June 21</a:t>
            </a:r>
            <a:r>
              <a:rPr lang="en-US" sz="2600" baseline="30000" dirty="0">
                <a:solidFill>
                  <a:srgbClr val="0F5093"/>
                </a:solidFill>
              </a:rPr>
              <a:t>st</a:t>
            </a:r>
            <a:r>
              <a:rPr lang="en-US" sz="2600" dirty="0">
                <a:solidFill>
                  <a:srgbClr val="0F5093"/>
                </a:solidFill>
              </a:rPr>
              <a:t>  , 2022</a:t>
            </a:r>
            <a:endParaRPr lang="x-none" sz="2600" dirty="0">
              <a:solidFill>
                <a:srgbClr val="0F5093"/>
              </a:solidFill>
            </a:endParaRPr>
          </a:p>
        </p:txBody>
      </p:sp>
      <p:pic>
        <p:nvPicPr>
          <p:cNvPr id="1025" name="Picture 1" descr="page1image49140992">
            <a:extLst>
              <a:ext uri="{FF2B5EF4-FFF2-40B4-BE49-F238E27FC236}">
                <a16:creationId xmlns:a16="http://schemas.microsoft.com/office/drawing/2014/main" id="{415FA1D8-DB74-752B-754E-BBDA08AFA4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5217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97464"/>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40</a:t>
            </a:fld>
            <a:endParaRPr lang="x-none" dirty="0"/>
          </a:p>
        </p:txBody>
      </p:sp>
      <p:pic>
        <p:nvPicPr>
          <p:cNvPr id="29698" name="Picture 2" descr="What is Instrumental Variable?">
            <a:extLst>
              <a:ext uri="{FF2B5EF4-FFF2-40B4-BE49-F238E27FC236}">
                <a16:creationId xmlns:a16="http://schemas.microsoft.com/office/drawing/2014/main" id="{4998283B-B22B-33C4-604E-342312767E1D}"/>
              </a:ext>
            </a:extLst>
          </p:cNvPr>
          <p:cNvPicPr>
            <a:picLocks noChangeAspect="1" noChangeArrowheads="1"/>
          </p:cNvPicPr>
          <p:nvPr/>
        </p:nvPicPr>
        <p:blipFill rotWithShape="1">
          <a:blip r:embed="rId3">
            <a:clrChange>
              <a:clrFrom>
                <a:srgbClr val="F2F2F2"/>
              </a:clrFrom>
              <a:clrTo>
                <a:srgbClr val="F2F2F2">
                  <a:alpha val="0"/>
                </a:srgbClr>
              </a:clrTo>
            </a:clrChange>
            <a:extLst>
              <a:ext uri="{28A0092B-C50C-407E-A947-70E740481C1C}">
                <a14:useLocalDpi xmlns:a14="http://schemas.microsoft.com/office/drawing/2010/main" val="0"/>
              </a:ext>
            </a:extLst>
          </a:blip>
          <a:srcRect b="7525"/>
          <a:stretch/>
        </p:blipFill>
        <p:spPr bwMode="auto">
          <a:xfrm>
            <a:off x="646365" y="1258778"/>
            <a:ext cx="9508223" cy="5209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D1B6059-6DAD-267A-C7E1-104BAE58E2E8}"/>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10" name="Oval 9">
            <a:extLst>
              <a:ext uri="{FF2B5EF4-FFF2-40B4-BE49-F238E27FC236}">
                <a16:creationId xmlns:a16="http://schemas.microsoft.com/office/drawing/2014/main" id="{E844668D-2D19-42B1-7FFF-5E47AD96105E}"/>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1" name="TextBox 10">
            <a:extLst>
              <a:ext uri="{FF2B5EF4-FFF2-40B4-BE49-F238E27FC236}">
                <a16:creationId xmlns:a16="http://schemas.microsoft.com/office/drawing/2014/main" id="{661260FB-249C-9B50-BC15-1799302E7A3E}"/>
              </a:ext>
            </a:extLst>
          </p:cNvPr>
          <p:cNvSpPr txBox="1"/>
          <p:nvPr/>
        </p:nvSpPr>
        <p:spPr>
          <a:xfrm>
            <a:off x="3251200" y="318927"/>
            <a:ext cx="6753195"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2SLS: Two-Stage-Least-Square Estimation</a:t>
            </a:r>
          </a:p>
        </p:txBody>
      </p:sp>
    </p:spTree>
    <p:extLst>
      <p:ext uri="{BB962C8B-B14F-4D97-AF65-F5344CB8AC3E}">
        <p14:creationId xmlns:p14="http://schemas.microsoft.com/office/powerpoint/2010/main" val="384280099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p:tgtEl>
                                          <p:spTgt spid="10"/>
                                        </p:tgtEl>
                                        <p:attrNameLst>
                                          <p:attrName>ppt_y</p:attrName>
                                        </p:attrNameLst>
                                      </p:cBhvr>
                                      <p:tavLst>
                                        <p:tav tm="0">
                                          <p:val>
                                            <p:strVal val="#ppt_y+#ppt_h*1.125000"/>
                                          </p:val>
                                        </p:tav>
                                        <p:tav tm="100000">
                                          <p:val>
                                            <p:strVal val="#ppt_y"/>
                                          </p:val>
                                        </p:tav>
                                      </p:tavLst>
                                    </p:anim>
                                    <p:animEffect transition="in" filter="wipe(up)">
                                      <p:cBhvr>
                                        <p:cTn id="8" dur="1000"/>
                                        <p:tgtEl>
                                          <p:spTgt spid="10"/>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p:tgtEl>
                                          <p:spTgt spid="9"/>
                                        </p:tgtEl>
                                        <p:attrNameLst>
                                          <p:attrName>ppt_y</p:attrName>
                                        </p:attrNameLst>
                                      </p:cBhvr>
                                      <p:tavLst>
                                        <p:tav tm="0">
                                          <p:val>
                                            <p:strVal val="#ppt_y+#ppt_h*1.125000"/>
                                          </p:val>
                                        </p:tav>
                                        <p:tav tm="100000">
                                          <p:val>
                                            <p:strVal val="#ppt_y"/>
                                          </p:val>
                                        </p:tav>
                                      </p:tavLst>
                                    </p:anim>
                                    <p:animEffect transition="in" filter="wipe(up)">
                                      <p:cBhvr>
                                        <p:cTn id="12" dur="1000"/>
                                        <p:tgtEl>
                                          <p:spTgt spid="9"/>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ppt_y</p:attrName>
                                        </p:attrNameLst>
                                      </p:cBhvr>
                                      <p:tavLst>
                                        <p:tav tm="0">
                                          <p:val>
                                            <p:strVal val="#ppt_y+#ppt_h*1.125000"/>
                                          </p:val>
                                        </p:tav>
                                        <p:tav tm="100000">
                                          <p:val>
                                            <p:strVal val="#ppt_y"/>
                                          </p:val>
                                        </p:tav>
                                      </p:tavLst>
                                    </p:anim>
                                    <p:animEffect transition="in" filter="wipe(up)">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 name="THINKCELLSTATEDONOTDELETE" val="bm2U2C.yq0W_P2aK1_yya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2788</TotalTime>
  <Words>4026</Words>
  <Application>Microsoft Office PowerPoint</Application>
  <PresentationFormat>Widescreen</PresentationFormat>
  <Paragraphs>618</Paragraphs>
  <Slides>40</Slides>
  <Notes>32</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0</vt:i4>
      </vt:variant>
      <vt:variant>
        <vt:lpstr>Slide Titles</vt:lpstr>
      </vt:variant>
      <vt:variant>
        <vt:i4>40</vt:i4>
      </vt:variant>
    </vt:vector>
  </HeadingPairs>
  <TitlesOfParts>
    <vt:vector size="51" baseType="lpstr">
      <vt:lpstr>Arial</vt:lpstr>
      <vt:lpstr>ArialMT</vt:lpstr>
      <vt:lpstr>Bader</vt:lpstr>
      <vt:lpstr>Calibri</vt:lpstr>
      <vt:lpstr>Calibri Light</vt:lpstr>
      <vt:lpstr>Cambria Math</vt:lpstr>
      <vt:lpstr>MS</vt:lpstr>
      <vt:lpstr>Times</vt:lpstr>
      <vt:lpstr>Times New Roman</vt:lpstr>
      <vt:lpstr>Wingdings</vt:lpstr>
      <vt:lpstr>Office Theme</vt:lpstr>
      <vt:lpstr>Collateral Damage: Effects of the Japanese  Bank Crisis on Real Activity in the United States </vt:lpstr>
      <vt:lpstr>Structure</vt:lpstr>
      <vt:lpstr>PowerPoint Presentation</vt:lpstr>
      <vt:lpstr>PowerPoint Presentation</vt:lpstr>
      <vt:lpstr>PowerPoint Presentation</vt:lpstr>
      <vt:lpstr>Japanese real-estate crisis</vt:lpstr>
      <vt:lpstr>Japanese real estate crisis as an exogoenous loan supply shock</vt:lpstr>
      <vt:lpstr>Transmission of Financial Crisis</vt:lpstr>
      <vt:lpstr>PowerPoint Presentation</vt:lpstr>
      <vt:lpstr>Study Questions</vt:lpstr>
      <vt:lpstr>PowerPoint Presentation</vt:lpstr>
      <vt:lpstr>PowerPoint Presentation</vt:lpstr>
      <vt:lpstr>PowerPoint Presentation</vt:lpstr>
      <vt:lpstr>PowerPoint Presentation</vt:lpstr>
      <vt:lpstr>PowerPoint Presentation</vt:lpstr>
      <vt:lpstr>PowerPoint Presentation</vt:lpstr>
      <vt:lpstr>Structure</vt:lpstr>
      <vt:lpstr>Study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vt:lpstr>
      <vt:lpstr>Study Questions</vt:lpstr>
      <vt:lpstr>Limitations</vt:lpstr>
      <vt:lpstr>PowerPoint Presentation</vt:lpstr>
      <vt:lpstr>PowerPoint Presentation</vt:lpstr>
      <vt:lpstr>PowerPoint Presentation</vt:lpstr>
      <vt:lpstr>Collateral Damage: Effects of the Japanese  Bank Crisis on Real Activity in the United States </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Peek and Roengren 2000 Presentation</dc:title>
  <dc:creator>Mohamed Elshiekh</dc:creator>
  <cp:lastModifiedBy>Nargiz Ahmadova</cp:lastModifiedBy>
  <cp:revision>70</cp:revision>
  <cp:lastPrinted>2022-06-19T10:29:22Z</cp:lastPrinted>
  <dcterms:created xsi:type="dcterms:W3CDTF">2022-06-19T03:15:38Z</dcterms:created>
  <dcterms:modified xsi:type="dcterms:W3CDTF">2026-01-31T20:39:26Z</dcterms:modified>
</cp:coreProperties>
</file>